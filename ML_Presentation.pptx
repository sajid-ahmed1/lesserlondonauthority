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1"/>
  </p:sldMasterIdLst>
  <p:notesMasterIdLst>
    <p:notesMasterId r:id="rId23"/>
  </p:notesMasterIdLst>
  <p:sldIdLst>
    <p:sldId id="256" r:id="rId2"/>
    <p:sldId id="257" r:id="rId3"/>
    <p:sldId id="258" r:id="rId4"/>
    <p:sldId id="259" r:id="rId5"/>
    <p:sldId id="261" r:id="rId6"/>
    <p:sldId id="260" r:id="rId7"/>
    <p:sldId id="263" r:id="rId8"/>
    <p:sldId id="267" r:id="rId9"/>
    <p:sldId id="262" r:id="rId10"/>
    <p:sldId id="264" r:id="rId11"/>
    <p:sldId id="265" r:id="rId12"/>
    <p:sldId id="268" r:id="rId13"/>
    <p:sldId id="269" r:id="rId14"/>
    <p:sldId id="266" r:id="rId15"/>
    <p:sldId id="270" r:id="rId16"/>
    <p:sldId id="271" r:id="rId17"/>
    <p:sldId id="272" r:id="rId18"/>
    <p:sldId id="273" r:id="rId19"/>
    <p:sldId id="276"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31"/>
    <p:restoredTop sz="94677"/>
  </p:normalViewPr>
  <p:slideViewPr>
    <p:cSldViewPr snapToGrid="0">
      <p:cViewPr varScale="1">
        <p:scale>
          <a:sx n="96" d="100"/>
          <a:sy n="96" d="100"/>
        </p:scale>
        <p:origin x="14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Target Variable Count (Balanced Dataset)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Count</c:v>
                </c:pt>
              </c:strCache>
            </c:strRef>
          </c:tx>
          <c:spPr>
            <a:solidFill>
              <a:schemeClr val="accent1"/>
            </a:solidFill>
            <a:ln>
              <a:noFill/>
            </a:ln>
            <a:effectLst/>
          </c:spPr>
          <c:invertIfNegative val="0"/>
          <c:cat>
            <c:strRef>
              <c:f>Sheet1!$A$2:$A$6</c:f>
              <c:strCache>
                <c:ptCount val="5"/>
                <c:pt idx="0">
                  <c:v>Very Low</c:v>
                </c:pt>
                <c:pt idx="1">
                  <c:v>Low</c:v>
                </c:pt>
                <c:pt idx="2">
                  <c:v>Medium</c:v>
                </c:pt>
                <c:pt idx="3">
                  <c:v>High</c:v>
                </c:pt>
                <c:pt idx="4">
                  <c:v>Very High</c:v>
                </c:pt>
              </c:strCache>
            </c:strRef>
          </c:cat>
          <c:val>
            <c:numRef>
              <c:f>Sheet1!$B$2:$B$6</c:f>
              <c:numCache>
                <c:formatCode>General</c:formatCode>
                <c:ptCount val="5"/>
                <c:pt idx="0">
                  <c:v>2344</c:v>
                </c:pt>
                <c:pt idx="1">
                  <c:v>2344</c:v>
                </c:pt>
                <c:pt idx="2">
                  <c:v>2344</c:v>
                </c:pt>
                <c:pt idx="3">
                  <c:v>2344</c:v>
                </c:pt>
                <c:pt idx="4">
                  <c:v>2344</c:v>
                </c:pt>
              </c:numCache>
            </c:numRef>
          </c:val>
          <c:extLst>
            <c:ext xmlns:c16="http://schemas.microsoft.com/office/drawing/2014/chart" uri="{C3380CC4-5D6E-409C-BE32-E72D297353CC}">
              <c16:uniqueId val="{00000000-EF2D-3E42-A117-65755406C844}"/>
            </c:ext>
          </c:extLst>
        </c:ser>
        <c:dLbls>
          <c:showLegendKey val="0"/>
          <c:showVal val="0"/>
          <c:showCatName val="0"/>
          <c:showSerName val="0"/>
          <c:showPercent val="0"/>
          <c:showBubbleSize val="0"/>
        </c:dLbls>
        <c:gapWidth val="219"/>
        <c:overlap val="-27"/>
        <c:axId val="1858325327"/>
        <c:axId val="1858327039"/>
      </c:barChart>
      <c:catAx>
        <c:axId val="185832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58327039"/>
        <c:crosses val="autoZero"/>
        <c:auto val="1"/>
        <c:lblAlgn val="ctr"/>
        <c:lblOffset val="100"/>
        <c:noMultiLvlLbl val="0"/>
      </c:catAx>
      <c:valAx>
        <c:axId val="18583270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58325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Comparison</a:t>
            </a:r>
            <a:r>
              <a:rPr lang="en-US" baseline="0" dirty="0"/>
              <a:t> of Model Performance for Pipeline A</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XGBoost</c:v>
                </c:pt>
              </c:strCache>
            </c:strRef>
          </c:tx>
          <c:spPr>
            <a:solidFill>
              <a:schemeClr val="accent6"/>
            </a:solidFill>
            <a:ln>
              <a:noFill/>
            </a:ln>
            <a:effectLst/>
          </c:spPr>
          <c:invertIfNegative val="0"/>
          <c:cat>
            <c:strRef>
              <c:f>Sheet1!$A$2:$A$7</c:f>
              <c:strCache>
                <c:ptCount val="6"/>
                <c:pt idx="0">
                  <c:v>Accuracy</c:v>
                </c:pt>
                <c:pt idx="1">
                  <c:v>Macro F1</c:v>
                </c:pt>
                <c:pt idx="2">
                  <c:v>Sensitivity</c:v>
                </c:pt>
                <c:pt idx="3">
                  <c:v>Specificity</c:v>
                </c:pt>
                <c:pt idx="4">
                  <c:v>Kappa</c:v>
                </c:pt>
                <c:pt idx="5">
                  <c:v>Multiclass ROC AUC</c:v>
                </c:pt>
              </c:strCache>
            </c:strRef>
          </c:cat>
          <c:val>
            <c:numRef>
              <c:f>Sheet1!$B$2:$B$7</c:f>
              <c:numCache>
                <c:formatCode>General</c:formatCode>
                <c:ptCount val="6"/>
                <c:pt idx="0">
                  <c:v>0.52910000000000001</c:v>
                </c:pt>
                <c:pt idx="1">
                  <c:v>0.52429999999999999</c:v>
                </c:pt>
                <c:pt idx="2">
                  <c:v>0.52910000000000001</c:v>
                </c:pt>
                <c:pt idx="3">
                  <c:v>0.88229999999999997</c:v>
                </c:pt>
                <c:pt idx="4">
                  <c:v>0.4113</c:v>
                </c:pt>
                <c:pt idx="5">
                  <c:v>0.82799999999999996</c:v>
                </c:pt>
              </c:numCache>
            </c:numRef>
          </c:val>
          <c:extLst>
            <c:ext xmlns:c16="http://schemas.microsoft.com/office/drawing/2014/chart" uri="{C3380CC4-5D6E-409C-BE32-E72D297353CC}">
              <c16:uniqueId val="{00000000-B9C8-D94E-B84A-85074BC9AB03}"/>
            </c:ext>
          </c:extLst>
        </c:ser>
        <c:ser>
          <c:idx val="1"/>
          <c:order val="1"/>
          <c:tx>
            <c:strRef>
              <c:f>Sheet1!$C$1</c:f>
              <c:strCache>
                <c:ptCount val="1"/>
                <c:pt idx="0">
                  <c:v>Random Forest</c:v>
                </c:pt>
              </c:strCache>
            </c:strRef>
          </c:tx>
          <c:spPr>
            <a:solidFill>
              <a:schemeClr val="accent5"/>
            </a:solidFill>
            <a:ln>
              <a:noFill/>
            </a:ln>
            <a:effectLst/>
          </c:spPr>
          <c:invertIfNegative val="0"/>
          <c:cat>
            <c:strRef>
              <c:f>Sheet1!$A$2:$A$7</c:f>
              <c:strCache>
                <c:ptCount val="6"/>
                <c:pt idx="0">
                  <c:v>Accuracy</c:v>
                </c:pt>
                <c:pt idx="1">
                  <c:v>Macro F1</c:v>
                </c:pt>
                <c:pt idx="2">
                  <c:v>Sensitivity</c:v>
                </c:pt>
                <c:pt idx="3">
                  <c:v>Specificity</c:v>
                </c:pt>
                <c:pt idx="4">
                  <c:v>Kappa</c:v>
                </c:pt>
                <c:pt idx="5">
                  <c:v>Multiclass ROC AUC</c:v>
                </c:pt>
              </c:strCache>
            </c:strRef>
          </c:cat>
          <c:val>
            <c:numRef>
              <c:f>Sheet1!$C$2:$C$7</c:f>
              <c:numCache>
                <c:formatCode>General</c:formatCode>
                <c:ptCount val="6"/>
                <c:pt idx="0">
                  <c:v>0.71789999999999998</c:v>
                </c:pt>
                <c:pt idx="1">
                  <c:v>0.71419999999999995</c:v>
                </c:pt>
                <c:pt idx="2">
                  <c:v>0.71789999999999998</c:v>
                </c:pt>
                <c:pt idx="3">
                  <c:v>0.92949999999999999</c:v>
                </c:pt>
                <c:pt idx="4">
                  <c:v>0.64739999999999998</c:v>
                </c:pt>
                <c:pt idx="5">
                  <c:v>0.91190000000000004</c:v>
                </c:pt>
              </c:numCache>
            </c:numRef>
          </c:val>
          <c:extLst>
            <c:ext xmlns:c16="http://schemas.microsoft.com/office/drawing/2014/chart" uri="{C3380CC4-5D6E-409C-BE32-E72D297353CC}">
              <c16:uniqueId val="{00000001-B9C8-D94E-B84A-85074BC9AB03}"/>
            </c:ext>
          </c:extLst>
        </c:ser>
        <c:ser>
          <c:idx val="2"/>
          <c:order val="2"/>
          <c:tx>
            <c:strRef>
              <c:f>Sheet1!$D$1</c:f>
              <c:strCache>
                <c:ptCount val="1"/>
                <c:pt idx="0">
                  <c:v>Logistic Reg.</c:v>
                </c:pt>
              </c:strCache>
            </c:strRef>
          </c:tx>
          <c:spPr>
            <a:solidFill>
              <a:schemeClr val="accent4"/>
            </a:solidFill>
            <a:ln>
              <a:noFill/>
            </a:ln>
            <a:effectLst/>
          </c:spPr>
          <c:invertIfNegative val="0"/>
          <c:cat>
            <c:strRef>
              <c:f>Sheet1!$A$2:$A$7</c:f>
              <c:strCache>
                <c:ptCount val="6"/>
                <c:pt idx="0">
                  <c:v>Accuracy</c:v>
                </c:pt>
                <c:pt idx="1">
                  <c:v>Macro F1</c:v>
                </c:pt>
                <c:pt idx="2">
                  <c:v>Sensitivity</c:v>
                </c:pt>
                <c:pt idx="3">
                  <c:v>Specificity</c:v>
                </c:pt>
                <c:pt idx="4">
                  <c:v>Kappa</c:v>
                </c:pt>
                <c:pt idx="5">
                  <c:v>Multiclass ROC AUC</c:v>
                </c:pt>
              </c:strCache>
            </c:strRef>
          </c:cat>
          <c:val>
            <c:numRef>
              <c:f>Sheet1!$D$2:$D$7</c:f>
              <c:numCache>
                <c:formatCode>General</c:formatCode>
                <c:ptCount val="6"/>
                <c:pt idx="0">
                  <c:v>0.5363</c:v>
                </c:pt>
                <c:pt idx="1">
                  <c:v>0.53259999999999996</c:v>
                </c:pt>
                <c:pt idx="2">
                  <c:v>0.5363</c:v>
                </c:pt>
                <c:pt idx="3">
                  <c:v>0.8841</c:v>
                </c:pt>
                <c:pt idx="4">
                  <c:v>0.4204</c:v>
                </c:pt>
                <c:pt idx="5">
                  <c:v>0.83179999999999998</c:v>
                </c:pt>
              </c:numCache>
            </c:numRef>
          </c:val>
          <c:extLst>
            <c:ext xmlns:c16="http://schemas.microsoft.com/office/drawing/2014/chart" uri="{C3380CC4-5D6E-409C-BE32-E72D297353CC}">
              <c16:uniqueId val="{00000002-B9C8-D94E-B84A-85074BC9AB03}"/>
            </c:ext>
          </c:extLst>
        </c:ser>
        <c:dLbls>
          <c:showLegendKey val="0"/>
          <c:showVal val="0"/>
          <c:showCatName val="0"/>
          <c:showSerName val="0"/>
          <c:showPercent val="0"/>
          <c:showBubbleSize val="0"/>
        </c:dLbls>
        <c:gapWidth val="219"/>
        <c:overlap val="-27"/>
        <c:axId val="379725216"/>
        <c:axId val="379919808"/>
      </c:barChart>
      <c:catAx>
        <c:axId val="379725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79919808"/>
        <c:crosses val="autoZero"/>
        <c:auto val="1"/>
        <c:lblAlgn val="ctr"/>
        <c:lblOffset val="100"/>
        <c:noMultiLvlLbl val="0"/>
      </c:catAx>
      <c:valAx>
        <c:axId val="379919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797252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kern="1200" spc="0" baseline="0" dirty="0">
                <a:solidFill>
                  <a:srgbClr val="262626">
                    <a:lumMod val="65000"/>
                    <a:lumOff val="35000"/>
                  </a:srgbClr>
                </a:solidFill>
              </a:rPr>
              <a:t>Comparison of Model Performance for Pipeline B</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XGBoost</c:v>
                </c:pt>
              </c:strCache>
            </c:strRef>
          </c:tx>
          <c:spPr>
            <a:solidFill>
              <a:schemeClr val="accent2"/>
            </a:solidFill>
            <a:ln>
              <a:noFill/>
            </a:ln>
            <a:effectLst/>
          </c:spPr>
          <c:invertIfNegative val="0"/>
          <c:cat>
            <c:strRef>
              <c:f>Sheet1!$A$2:$A$7</c:f>
              <c:strCache>
                <c:ptCount val="6"/>
                <c:pt idx="0">
                  <c:v>Accuracy</c:v>
                </c:pt>
                <c:pt idx="1">
                  <c:v>Macro F1</c:v>
                </c:pt>
                <c:pt idx="2">
                  <c:v>Sensitivity</c:v>
                </c:pt>
                <c:pt idx="3">
                  <c:v>Specificity</c:v>
                </c:pt>
                <c:pt idx="4">
                  <c:v>Kappa</c:v>
                </c:pt>
                <c:pt idx="5">
                  <c:v>Multiclass ROC AUC</c:v>
                </c:pt>
              </c:strCache>
            </c:strRef>
          </c:cat>
          <c:val>
            <c:numRef>
              <c:f>Sheet1!$B$2:$B$7</c:f>
              <c:numCache>
                <c:formatCode>General</c:formatCode>
                <c:ptCount val="6"/>
                <c:pt idx="0">
                  <c:v>0.65469999999999995</c:v>
                </c:pt>
                <c:pt idx="1">
                  <c:v>0.65069999999999995</c:v>
                </c:pt>
                <c:pt idx="2">
                  <c:v>0.65469999999999995</c:v>
                </c:pt>
                <c:pt idx="3">
                  <c:v>0.91369999999999996</c:v>
                </c:pt>
                <c:pt idx="4">
                  <c:v>0.56840000000000002</c:v>
                </c:pt>
                <c:pt idx="5">
                  <c:v>0.87380000000000002</c:v>
                </c:pt>
              </c:numCache>
            </c:numRef>
          </c:val>
          <c:extLst>
            <c:ext xmlns:c16="http://schemas.microsoft.com/office/drawing/2014/chart" uri="{C3380CC4-5D6E-409C-BE32-E72D297353CC}">
              <c16:uniqueId val="{00000000-4A33-9848-8FAC-41CF3B193499}"/>
            </c:ext>
          </c:extLst>
        </c:ser>
        <c:ser>
          <c:idx val="1"/>
          <c:order val="1"/>
          <c:tx>
            <c:strRef>
              <c:f>Sheet1!$C$1</c:f>
              <c:strCache>
                <c:ptCount val="1"/>
                <c:pt idx="0">
                  <c:v>Random Forest</c:v>
                </c:pt>
              </c:strCache>
            </c:strRef>
          </c:tx>
          <c:spPr>
            <a:solidFill>
              <a:schemeClr val="accent4"/>
            </a:solidFill>
            <a:ln>
              <a:noFill/>
            </a:ln>
            <a:effectLst/>
          </c:spPr>
          <c:invertIfNegative val="0"/>
          <c:cat>
            <c:strRef>
              <c:f>Sheet1!$A$2:$A$7</c:f>
              <c:strCache>
                <c:ptCount val="6"/>
                <c:pt idx="0">
                  <c:v>Accuracy</c:v>
                </c:pt>
                <c:pt idx="1">
                  <c:v>Macro F1</c:v>
                </c:pt>
                <c:pt idx="2">
                  <c:v>Sensitivity</c:v>
                </c:pt>
                <c:pt idx="3">
                  <c:v>Specificity</c:v>
                </c:pt>
                <c:pt idx="4">
                  <c:v>Kappa</c:v>
                </c:pt>
                <c:pt idx="5">
                  <c:v>Multiclass ROC AUC</c:v>
                </c:pt>
              </c:strCache>
            </c:strRef>
          </c:cat>
          <c:val>
            <c:numRef>
              <c:f>Sheet1!$C$2:$C$7</c:f>
              <c:numCache>
                <c:formatCode>General</c:formatCode>
                <c:ptCount val="6"/>
                <c:pt idx="0">
                  <c:v>0.68459999999999999</c:v>
                </c:pt>
                <c:pt idx="1">
                  <c:v>0.68130000000000002</c:v>
                </c:pt>
                <c:pt idx="2">
                  <c:v>0.68459999999999999</c:v>
                </c:pt>
                <c:pt idx="3">
                  <c:v>0.92120000000000002</c:v>
                </c:pt>
                <c:pt idx="4">
                  <c:v>0.60580000000000001</c:v>
                </c:pt>
                <c:pt idx="5">
                  <c:v>0.88090000000000002</c:v>
                </c:pt>
              </c:numCache>
            </c:numRef>
          </c:val>
          <c:extLst>
            <c:ext xmlns:c16="http://schemas.microsoft.com/office/drawing/2014/chart" uri="{C3380CC4-5D6E-409C-BE32-E72D297353CC}">
              <c16:uniqueId val="{00000001-4A33-9848-8FAC-41CF3B193499}"/>
            </c:ext>
          </c:extLst>
        </c:ser>
        <c:ser>
          <c:idx val="2"/>
          <c:order val="2"/>
          <c:tx>
            <c:strRef>
              <c:f>Sheet1!$D$1</c:f>
              <c:strCache>
                <c:ptCount val="1"/>
                <c:pt idx="0">
                  <c:v>Logistic Reg.</c:v>
                </c:pt>
              </c:strCache>
            </c:strRef>
          </c:tx>
          <c:spPr>
            <a:solidFill>
              <a:schemeClr val="accent6"/>
            </a:solidFill>
            <a:ln>
              <a:noFill/>
            </a:ln>
            <a:effectLst/>
          </c:spPr>
          <c:invertIfNegative val="0"/>
          <c:cat>
            <c:strRef>
              <c:f>Sheet1!$A$2:$A$7</c:f>
              <c:strCache>
                <c:ptCount val="6"/>
                <c:pt idx="0">
                  <c:v>Accuracy</c:v>
                </c:pt>
                <c:pt idx="1">
                  <c:v>Macro F1</c:v>
                </c:pt>
                <c:pt idx="2">
                  <c:v>Sensitivity</c:v>
                </c:pt>
                <c:pt idx="3">
                  <c:v>Specificity</c:v>
                </c:pt>
                <c:pt idx="4">
                  <c:v>Kappa</c:v>
                </c:pt>
                <c:pt idx="5">
                  <c:v>Multiclass ROC AUC</c:v>
                </c:pt>
              </c:strCache>
            </c:strRef>
          </c:cat>
          <c:val>
            <c:numRef>
              <c:f>Sheet1!$D$2:$D$7</c:f>
              <c:numCache>
                <c:formatCode>General</c:formatCode>
                <c:ptCount val="6"/>
                <c:pt idx="0">
                  <c:v>0.52349999999999997</c:v>
                </c:pt>
                <c:pt idx="1">
                  <c:v>0.51780000000000004</c:v>
                </c:pt>
                <c:pt idx="2">
                  <c:v>0.52349999999999997</c:v>
                </c:pt>
                <c:pt idx="3">
                  <c:v>0.88090000000000002</c:v>
                </c:pt>
                <c:pt idx="4">
                  <c:v>0.40439999999999998</c:v>
                </c:pt>
                <c:pt idx="5">
                  <c:v>0.82030000000000003</c:v>
                </c:pt>
              </c:numCache>
            </c:numRef>
          </c:val>
          <c:extLst>
            <c:ext xmlns:c16="http://schemas.microsoft.com/office/drawing/2014/chart" uri="{C3380CC4-5D6E-409C-BE32-E72D297353CC}">
              <c16:uniqueId val="{00000002-4A33-9848-8FAC-41CF3B193499}"/>
            </c:ext>
          </c:extLst>
        </c:ser>
        <c:dLbls>
          <c:showLegendKey val="0"/>
          <c:showVal val="0"/>
          <c:showCatName val="0"/>
          <c:showSerName val="0"/>
          <c:showPercent val="0"/>
          <c:showBubbleSize val="0"/>
        </c:dLbls>
        <c:gapWidth val="219"/>
        <c:overlap val="-27"/>
        <c:axId val="1759495023"/>
        <c:axId val="1759496735"/>
      </c:barChart>
      <c:catAx>
        <c:axId val="1759495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59496735"/>
        <c:crosses val="autoZero"/>
        <c:auto val="1"/>
        <c:lblAlgn val="ctr"/>
        <c:lblOffset val="100"/>
        <c:noMultiLvlLbl val="0"/>
      </c:catAx>
      <c:valAx>
        <c:axId val="17594967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59495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1301B8-AEB6-7B4B-8F0E-C5F484D37BDD}"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498FFB2-705B-A741-8A13-5754965F8B35}">
      <dgm:prSet phldrT="[Text]"/>
      <dgm:spPr/>
      <dgm:t>
        <a:bodyPr/>
        <a:lstStyle/>
        <a:p>
          <a:pPr>
            <a:lnSpc>
              <a:spcPct val="100000"/>
            </a:lnSpc>
            <a:defRPr b="1"/>
          </a:pPr>
          <a:r>
            <a:rPr lang="en-US"/>
            <a:t>Macro Instability</a:t>
          </a:r>
        </a:p>
      </dgm:t>
    </dgm:pt>
    <dgm:pt modelId="{C17D6D60-25EA-0649-889A-4D725C43D249}" type="parTrans" cxnId="{41E9928C-F171-D045-8EE4-4F9ED82B3C4A}">
      <dgm:prSet/>
      <dgm:spPr/>
      <dgm:t>
        <a:bodyPr/>
        <a:lstStyle/>
        <a:p>
          <a:endParaRPr lang="en-US"/>
        </a:p>
      </dgm:t>
    </dgm:pt>
    <dgm:pt modelId="{D7B7ADBC-116B-7E44-8F88-B33B9E73BEF0}" type="sibTrans" cxnId="{41E9928C-F171-D045-8EE4-4F9ED82B3C4A}">
      <dgm:prSet/>
      <dgm:spPr/>
      <dgm:t>
        <a:bodyPr/>
        <a:lstStyle/>
        <a:p>
          <a:endParaRPr lang="en-US"/>
        </a:p>
      </dgm:t>
    </dgm:pt>
    <dgm:pt modelId="{98B08708-5D26-1F43-81DB-AE9EB31834A8}">
      <dgm:prSet phldrT="[Text]"/>
      <dgm:spPr/>
      <dgm:t>
        <a:bodyPr/>
        <a:lstStyle/>
        <a:p>
          <a:pPr>
            <a:lnSpc>
              <a:spcPct val="100000"/>
            </a:lnSpc>
          </a:pPr>
          <a:r>
            <a:rPr lang="en-US" dirty="0"/>
            <a:t>- COVID</a:t>
          </a:r>
        </a:p>
      </dgm:t>
    </dgm:pt>
    <dgm:pt modelId="{6384EDBD-C334-5A47-8342-F10683E74843}" type="parTrans" cxnId="{F4D3D4CC-B4F2-9142-AE38-ED1E179C9E5B}">
      <dgm:prSet/>
      <dgm:spPr/>
      <dgm:t>
        <a:bodyPr/>
        <a:lstStyle/>
        <a:p>
          <a:endParaRPr lang="en-US"/>
        </a:p>
      </dgm:t>
    </dgm:pt>
    <dgm:pt modelId="{A51A824C-1E41-4246-B27B-C6363B47BD25}" type="sibTrans" cxnId="{F4D3D4CC-B4F2-9142-AE38-ED1E179C9E5B}">
      <dgm:prSet/>
      <dgm:spPr/>
      <dgm:t>
        <a:bodyPr/>
        <a:lstStyle/>
        <a:p>
          <a:endParaRPr lang="en-US"/>
        </a:p>
      </dgm:t>
    </dgm:pt>
    <dgm:pt modelId="{DFACB3C5-F9F0-474F-B7E7-E62940D29DAF}">
      <dgm:prSet phldrT="[Text]"/>
      <dgm:spPr/>
      <dgm:t>
        <a:bodyPr/>
        <a:lstStyle/>
        <a:p>
          <a:pPr>
            <a:lnSpc>
              <a:spcPct val="100000"/>
            </a:lnSpc>
          </a:pPr>
          <a:r>
            <a:rPr lang="en-US" dirty="0"/>
            <a:t>- Russia’s Invasion of Ukraine</a:t>
          </a:r>
        </a:p>
      </dgm:t>
    </dgm:pt>
    <dgm:pt modelId="{ACA2E81F-76D6-5344-AADE-A57E78C41C82}" type="parTrans" cxnId="{093B5552-4EFB-A449-8A32-91E4F75867FB}">
      <dgm:prSet/>
      <dgm:spPr/>
      <dgm:t>
        <a:bodyPr/>
        <a:lstStyle/>
        <a:p>
          <a:endParaRPr lang="en-US"/>
        </a:p>
      </dgm:t>
    </dgm:pt>
    <dgm:pt modelId="{E728F559-E526-344A-AC5A-4275A4BEF332}" type="sibTrans" cxnId="{093B5552-4EFB-A449-8A32-91E4F75867FB}">
      <dgm:prSet/>
      <dgm:spPr/>
      <dgm:t>
        <a:bodyPr/>
        <a:lstStyle/>
        <a:p>
          <a:endParaRPr lang="en-US"/>
        </a:p>
      </dgm:t>
    </dgm:pt>
    <dgm:pt modelId="{E9E5C568-8BC7-A54D-B105-B691B8EE6902}">
      <dgm:prSet phldrT="[Text]"/>
      <dgm:spPr/>
      <dgm:t>
        <a:bodyPr/>
        <a:lstStyle/>
        <a:p>
          <a:pPr>
            <a:lnSpc>
              <a:spcPct val="100000"/>
            </a:lnSpc>
            <a:defRPr b="1"/>
          </a:pPr>
          <a:r>
            <a:rPr lang="en-US"/>
            <a:t>Increasing Fuel Poverty</a:t>
          </a:r>
        </a:p>
      </dgm:t>
    </dgm:pt>
    <dgm:pt modelId="{6A3A1EBE-7F1A-8D4D-BBC9-F5A9E7AADD26}" type="parTrans" cxnId="{C0A961D7-34E5-C049-99B4-09D9BE5CC207}">
      <dgm:prSet/>
      <dgm:spPr/>
      <dgm:t>
        <a:bodyPr/>
        <a:lstStyle/>
        <a:p>
          <a:endParaRPr lang="en-US"/>
        </a:p>
      </dgm:t>
    </dgm:pt>
    <dgm:pt modelId="{55F50B5F-B3CB-2C4D-95C6-CF819218B8D6}" type="sibTrans" cxnId="{C0A961D7-34E5-C049-99B4-09D9BE5CC207}">
      <dgm:prSet/>
      <dgm:spPr/>
      <dgm:t>
        <a:bodyPr/>
        <a:lstStyle/>
        <a:p>
          <a:endParaRPr lang="en-US"/>
        </a:p>
      </dgm:t>
    </dgm:pt>
    <dgm:pt modelId="{A03AEB65-DD50-FB45-8F2E-9B5CF63864F1}">
      <dgm:prSet phldrT="[Text]"/>
      <dgm:spPr/>
      <dgm:t>
        <a:bodyPr/>
        <a:lstStyle/>
        <a:p>
          <a:pPr>
            <a:lnSpc>
              <a:spcPct val="100000"/>
            </a:lnSpc>
          </a:pPr>
          <a:r>
            <a:rPr lang="en-US" dirty="0"/>
            <a:t>- Energy market volatility</a:t>
          </a:r>
        </a:p>
      </dgm:t>
    </dgm:pt>
    <dgm:pt modelId="{8B510E2A-7E01-B94D-B5B3-16E306FD88A2}" type="parTrans" cxnId="{B58AA360-6034-AE49-A37A-282413074658}">
      <dgm:prSet/>
      <dgm:spPr/>
      <dgm:t>
        <a:bodyPr/>
        <a:lstStyle/>
        <a:p>
          <a:endParaRPr lang="en-US"/>
        </a:p>
      </dgm:t>
    </dgm:pt>
    <dgm:pt modelId="{BEEED9A4-6C10-804E-9F1E-AFFED662F6E9}" type="sibTrans" cxnId="{B58AA360-6034-AE49-A37A-282413074658}">
      <dgm:prSet/>
      <dgm:spPr/>
      <dgm:t>
        <a:bodyPr/>
        <a:lstStyle/>
        <a:p>
          <a:endParaRPr lang="en-US"/>
        </a:p>
      </dgm:t>
    </dgm:pt>
    <dgm:pt modelId="{7E2965BC-9EEA-F34A-A3C1-011A55FA9E82}">
      <dgm:prSet phldrT="[Text]"/>
      <dgm:spPr/>
      <dgm:t>
        <a:bodyPr/>
        <a:lstStyle/>
        <a:p>
          <a:pPr>
            <a:lnSpc>
              <a:spcPct val="100000"/>
            </a:lnSpc>
          </a:pPr>
          <a:r>
            <a:rPr lang="en-US" dirty="0"/>
            <a:t>- Vulnerability of households to Fuel Poverty</a:t>
          </a:r>
        </a:p>
      </dgm:t>
    </dgm:pt>
    <dgm:pt modelId="{BE2CBBAF-2AA1-C041-A6B1-E372E0CC7CBD}" type="parTrans" cxnId="{3C261DBC-222F-974C-9F96-ADE6801168D8}">
      <dgm:prSet/>
      <dgm:spPr/>
      <dgm:t>
        <a:bodyPr/>
        <a:lstStyle/>
        <a:p>
          <a:endParaRPr lang="en-US"/>
        </a:p>
      </dgm:t>
    </dgm:pt>
    <dgm:pt modelId="{3F870704-04AB-484A-915E-D99327A85662}" type="sibTrans" cxnId="{3C261DBC-222F-974C-9F96-ADE6801168D8}">
      <dgm:prSet/>
      <dgm:spPr/>
      <dgm:t>
        <a:bodyPr/>
        <a:lstStyle/>
        <a:p>
          <a:endParaRPr lang="en-US"/>
        </a:p>
      </dgm:t>
    </dgm:pt>
    <dgm:pt modelId="{FE146D74-A2ED-714B-BD5A-C24AA1659EB0}">
      <dgm:prSet phldrT="[Text]"/>
      <dgm:spPr/>
      <dgm:t>
        <a:bodyPr/>
        <a:lstStyle/>
        <a:p>
          <a:pPr>
            <a:lnSpc>
              <a:spcPct val="100000"/>
            </a:lnSpc>
            <a:defRPr b="1"/>
          </a:pPr>
          <a:r>
            <a:rPr lang="en-US"/>
            <a:t>Flexible Pricing Strategy</a:t>
          </a:r>
        </a:p>
      </dgm:t>
    </dgm:pt>
    <dgm:pt modelId="{B0ED1561-995D-D441-B311-4129A3012CDD}" type="parTrans" cxnId="{4844575E-51C1-D14F-9C0D-EC2C20207D13}">
      <dgm:prSet/>
      <dgm:spPr/>
      <dgm:t>
        <a:bodyPr/>
        <a:lstStyle/>
        <a:p>
          <a:endParaRPr lang="en-US"/>
        </a:p>
      </dgm:t>
    </dgm:pt>
    <dgm:pt modelId="{9D87141A-9255-B946-A035-287DA2456AB3}" type="sibTrans" cxnId="{4844575E-51C1-D14F-9C0D-EC2C20207D13}">
      <dgm:prSet/>
      <dgm:spPr/>
      <dgm:t>
        <a:bodyPr/>
        <a:lstStyle/>
        <a:p>
          <a:endParaRPr lang="en-US"/>
        </a:p>
      </dgm:t>
    </dgm:pt>
    <dgm:pt modelId="{5691EBA1-E82D-3742-BB7B-3E4471F1AE59}">
      <dgm:prSet phldrT="[Text]"/>
      <dgm:spPr/>
      <dgm:t>
        <a:bodyPr/>
        <a:lstStyle/>
        <a:p>
          <a:pPr>
            <a:lnSpc>
              <a:spcPct val="100000"/>
            </a:lnSpc>
          </a:pPr>
          <a:r>
            <a:rPr lang="en-US" dirty="0"/>
            <a:t>- </a:t>
          </a:r>
          <a:r>
            <a:rPr lang="en-US" dirty="0" err="1"/>
            <a:t>KrakenFlex</a:t>
          </a:r>
          <a:endParaRPr lang="en-US" dirty="0"/>
        </a:p>
      </dgm:t>
    </dgm:pt>
    <dgm:pt modelId="{1C10D741-E425-E74C-8889-B065E8C91F9E}" type="parTrans" cxnId="{B7AF8AD5-DFF6-6D4A-B53F-71E55D5BD1BF}">
      <dgm:prSet/>
      <dgm:spPr/>
      <dgm:t>
        <a:bodyPr/>
        <a:lstStyle/>
        <a:p>
          <a:endParaRPr lang="en-US"/>
        </a:p>
      </dgm:t>
    </dgm:pt>
    <dgm:pt modelId="{E05FEDCE-6A24-F241-BA7C-A116C856893B}" type="sibTrans" cxnId="{B7AF8AD5-DFF6-6D4A-B53F-71E55D5BD1BF}">
      <dgm:prSet/>
      <dgm:spPr/>
      <dgm:t>
        <a:bodyPr/>
        <a:lstStyle/>
        <a:p>
          <a:endParaRPr lang="en-US"/>
        </a:p>
      </dgm:t>
    </dgm:pt>
    <dgm:pt modelId="{6AE179E5-9481-5A4B-9BE1-A7409DA67539}">
      <dgm:prSet phldrT="[Text]"/>
      <dgm:spPr/>
      <dgm:t>
        <a:bodyPr/>
        <a:lstStyle/>
        <a:p>
          <a:pPr>
            <a:lnSpc>
              <a:spcPct val="100000"/>
            </a:lnSpc>
          </a:pPr>
          <a:r>
            <a:rPr lang="en-US" dirty="0"/>
            <a:t>- E7 pricing for off-peak usage</a:t>
          </a:r>
        </a:p>
      </dgm:t>
    </dgm:pt>
    <dgm:pt modelId="{0FDFD3F7-C8E4-F64A-8B97-407E48C9B6E9}" type="parTrans" cxnId="{ACFE5947-C455-254B-8B7F-CF357FC2D740}">
      <dgm:prSet/>
      <dgm:spPr/>
      <dgm:t>
        <a:bodyPr/>
        <a:lstStyle/>
        <a:p>
          <a:endParaRPr lang="en-US"/>
        </a:p>
      </dgm:t>
    </dgm:pt>
    <dgm:pt modelId="{70719CE0-1783-3642-9602-D80EE58C2945}" type="sibTrans" cxnId="{ACFE5947-C455-254B-8B7F-CF357FC2D740}">
      <dgm:prSet/>
      <dgm:spPr/>
      <dgm:t>
        <a:bodyPr/>
        <a:lstStyle/>
        <a:p>
          <a:endParaRPr lang="en-US"/>
        </a:p>
      </dgm:t>
    </dgm:pt>
    <dgm:pt modelId="{642A2DD2-A7FF-524E-9448-75DFB0A14C7C}">
      <dgm:prSet phldrT="[Text]"/>
      <dgm:spPr/>
      <dgm:t>
        <a:bodyPr/>
        <a:lstStyle/>
        <a:p>
          <a:pPr>
            <a:lnSpc>
              <a:spcPct val="100000"/>
            </a:lnSpc>
          </a:pPr>
          <a:r>
            <a:rPr lang="en-US" dirty="0"/>
            <a:t>Subsequent sanctions</a:t>
          </a:r>
        </a:p>
      </dgm:t>
    </dgm:pt>
    <dgm:pt modelId="{ACD50C88-00E5-874C-863A-DB73D74BA04A}" type="parTrans" cxnId="{FC679491-1AC3-FA43-A3F6-1331CC5A3D67}">
      <dgm:prSet/>
      <dgm:spPr/>
      <dgm:t>
        <a:bodyPr/>
        <a:lstStyle/>
        <a:p>
          <a:endParaRPr lang="en-US"/>
        </a:p>
      </dgm:t>
    </dgm:pt>
    <dgm:pt modelId="{1F8FCC68-52AE-4C4A-8A6F-0CFD4E619759}" type="sibTrans" cxnId="{FC679491-1AC3-FA43-A3F6-1331CC5A3D67}">
      <dgm:prSet/>
      <dgm:spPr/>
      <dgm:t>
        <a:bodyPr/>
        <a:lstStyle/>
        <a:p>
          <a:endParaRPr lang="en-US"/>
        </a:p>
      </dgm:t>
    </dgm:pt>
    <dgm:pt modelId="{2D747640-C400-0C44-B64E-99BD57C76980}">
      <dgm:prSet phldrT="[Text]"/>
      <dgm:spPr/>
      <dgm:t>
        <a:bodyPr/>
        <a:lstStyle/>
        <a:p>
          <a:pPr>
            <a:lnSpc>
              <a:spcPct val="100000"/>
            </a:lnSpc>
          </a:pPr>
          <a:r>
            <a:rPr lang="en-US" dirty="0"/>
            <a:t>- Winter Fuel Payment by Government</a:t>
          </a:r>
        </a:p>
      </dgm:t>
    </dgm:pt>
    <dgm:pt modelId="{0CBF5693-626C-424A-B398-3218147EAFFE}" type="parTrans" cxnId="{C302537B-FF83-1344-BC12-DF26DA824FCC}">
      <dgm:prSet/>
      <dgm:spPr/>
      <dgm:t>
        <a:bodyPr/>
        <a:lstStyle/>
        <a:p>
          <a:endParaRPr lang="en-US"/>
        </a:p>
      </dgm:t>
    </dgm:pt>
    <dgm:pt modelId="{75A08C10-8325-EF47-B8AD-95D1B3C0E8F6}" type="sibTrans" cxnId="{C302537B-FF83-1344-BC12-DF26DA824FCC}">
      <dgm:prSet/>
      <dgm:spPr/>
      <dgm:t>
        <a:bodyPr/>
        <a:lstStyle/>
        <a:p>
          <a:endParaRPr lang="en-US"/>
        </a:p>
      </dgm:t>
    </dgm:pt>
    <dgm:pt modelId="{AABB8285-B27B-49DA-90B1-127BF963E3A7}" type="pres">
      <dgm:prSet presAssocID="{A81301B8-AEB6-7B4B-8F0E-C5F484D37BDD}" presName="root" presStyleCnt="0">
        <dgm:presLayoutVars>
          <dgm:dir/>
          <dgm:resizeHandles val="exact"/>
        </dgm:presLayoutVars>
      </dgm:prSet>
      <dgm:spPr/>
    </dgm:pt>
    <dgm:pt modelId="{32F48D80-55A4-4BF2-B92C-6B7945662FC8}" type="pres">
      <dgm:prSet presAssocID="{4498FFB2-705B-A741-8A13-5754965F8B35}" presName="compNode" presStyleCnt="0"/>
      <dgm:spPr/>
    </dgm:pt>
    <dgm:pt modelId="{EE14C0F6-B3F9-433C-84AE-74ED191B64E7}" type="pres">
      <dgm:prSet presAssocID="{4498FFB2-705B-A741-8A13-5754965F8B3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arth Globe Europe-Africa"/>
        </a:ext>
      </dgm:extLst>
    </dgm:pt>
    <dgm:pt modelId="{F3D49494-CE38-45C1-A202-80B38FA4ADCB}" type="pres">
      <dgm:prSet presAssocID="{4498FFB2-705B-A741-8A13-5754965F8B35}" presName="iconSpace" presStyleCnt="0"/>
      <dgm:spPr/>
    </dgm:pt>
    <dgm:pt modelId="{59A1B12B-783B-47C1-96AC-A687C5AF49B5}" type="pres">
      <dgm:prSet presAssocID="{4498FFB2-705B-A741-8A13-5754965F8B35}" presName="parTx" presStyleLbl="revTx" presStyleIdx="0" presStyleCnt="6">
        <dgm:presLayoutVars>
          <dgm:chMax val="0"/>
          <dgm:chPref val="0"/>
        </dgm:presLayoutVars>
      </dgm:prSet>
      <dgm:spPr/>
    </dgm:pt>
    <dgm:pt modelId="{9D61FD11-5E8C-4901-AC54-5F2409F860ED}" type="pres">
      <dgm:prSet presAssocID="{4498FFB2-705B-A741-8A13-5754965F8B35}" presName="txSpace" presStyleCnt="0"/>
      <dgm:spPr/>
    </dgm:pt>
    <dgm:pt modelId="{0F0A2CE0-524C-400E-865C-E06219D2D888}" type="pres">
      <dgm:prSet presAssocID="{4498FFB2-705B-A741-8A13-5754965F8B35}" presName="desTx" presStyleLbl="revTx" presStyleIdx="1" presStyleCnt="6">
        <dgm:presLayoutVars/>
      </dgm:prSet>
      <dgm:spPr/>
    </dgm:pt>
    <dgm:pt modelId="{59EFF04B-9AAF-487B-906B-7291C4770542}" type="pres">
      <dgm:prSet presAssocID="{D7B7ADBC-116B-7E44-8F88-B33B9E73BEF0}" presName="sibTrans" presStyleCnt="0"/>
      <dgm:spPr/>
    </dgm:pt>
    <dgm:pt modelId="{764CBCBD-270C-4357-92B1-0D639589C545}" type="pres">
      <dgm:prSet presAssocID="{E9E5C568-8BC7-A54D-B105-B691B8EE6902}" presName="compNode" presStyleCnt="0"/>
      <dgm:spPr/>
    </dgm:pt>
    <dgm:pt modelId="{8F537BC5-0BCE-4C2B-BA1D-EA248AD1BAB9}" type="pres">
      <dgm:prSet presAssocID="{E9E5C568-8BC7-A54D-B105-B691B8EE690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se"/>
        </a:ext>
      </dgm:extLst>
    </dgm:pt>
    <dgm:pt modelId="{71103A9F-8AD2-4AE6-BE89-3395A32A59AD}" type="pres">
      <dgm:prSet presAssocID="{E9E5C568-8BC7-A54D-B105-B691B8EE6902}" presName="iconSpace" presStyleCnt="0"/>
      <dgm:spPr/>
    </dgm:pt>
    <dgm:pt modelId="{2C4068FD-16AA-4DE0-A54B-29734365BAA7}" type="pres">
      <dgm:prSet presAssocID="{E9E5C568-8BC7-A54D-B105-B691B8EE6902}" presName="parTx" presStyleLbl="revTx" presStyleIdx="2" presStyleCnt="6">
        <dgm:presLayoutVars>
          <dgm:chMax val="0"/>
          <dgm:chPref val="0"/>
        </dgm:presLayoutVars>
      </dgm:prSet>
      <dgm:spPr/>
    </dgm:pt>
    <dgm:pt modelId="{3F0BC264-9FA0-4E11-BB3B-580D162970A8}" type="pres">
      <dgm:prSet presAssocID="{E9E5C568-8BC7-A54D-B105-B691B8EE6902}" presName="txSpace" presStyleCnt="0"/>
      <dgm:spPr/>
    </dgm:pt>
    <dgm:pt modelId="{DFD85B15-DF83-43FB-8E24-E2A07D7C743C}" type="pres">
      <dgm:prSet presAssocID="{E9E5C568-8BC7-A54D-B105-B691B8EE6902}" presName="desTx" presStyleLbl="revTx" presStyleIdx="3" presStyleCnt="6">
        <dgm:presLayoutVars/>
      </dgm:prSet>
      <dgm:spPr/>
    </dgm:pt>
    <dgm:pt modelId="{F98B8856-14A3-4582-A4DE-4B591B32757B}" type="pres">
      <dgm:prSet presAssocID="{55F50B5F-B3CB-2C4D-95C6-CF819218B8D6}" presName="sibTrans" presStyleCnt="0"/>
      <dgm:spPr/>
    </dgm:pt>
    <dgm:pt modelId="{921B7E13-3EC0-459A-8699-DD6D5173B150}" type="pres">
      <dgm:prSet presAssocID="{FE146D74-A2ED-714B-BD5A-C24AA1659EB0}" presName="compNode" presStyleCnt="0"/>
      <dgm:spPr/>
    </dgm:pt>
    <dgm:pt modelId="{8D237A1A-5F98-480C-8D12-B0600EBE786A}" type="pres">
      <dgm:prSet presAssocID="{FE146D74-A2ED-714B-BD5A-C24AA1659EB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oney"/>
        </a:ext>
      </dgm:extLst>
    </dgm:pt>
    <dgm:pt modelId="{B17318A9-AF87-4653-A87A-11FA2DCD8F99}" type="pres">
      <dgm:prSet presAssocID="{FE146D74-A2ED-714B-BD5A-C24AA1659EB0}" presName="iconSpace" presStyleCnt="0"/>
      <dgm:spPr/>
    </dgm:pt>
    <dgm:pt modelId="{2C4CE20C-9893-4D68-8384-53F4D0BFE54E}" type="pres">
      <dgm:prSet presAssocID="{FE146D74-A2ED-714B-BD5A-C24AA1659EB0}" presName="parTx" presStyleLbl="revTx" presStyleIdx="4" presStyleCnt="6">
        <dgm:presLayoutVars>
          <dgm:chMax val="0"/>
          <dgm:chPref val="0"/>
        </dgm:presLayoutVars>
      </dgm:prSet>
      <dgm:spPr/>
    </dgm:pt>
    <dgm:pt modelId="{FB78FEA3-CE78-4DC4-A9FB-D6D67D5C8E5C}" type="pres">
      <dgm:prSet presAssocID="{FE146D74-A2ED-714B-BD5A-C24AA1659EB0}" presName="txSpace" presStyleCnt="0"/>
      <dgm:spPr/>
    </dgm:pt>
    <dgm:pt modelId="{4B35B3FB-01D7-4357-B244-43E85CDA18A7}" type="pres">
      <dgm:prSet presAssocID="{FE146D74-A2ED-714B-BD5A-C24AA1659EB0}" presName="desTx" presStyleLbl="revTx" presStyleIdx="5" presStyleCnt="6">
        <dgm:presLayoutVars/>
      </dgm:prSet>
      <dgm:spPr/>
    </dgm:pt>
  </dgm:ptLst>
  <dgm:cxnLst>
    <dgm:cxn modelId="{A90C0308-4C8B-B641-8DF2-BA936B39BF32}" type="presOf" srcId="{4498FFB2-705B-A741-8A13-5754965F8B35}" destId="{59A1B12B-783B-47C1-96AC-A687C5AF49B5}" srcOrd="0" destOrd="0" presId="urn:microsoft.com/office/officeart/2018/2/layout/IconLabelDescriptionList"/>
    <dgm:cxn modelId="{1BDC670C-8904-DD4C-8A9B-6A34B811CF1B}" type="presOf" srcId="{E9E5C568-8BC7-A54D-B105-B691B8EE6902}" destId="{2C4068FD-16AA-4DE0-A54B-29734365BAA7}" srcOrd="0" destOrd="0" presId="urn:microsoft.com/office/officeart/2018/2/layout/IconLabelDescriptionList"/>
    <dgm:cxn modelId="{D075D81D-97AA-E34C-B4FD-8174477620A1}" type="presOf" srcId="{98B08708-5D26-1F43-81DB-AE9EB31834A8}" destId="{0F0A2CE0-524C-400E-865C-E06219D2D888}" srcOrd="0" destOrd="0" presId="urn:microsoft.com/office/officeart/2018/2/layout/IconLabelDescriptionList"/>
    <dgm:cxn modelId="{ACFE5947-C455-254B-8B7F-CF357FC2D740}" srcId="{FE146D74-A2ED-714B-BD5A-C24AA1659EB0}" destId="{6AE179E5-9481-5A4B-9BE1-A7409DA67539}" srcOrd="1" destOrd="0" parTransId="{0FDFD3F7-C8E4-F64A-8B97-407E48C9B6E9}" sibTransId="{70719CE0-1783-3642-9602-D80EE58C2945}"/>
    <dgm:cxn modelId="{A4E4844E-9D78-D748-A0D6-C37ED9227EE5}" type="presOf" srcId="{7E2965BC-9EEA-F34A-A3C1-011A55FA9E82}" destId="{DFD85B15-DF83-43FB-8E24-E2A07D7C743C}" srcOrd="0" destOrd="1" presId="urn:microsoft.com/office/officeart/2018/2/layout/IconLabelDescriptionList"/>
    <dgm:cxn modelId="{093B5552-4EFB-A449-8A32-91E4F75867FB}" srcId="{4498FFB2-705B-A741-8A13-5754965F8B35}" destId="{DFACB3C5-F9F0-474F-B7E7-E62940D29DAF}" srcOrd="1" destOrd="0" parTransId="{ACA2E81F-76D6-5344-AADE-A57E78C41C82}" sibTransId="{E728F559-E526-344A-AC5A-4275A4BEF332}"/>
    <dgm:cxn modelId="{FDA0A55A-1231-1342-B9AF-722E0AC0E088}" type="presOf" srcId="{6AE179E5-9481-5A4B-9BE1-A7409DA67539}" destId="{4B35B3FB-01D7-4357-B244-43E85CDA18A7}" srcOrd="0" destOrd="1" presId="urn:microsoft.com/office/officeart/2018/2/layout/IconLabelDescriptionList"/>
    <dgm:cxn modelId="{4844575E-51C1-D14F-9C0D-EC2C20207D13}" srcId="{A81301B8-AEB6-7B4B-8F0E-C5F484D37BDD}" destId="{FE146D74-A2ED-714B-BD5A-C24AA1659EB0}" srcOrd="2" destOrd="0" parTransId="{B0ED1561-995D-D441-B311-4129A3012CDD}" sibTransId="{9D87141A-9255-B946-A035-287DA2456AB3}"/>
    <dgm:cxn modelId="{B58AA360-6034-AE49-A37A-282413074658}" srcId="{E9E5C568-8BC7-A54D-B105-B691B8EE6902}" destId="{A03AEB65-DD50-FB45-8F2E-9B5CF63864F1}" srcOrd="0" destOrd="0" parTransId="{8B510E2A-7E01-B94D-B5B3-16E306FD88A2}" sibTransId="{BEEED9A4-6C10-804E-9F1E-AFFED662F6E9}"/>
    <dgm:cxn modelId="{88CBAD76-2EA5-BC4F-97E8-B532E21615B8}" type="presOf" srcId="{A03AEB65-DD50-FB45-8F2E-9B5CF63864F1}" destId="{DFD85B15-DF83-43FB-8E24-E2A07D7C743C}" srcOrd="0" destOrd="0" presId="urn:microsoft.com/office/officeart/2018/2/layout/IconLabelDescriptionList"/>
    <dgm:cxn modelId="{C302537B-FF83-1344-BC12-DF26DA824FCC}" srcId="{FE146D74-A2ED-714B-BD5A-C24AA1659EB0}" destId="{2D747640-C400-0C44-B64E-99BD57C76980}" srcOrd="2" destOrd="0" parTransId="{0CBF5693-626C-424A-B398-3218147EAFFE}" sibTransId="{75A08C10-8325-EF47-B8AD-95D1B3C0E8F6}"/>
    <dgm:cxn modelId="{207A0783-61FA-FC4C-B2A5-9CAC9074E7B0}" type="presOf" srcId="{DFACB3C5-F9F0-474F-B7E7-E62940D29DAF}" destId="{0F0A2CE0-524C-400E-865C-E06219D2D888}" srcOrd="0" destOrd="1" presId="urn:microsoft.com/office/officeart/2018/2/layout/IconLabelDescriptionList"/>
    <dgm:cxn modelId="{41E9928C-F171-D045-8EE4-4F9ED82B3C4A}" srcId="{A81301B8-AEB6-7B4B-8F0E-C5F484D37BDD}" destId="{4498FFB2-705B-A741-8A13-5754965F8B35}" srcOrd="0" destOrd="0" parTransId="{C17D6D60-25EA-0649-889A-4D725C43D249}" sibTransId="{D7B7ADBC-116B-7E44-8F88-B33B9E73BEF0}"/>
    <dgm:cxn modelId="{FC679491-1AC3-FA43-A3F6-1331CC5A3D67}" srcId="{4498FFB2-705B-A741-8A13-5754965F8B35}" destId="{642A2DD2-A7FF-524E-9448-75DFB0A14C7C}" srcOrd="2" destOrd="0" parTransId="{ACD50C88-00E5-874C-863A-DB73D74BA04A}" sibTransId="{1F8FCC68-52AE-4C4A-8A6F-0CFD4E619759}"/>
    <dgm:cxn modelId="{A62183A5-C828-0D4F-9B54-525B801CA716}" type="presOf" srcId="{A81301B8-AEB6-7B4B-8F0E-C5F484D37BDD}" destId="{AABB8285-B27B-49DA-90B1-127BF963E3A7}" srcOrd="0" destOrd="0" presId="urn:microsoft.com/office/officeart/2018/2/layout/IconLabelDescriptionList"/>
    <dgm:cxn modelId="{1E546CAB-9BF7-B34F-B8C5-330E6BA3C931}" type="presOf" srcId="{FE146D74-A2ED-714B-BD5A-C24AA1659EB0}" destId="{2C4CE20C-9893-4D68-8384-53F4D0BFE54E}" srcOrd="0" destOrd="0" presId="urn:microsoft.com/office/officeart/2018/2/layout/IconLabelDescriptionList"/>
    <dgm:cxn modelId="{3C261DBC-222F-974C-9F96-ADE6801168D8}" srcId="{E9E5C568-8BC7-A54D-B105-B691B8EE6902}" destId="{7E2965BC-9EEA-F34A-A3C1-011A55FA9E82}" srcOrd="1" destOrd="0" parTransId="{BE2CBBAF-2AA1-C041-A6B1-E372E0CC7CBD}" sibTransId="{3F870704-04AB-484A-915E-D99327A85662}"/>
    <dgm:cxn modelId="{F4D3D4CC-B4F2-9142-AE38-ED1E179C9E5B}" srcId="{4498FFB2-705B-A741-8A13-5754965F8B35}" destId="{98B08708-5D26-1F43-81DB-AE9EB31834A8}" srcOrd="0" destOrd="0" parTransId="{6384EDBD-C334-5A47-8342-F10683E74843}" sibTransId="{A51A824C-1E41-4246-B27B-C6363B47BD25}"/>
    <dgm:cxn modelId="{B7AF8AD5-DFF6-6D4A-B53F-71E55D5BD1BF}" srcId="{FE146D74-A2ED-714B-BD5A-C24AA1659EB0}" destId="{5691EBA1-E82D-3742-BB7B-3E4471F1AE59}" srcOrd="0" destOrd="0" parTransId="{1C10D741-E425-E74C-8889-B065E8C91F9E}" sibTransId="{E05FEDCE-6A24-F241-BA7C-A116C856893B}"/>
    <dgm:cxn modelId="{C0A961D7-34E5-C049-99B4-09D9BE5CC207}" srcId="{A81301B8-AEB6-7B4B-8F0E-C5F484D37BDD}" destId="{E9E5C568-8BC7-A54D-B105-B691B8EE6902}" srcOrd="1" destOrd="0" parTransId="{6A3A1EBE-7F1A-8D4D-BBC9-F5A9E7AADD26}" sibTransId="{55F50B5F-B3CB-2C4D-95C6-CF819218B8D6}"/>
    <dgm:cxn modelId="{E2AB03E2-4D2B-EE45-8DA4-4468ED38C72E}" type="presOf" srcId="{5691EBA1-E82D-3742-BB7B-3E4471F1AE59}" destId="{4B35B3FB-01D7-4357-B244-43E85CDA18A7}" srcOrd="0" destOrd="0" presId="urn:microsoft.com/office/officeart/2018/2/layout/IconLabelDescriptionList"/>
    <dgm:cxn modelId="{4EBD88E3-D3FB-A442-ADCE-AA0CEF96A343}" type="presOf" srcId="{2D747640-C400-0C44-B64E-99BD57C76980}" destId="{4B35B3FB-01D7-4357-B244-43E85CDA18A7}" srcOrd="0" destOrd="2" presId="urn:microsoft.com/office/officeart/2018/2/layout/IconLabelDescriptionList"/>
    <dgm:cxn modelId="{E3A055F7-2A9F-D44A-8F92-B35BB174F118}" type="presOf" srcId="{642A2DD2-A7FF-524E-9448-75DFB0A14C7C}" destId="{0F0A2CE0-524C-400E-865C-E06219D2D888}" srcOrd="0" destOrd="2" presId="urn:microsoft.com/office/officeart/2018/2/layout/IconLabelDescriptionList"/>
    <dgm:cxn modelId="{0E7F24AB-352A-2D4D-AEFE-9C33A6BD4102}" type="presParOf" srcId="{AABB8285-B27B-49DA-90B1-127BF963E3A7}" destId="{32F48D80-55A4-4BF2-B92C-6B7945662FC8}" srcOrd="0" destOrd="0" presId="urn:microsoft.com/office/officeart/2018/2/layout/IconLabelDescriptionList"/>
    <dgm:cxn modelId="{0AD67286-B817-6743-9066-AA44D053B41C}" type="presParOf" srcId="{32F48D80-55A4-4BF2-B92C-6B7945662FC8}" destId="{EE14C0F6-B3F9-433C-84AE-74ED191B64E7}" srcOrd="0" destOrd="0" presId="urn:microsoft.com/office/officeart/2018/2/layout/IconLabelDescriptionList"/>
    <dgm:cxn modelId="{84526B4D-EF23-6240-8BFC-A33DF3C54838}" type="presParOf" srcId="{32F48D80-55A4-4BF2-B92C-6B7945662FC8}" destId="{F3D49494-CE38-45C1-A202-80B38FA4ADCB}" srcOrd="1" destOrd="0" presId="urn:microsoft.com/office/officeart/2018/2/layout/IconLabelDescriptionList"/>
    <dgm:cxn modelId="{2A73EA32-CB15-6847-A950-694963A10725}" type="presParOf" srcId="{32F48D80-55A4-4BF2-B92C-6B7945662FC8}" destId="{59A1B12B-783B-47C1-96AC-A687C5AF49B5}" srcOrd="2" destOrd="0" presId="urn:microsoft.com/office/officeart/2018/2/layout/IconLabelDescriptionList"/>
    <dgm:cxn modelId="{A11581B9-D37C-E343-BC05-00C0DFA6EAF0}" type="presParOf" srcId="{32F48D80-55A4-4BF2-B92C-6B7945662FC8}" destId="{9D61FD11-5E8C-4901-AC54-5F2409F860ED}" srcOrd="3" destOrd="0" presId="urn:microsoft.com/office/officeart/2018/2/layout/IconLabelDescriptionList"/>
    <dgm:cxn modelId="{4EE3CEEF-07CE-A745-9EFD-913F6BDBA889}" type="presParOf" srcId="{32F48D80-55A4-4BF2-B92C-6B7945662FC8}" destId="{0F0A2CE0-524C-400E-865C-E06219D2D888}" srcOrd="4" destOrd="0" presId="urn:microsoft.com/office/officeart/2018/2/layout/IconLabelDescriptionList"/>
    <dgm:cxn modelId="{2EAD08F5-6BAF-2B41-AD16-CA92D7D2F78B}" type="presParOf" srcId="{AABB8285-B27B-49DA-90B1-127BF963E3A7}" destId="{59EFF04B-9AAF-487B-906B-7291C4770542}" srcOrd="1" destOrd="0" presId="urn:microsoft.com/office/officeart/2018/2/layout/IconLabelDescriptionList"/>
    <dgm:cxn modelId="{372AAC07-B21D-5846-AD92-6DB0AC346027}" type="presParOf" srcId="{AABB8285-B27B-49DA-90B1-127BF963E3A7}" destId="{764CBCBD-270C-4357-92B1-0D639589C545}" srcOrd="2" destOrd="0" presId="urn:microsoft.com/office/officeart/2018/2/layout/IconLabelDescriptionList"/>
    <dgm:cxn modelId="{112AA60C-44A7-D04B-94E2-314B3B6C646A}" type="presParOf" srcId="{764CBCBD-270C-4357-92B1-0D639589C545}" destId="{8F537BC5-0BCE-4C2B-BA1D-EA248AD1BAB9}" srcOrd="0" destOrd="0" presId="urn:microsoft.com/office/officeart/2018/2/layout/IconLabelDescriptionList"/>
    <dgm:cxn modelId="{D29A6592-843E-C54B-8141-5284239AD25B}" type="presParOf" srcId="{764CBCBD-270C-4357-92B1-0D639589C545}" destId="{71103A9F-8AD2-4AE6-BE89-3395A32A59AD}" srcOrd="1" destOrd="0" presId="urn:microsoft.com/office/officeart/2018/2/layout/IconLabelDescriptionList"/>
    <dgm:cxn modelId="{130D2E88-9079-A843-A7BB-316C1167196C}" type="presParOf" srcId="{764CBCBD-270C-4357-92B1-0D639589C545}" destId="{2C4068FD-16AA-4DE0-A54B-29734365BAA7}" srcOrd="2" destOrd="0" presId="urn:microsoft.com/office/officeart/2018/2/layout/IconLabelDescriptionList"/>
    <dgm:cxn modelId="{213B9FA0-BAF3-164A-B5A0-B0BC79EDE515}" type="presParOf" srcId="{764CBCBD-270C-4357-92B1-0D639589C545}" destId="{3F0BC264-9FA0-4E11-BB3B-580D162970A8}" srcOrd="3" destOrd="0" presId="urn:microsoft.com/office/officeart/2018/2/layout/IconLabelDescriptionList"/>
    <dgm:cxn modelId="{50E45846-F9A7-3842-BEE1-F5742E048C54}" type="presParOf" srcId="{764CBCBD-270C-4357-92B1-0D639589C545}" destId="{DFD85B15-DF83-43FB-8E24-E2A07D7C743C}" srcOrd="4" destOrd="0" presId="urn:microsoft.com/office/officeart/2018/2/layout/IconLabelDescriptionList"/>
    <dgm:cxn modelId="{1F20112F-1317-014F-845C-58739E0E9A46}" type="presParOf" srcId="{AABB8285-B27B-49DA-90B1-127BF963E3A7}" destId="{F98B8856-14A3-4582-A4DE-4B591B32757B}" srcOrd="3" destOrd="0" presId="urn:microsoft.com/office/officeart/2018/2/layout/IconLabelDescriptionList"/>
    <dgm:cxn modelId="{65DC23D9-AA6C-A64F-B738-CF51898AC9DC}" type="presParOf" srcId="{AABB8285-B27B-49DA-90B1-127BF963E3A7}" destId="{921B7E13-3EC0-459A-8699-DD6D5173B150}" srcOrd="4" destOrd="0" presId="urn:microsoft.com/office/officeart/2018/2/layout/IconLabelDescriptionList"/>
    <dgm:cxn modelId="{05D05AB4-8C8E-634E-BDB2-197DBE24F1FB}" type="presParOf" srcId="{921B7E13-3EC0-459A-8699-DD6D5173B150}" destId="{8D237A1A-5F98-480C-8D12-B0600EBE786A}" srcOrd="0" destOrd="0" presId="urn:microsoft.com/office/officeart/2018/2/layout/IconLabelDescriptionList"/>
    <dgm:cxn modelId="{39F361A0-4AE8-FA45-B0F5-323C394E4650}" type="presParOf" srcId="{921B7E13-3EC0-459A-8699-DD6D5173B150}" destId="{B17318A9-AF87-4653-A87A-11FA2DCD8F99}" srcOrd="1" destOrd="0" presId="urn:microsoft.com/office/officeart/2018/2/layout/IconLabelDescriptionList"/>
    <dgm:cxn modelId="{D4AD019F-968C-AF44-AF30-52E8FAD57AA3}" type="presParOf" srcId="{921B7E13-3EC0-459A-8699-DD6D5173B150}" destId="{2C4CE20C-9893-4D68-8384-53F4D0BFE54E}" srcOrd="2" destOrd="0" presId="urn:microsoft.com/office/officeart/2018/2/layout/IconLabelDescriptionList"/>
    <dgm:cxn modelId="{9607ADBF-CDFA-794A-AE49-DBFE615527DA}" type="presParOf" srcId="{921B7E13-3EC0-459A-8699-DD6D5173B150}" destId="{FB78FEA3-CE78-4DC4-A9FB-D6D67D5C8E5C}" srcOrd="3" destOrd="0" presId="urn:microsoft.com/office/officeart/2018/2/layout/IconLabelDescriptionList"/>
    <dgm:cxn modelId="{5BF9F156-B64F-C440-9E73-DC23C5081B15}" type="presParOf" srcId="{921B7E13-3EC0-459A-8699-DD6D5173B150}" destId="{4B35B3FB-01D7-4357-B244-43E85CDA18A7}"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4D9AEF-0B57-BE47-AE2F-4FEFBF2B50E2}" type="doc">
      <dgm:prSet loTypeId="urn:microsoft.com/office/officeart/2005/8/layout/hProcess4" loCatId="" qsTypeId="urn:microsoft.com/office/officeart/2005/8/quickstyle/simple1" qsCatId="simple" csTypeId="urn:microsoft.com/office/officeart/2005/8/colors/accent2_2" csCatId="accent2" phldr="1"/>
      <dgm:spPr/>
      <dgm:t>
        <a:bodyPr/>
        <a:lstStyle/>
        <a:p>
          <a:endParaRPr lang="en-US"/>
        </a:p>
      </dgm:t>
    </dgm:pt>
    <dgm:pt modelId="{175AAB1E-9680-9E40-B4CA-438C0B30AC33}">
      <dgm:prSet phldrT="[Text]"/>
      <dgm:spPr/>
      <dgm:t>
        <a:bodyPr/>
        <a:lstStyle/>
        <a:p>
          <a:r>
            <a:rPr lang="en-US" dirty="0"/>
            <a:t>Broader Aggregate Level Data</a:t>
          </a:r>
        </a:p>
      </dgm:t>
    </dgm:pt>
    <dgm:pt modelId="{D262880B-BFA9-AB44-B2AB-02016ED12A76}" type="parTrans" cxnId="{D8683D33-F75C-E44A-B8A4-B70FF478F09A}">
      <dgm:prSet/>
      <dgm:spPr/>
      <dgm:t>
        <a:bodyPr/>
        <a:lstStyle/>
        <a:p>
          <a:endParaRPr lang="en-US"/>
        </a:p>
      </dgm:t>
    </dgm:pt>
    <dgm:pt modelId="{50C5EA03-E4AB-F14F-A0BC-BDDB7F07BD61}" type="sibTrans" cxnId="{D8683D33-F75C-E44A-B8A4-B70FF478F09A}">
      <dgm:prSet/>
      <dgm:spPr/>
      <dgm:t>
        <a:bodyPr/>
        <a:lstStyle/>
        <a:p>
          <a:endParaRPr lang="en-US"/>
        </a:p>
      </dgm:t>
    </dgm:pt>
    <dgm:pt modelId="{173EEFE9-6C5A-0341-8E7B-5C94D8292142}">
      <dgm:prSet phldrT="[Text]"/>
      <dgm:spPr/>
      <dgm:t>
        <a:bodyPr/>
        <a:lstStyle/>
        <a:p>
          <a:r>
            <a:rPr lang="en-US" dirty="0"/>
            <a:t>Low-Income Low Energy Efficiency (LILEE)</a:t>
          </a:r>
        </a:p>
      </dgm:t>
    </dgm:pt>
    <dgm:pt modelId="{043F9A71-F9BB-CF46-9714-C44C5D33DC2C}" type="parTrans" cxnId="{7B681455-B3CD-2C4F-B785-B843615D4D08}">
      <dgm:prSet/>
      <dgm:spPr/>
      <dgm:t>
        <a:bodyPr/>
        <a:lstStyle/>
        <a:p>
          <a:endParaRPr lang="en-US"/>
        </a:p>
      </dgm:t>
    </dgm:pt>
    <dgm:pt modelId="{3CD0694A-C8AA-E34E-AC0B-A0F298765EF1}" type="sibTrans" cxnId="{7B681455-B3CD-2C4F-B785-B843615D4D08}">
      <dgm:prSet/>
      <dgm:spPr/>
      <dgm:t>
        <a:bodyPr/>
        <a:lstStyle/>
        <a:p>
          <a:endParaRPr lang="en-US"/>
        </a:p>
      </dgm:t>
    </dgm:pt>
    <dgm:pt modelId="{2D17C9CD-677E-084F-92F4-D67D4B2DBD70}">
      <dgm:prSet phldrT="[Text]"/>
      <dgm:spPr/>
      <dgm:t>
        <a:bodyPr/>
        <a:lstStyle/>
        <a:p>
          <a:r>
            <a:rPr lang="en-US" dirty="0"/>
            <a:t>Characteristic-based aggregate probability</a:t>
          </a:r>
        </a:p>
      </dgm:t>
    </dgm:pt>
    <dgm:pt modelId="{7588A6DE-8025-DB45-9044-AE50D1B0C15B}" type="parTrans" cxnId="{E7A5625A-1B5E-DF4B-A264-6FEE0FCD76A0}">
      <dgm:prSet/>
      <dgm:spPr/>
      <dgm:t>
        <a:bodyPr/>
        <a:lstStyle/>
        <a:p>
          <a:endParaRPr lang="en-US"/>
        </a:p>
      </dgm:t>
    </dgm:pt>
    <dgm:pt modelId="{BE7F245F-AE91-204A-85B7-59EC2017A334}" type="sibTrans" cxnId="{E7A5625A-1B5E-DF4B-A264-6FEE0FCD76A0}">
      <dgm:prSet/>
      <dgm:spPr/>
      <dgm:t>
        <a:bodyPr/>
        <a:lstStyle/>
        <a:p>
          <a:endParaRPr lang="en-US"/>
        </a:p>
      </dgm:t>
    </dgm:pt>
    <dgm:pt modelId="{4ED4A30D-B851-5A46-8C82-B601422F8C40}">
      <dgm:prSet phldrT="[Text]"/>
      <dgm:spPr/>
      <dgm:t>
        <a:bodyPr/>
        <a:lstStyle/>
        <a:p>
          <a:r>
            <a:rPr lang="en-US" dirty="0"/>
            <a:t>Household Level Data</a:t>
          </a:r>
        </a:p>
      </dgm:t>
    </dgm:pt>
    <dgm:pt modelId="{C6048FAD-E9F6-964C-9212-C59F7A57A731}" type="parTrans" cxnId="{807AEFD8-BF95-8640-826A-0876A2D73BDC}">
      <dgm:prSet/>
      <dgm:spPr/>
      <dgm:t>
        <a:bodyPr/>
        <a:lstStyle/>
        <a:p>
          <a:endParaRPr lang="en-US"/>
        </a:p>
      </dgm:t>
    </dgm:pt>
    <dgm:pt modelId="{668199BB-4497-0149-BD63-744BCE36D26C}" type="sibTrans" cxnId="{807AEFD8-BF95-8640-826A-0876A2D73BDC}">
      <dgm:prSet/>
      <dgm:spPr/>
      <dgm:t>
        <a:bodyPr/>
        <a:lstStyle/>
        <a:p>
          <a:endParaRPr lang="en-US"/>
        </a:p>
      </dgm:t>
    </dgm:pt>
    <dgm:pt modelId="{257A17A4-98B1-8C4F-94AB-6935F40690E9}">
      <dgm:prSet phldrT="[Text]"/>
      <dgm:spPr/>
      <dgm:t>
        <a:bodyPr/>
        <a:lstStyle/>
        <a:p>
          <a:r>
            <a:rPr lang="en-US" dirty="0"/>
            <a:t>Energy Efficiency Certificates (EPC datasets)</a:t>
          </a:r>
        </a:p>
      </dgm:t>
    </dgm:pt>
    <dgm:pt modelId="{866C1125-F1BB-E249-A28C-7449D28AA160}" type="parTrans" cxnId="{95FABC96-63AD-194A-BFBD-68973B58AB43}">
      <dgm:prSet/>
      <dgm:spPr/>
      <dgm:t>
        <a:bodyPr/>
        <a:lstStyle/>
        <a:p>
          <a:endParaRPr lang="en-US"/>
        </a:p>
      </dgm:t>
    </dgm:pt>
    <dgm:pt modelId="{94902658-9C33-924D-9553-DDE5A07A92E6}" type="sibTrans" cxnId="{95FABC96-63AD-194A-BFBD-68973B58AB43}">
      <dgm:prSet/>
      <dgm:spPr/>
      <dgm:t>
        <a:bodyPr/>
        <a:lstStyle/>
        <a:p>
          <a:endParaRPr lang="en-US"/>
        </a:p>
      </dgm:t>
    </dgm:pt>
    <dgm:pt modelId="{EAABCBE8-787B-5943-B18D-57A408EB75B6}">
      <dgm:prSet phldrT="[Text]"/>
      <dgm:spPr/>
      <dgm:t>
        <a:bodyPr/>
        <a:lstStyle/>
        <a:p>
          <a:r>
            <a:rPr lang="en-US" dirty="0"/>
            <a:t>Narrower Aggregate Level Data</a:t>
          </a:r>
        </a:p>
      </dgm:t>
    </dgm:pt>
    <dgm:pt modelId="{B1CCA019-1AC3-3749-B5CE-10F0A1F5F489}" type="parTrans" cxnId="{BD429406-8F69-B440-8A9A-200CAEC5030F}">
      <dgm:prSet/>
      <dgm:spPr/>
      <dgm:t>
        <a:bodyPr/>
        <a:lstStyle/>
        <a:p>
          <a:endParaRPr lang="en-US"/>
        </a:p>
      </dgm:t>
    </dgm:pt>
    <dgm:pt modelId="{9463F0F5-FE84-AA46-8C58-3202200A94F0}" type="sibTrans" cxnId="{BD429406-8F69-B440-8A9A-200CAEC5030F}">
      <dgm:prSet/>
      <dgm:spPr/>
      <dgm:t>
        <a:bodyPr/>
        <a:lstStyle/>
        <a:p>
          <a:endParaRPr lang="en-US"/>
        </a:p>
      </dgm:t>
    </dgm:pt>
    <dgm:pt modelId="{90DBC6BA-EC7A-7246-8256-CCDB1CAD0D0A}">
      <dgm:prSet phldrT="[Text]"/>
      <dgm:spPr/>
      <dgm:t>
        <a:bodyPr/>
        <a:lstStyle/>
        <a:p>
          <a:r>
            <a:rPr lang="en-US" dirty="0"/>
            <a:t>Weather</a:t>
          </a:r>
        </a:p>
      </dgm:t>
    </dgm:pt>
    <dgm:pt modelId="{98D464AF-4891-F34A-B6C1-A30961849BA1}" type="parTrans" cxnId="{CF9A5020-0F95-AA46-BC82-7216051B9C11}">
      <dgm:prSet/>
      <dgm:spPr/>
      <dgm:t>
        <a:bodyPr/>
        <a:lstStyle/>
        <a:p>
          <a:endParaRPr lang="en-US"/>
        </a:p>
      </dgm:t>
    </dgm:pt>
    <dgm:pt modelId="{DB8CD5CC-CFF4-244B-90FC-CF0C76D3F68E}" type="sibTrans" cxnId="{CF9A5020-0F95-AA46-BC82-7216051B9C11}">
      <dgm:prSet/>
      <dgm:spPr/>
      <dgm:t>
        <a:bodyPr/>
        <a:lstStyle/>
        <a:p>
          <a:endParaRPr lang="en-US"/>
        </a:p>
      </dgm:t>
    </dgm:pt>
    <dgm:pt modelId="{8D58197C-F5AB-104A-89C7-AB6E37A5C16F}">
      <dgm:prSet phldrT="[Text]"/>
      <dgm:spPr/>
      <dgm:t>
        <a:bodyPr/>
        <a:lstStyle/>
        <a:p>
          <a:r>
            <a:rPr lang="en-US" dirty="0"/>
            <a:t>Income Projections</a:t>
          </a:r>
        </a:p>
      </dgm:t>
    </dgm:pt>
    <dgm:pt modelId="{75A978F5-F6E2-8E40-B935-52B5393992D8}" type="parTrans" cxnId="{431155E7-7A8D-C44F-82F6-9782F46B37E1}">
      <dgm:prSet/>
      <dgm:spPr/>
      <dgm:t>
        <a:bodyPr/>
        <a:lstStyle/>
        <a:p>
          <a:endParaRPr lang="en-US"/>
        </a:p>
      </dgm:t>
    </dgm:pt>
    <dgm:pt modelId="{369256E2-B306-4E45-8128-747018367C3F}" type="sibTrans" cxnId="{431155E7-7A8D-C44F-82F6-9782F46B37E1}">
      <dgm:prSet/>
      <dgm:spPr/>
      <dgm:t>
        <a:bodyPr/>
        <a:lstStyle/>
        <a:p>
          <a:endParaRPr lang="en-US"/>
        </a:p>
      </dgm:t>
    </dgm:pt>
    <dgm:pt modelId="{3247CBD2-D0BF-C646-9F0D-D1322E9B3976}">
      <dgm:prSet phldrT="[Text]"/>
      <dgm:spPr/>
      <dgm:t>
        <a:bodyPr/>
        <a:lstStyle/>
        <a:p>
          <a:r>
            <a:rPr lang="en-US" dirty="0"/>
            <a:t>Energy Price and Consumptions</a:t>
          </a:r>
        </a:p>
      </dgm:t>
    </dgm:pt>
    <dgm:pt modelId="{AD23265E-F93B-7E45-A6DB-2A354AEEBD47}" type="parTrans" cxnId="{19EB6A85-AB9E-094F-8430-888E6188320C}">
      <dgm:prSet/>
      <dgm:spPr/>
      <dgm:t>
        <a:bodyPr/>
        <a:lstStyle/>
        <a:p>
          <a:endParaRPr lang="en-US"/>
        </a:p>
      </dgm:t>
    </dgm:pt>
    <dgm:pt modelId="{3AFA0D57-4FAC-1E47-BB25-91D6BC8FCCBE}" type="sibTrans" cxnId="{19EB6A85-AB9E-094F-8430-888E6188320C}">
      <dgm:prSet/>
      <dgm:spPr/>
      <dgm:t>
        <a:bodyPr/>
        <a:lstStyle/>
        <a:p>
          <a:endParaRPr lang="en-US"/>
        </a:p>
      </dgm:t>
    </dgm:pt>
    <dgm:pt modelId="{B651E265-97B6-3D42-BBDE-0B1327623C14}" type="pres">
      <dgm:prSet presAssocID="{154D9AEF-0B57-BE47-AE2F-4FEFBF2B50E2}" presName="Name0" presStyleCnt="0">
        <dgm:presLayoutVars>
          <dgm:dir/>
          <dgm:animLvl val="lvl"/>
          <dgm:resizeHandles val="exact"/>
        </dgm:presLayoutVars>
      </dgm:prSet>
      <dgm:spPr/>
    </dgm:pt>
    <dgm:pt modelId="{682159A3-8481-4747-8883-F084B3C4A2B0}" type="pres">
      <dgm:prSet presAssocID="{154D9AEF-0B57-BE47-AE2F-4FEFBF2B50E2}" presName="tSp" presStyleCnt="0"/>
      <dgm:spPr/>
    </dgm:pt>
    <dgm:pt modelId="{0C80DF38-37E2-F04C-83F4-A212F065F4B7}" type="pres">
      <dgm:prSet presAssocID="{154D9AEF-0B57-BE47-AE2F-4FEFBF2B50E2}" presName="bSp" presStyleCnt="0"/>
      <dgm:spPr/>
    </dgm:pt>
    <dgm:pt modelId="{72685C0C-043C-4C4D-A043-6A4EECC0416B}" type="pres">
      <dgm:prSet presAssocID="{154D9AEF-0B57-BE47-AE2F-4FEFBF2B50E2}" presName="process" presStyleCnt="0"/>
      <dgm:spPr/>
    </dgm:pt>
    <dgm:pt modelId="{2C040440-C3E4-514F-84DD-29D1BE2A16C7}" type="pres">
      <dgm:prSet presAssocID="{175AAB1E-9680-9E40-B4CA-438C0B30AC33}" presName="composite1" presStyleCnt="0"/>
      <dgm:spPr/>
    </dgm:pt>
    <dgm:pt modelId="{0EA0954C-54B9-1447-9378-E7C955B98135}" type="pres">
      <dgm:prSet presAssocID="{175AAB1E-9680-9E40-B4CA-438C0B30AC33}" presName="dummyNode1" presStyleLbl="node1" presStyleIdx="0" presStyleCnt="3"/>
      <dgm:spPr/>
    </dgm:pt>
    <dgm:pt modelId="{732D80AA-AA5A-0049-BF0C-B281A0C1EF4B}" type="pres">
      <dgm:prSet presAssocID="{175AAB1E-9680-9E40-B4CA-438C0B30AC33}" presName="childNode1" presStyleLbl="bgAcc1" presStyleIdx="0" presStyleCnt="3">
        <dgm:presLayoutVars>
          <dgm:bulletEnabled val="1"/>
        </dgm:presLayoutVars>
      </dgm:prSet>
      <dgm:spPr/>
    </dgm:pt>
    <dgm:pt modelId="{2504762B-924D-E445-9A5A-7170BEF3B65E}" type="pres">
      <dgm:prSet presAssocID="{175AAB1E-9680-9E40-B4CA-438C0B30AC33}" presName="childNode1tx" presStyleLbl="bgAcc1" presStyleIdx="0" presStyleCnt="3">
        <dgm:presLayoutVars>
          <dgm:bulletEnabled val="1"/>
        </dgm:presLayoutVars>
      </dgm:prSet>
      <dgm:spPr/>
    </dgm:pt>
    <dgm:pt modelId="{34DE495A-8BC2-C549-8FF8-7EF588430363}" type="pres">
      <dgm:prSet presAssocID="{175AAB1E-9680-9E40-B4CA-438C0B30AC33}" presName="parentNode1" presStyleLbl="node1" presStyleIdx="0" presStyleCnt="3">
        <dgm:presLayoutVars>
          <dgm:chMax val="1"/>
          <dgm:bulletEnabled val="1"/>
        </dgm:presLayoutVars>
      </dgm:prSet>
      <dgm:spPr/>
    </dgm:pt>
    <dgm:pt modelId="{051B7BC9-3A22-A94E-93D8-71537F1C0A62}" type="pres">
      <dgm:prSet presAssocID="{175AAB1E-9680-9E40-B4CA-438C0B30AC33}" presName="connSite1" presStyleCnt="0"/>
      <dgm:spPr/>
    </dgm:pt>
    <dgm:pt modelId="{D969E11A-B813-264D-9FD7-C3A4F4ACAE05}" type="pres">
      <dgm:prSet presAssocID="{50C5EA03-E4AB-F14F-A0BC-BDDB7F07BD61}" presName="Name9" presStyleLbl="sibTrans2D1" presStyleIdx="0" presStyleCnt="2"/>
      <dgm:spPr/>
    </dgm:pt>
    <dgm:pt modelId="{7ECB2A7D-4564-704A-81C1-A79EA09A80D8}" type="pres">
      <dgm:prSet presAssocID="{4ED4A30D-B851-5A46-8C82-B601422F8C40}" presName="composite2" presStyleCnt="0"/>
      <dgm:spPr/>
    </dgm:pt>
    <dgm:pt modelId="{D1891700-E386-7140-82FE-367FC590FEC6}" type="pres">
      <dgm:prSet presAssocID="{4ED4A30D-B851-5A46-8C82-B601422F8C40}" presName="dummyNode2" presStyleLbl="node1" presStyleIdx="0" presStyleCnt="3"/>
      <dgm:spPr/>
    </dgm:pt>
    <dgm:pt modelId="{09F28510-5106-1C4A-A149-4987D6C03976}" type="pres">
      <dgm:prSet presAssocID="{4ED4A30D-B851-5A46-8C82-B601422F8C40}" presName="childNode2" presStyleLbl="bgAcc1" presStyleIdx="1" presStyleCnt="3">
        <dgm:presLayoutVars>
          <dgm:bulletEnabled val="1"/>
        </dgm:presLayoutVars>
      </dgm:prSet>
      <dgm:spPr/>
    </dgm:pt>
    <dgm:pt modelId="{BBDF3C05-D397-934E-B494-EE015C17A8FE}" type="pres">
      <dgm:prSet presAssocID="{4ED4A30D-B851-5A46-8C82-B601422F8C40}" presName="childNode2tx" presStyleLbl="bgAcc1" presStyleIdx="1" presStyleCnt="3">
        <dgm:presLayoutVars>
          <dgm:bulletEnabled val="1"/>
        </dgm:presLayoutVars>
      </dgm:prSet>
      <dgm:spPr/>
    </dgm:pt>
    <dgm:pt modelId="{E4869577-6D6D-0D4E-A9ED-5F543D385A3A}" type="pres">
      <dgm:prSet presAssocID="{4ED4A30D-B851-5A46-8C82-B601422F8C40}" presName="parentNode2" presStyleLbl="node1" presStyleIdx="1" presStyleCnt="3">
        <dgm:presLayoutVars>
          <dgm:chMax val="0"/>
          <dgm:bulletEnabled val="1"/>
        </dgm:presLayoutVars>
      </dgm:prSet>
      <dgm:spPr/>
    </dgm:pt>
    <dgm:pt modelId="{68DE2B7D-2CA4-7F4C-931C-FEAE836E8E36}" type="pres">
      <dgm:prSet presAssocID="{4ED4A30D-B851-5A46-8C82-B601422F8C40}" presName="connSite2" presStyleCnt="0"/>
      <dgm:spPr/>
    </dgm:pt>
    <dgm:pt modelId="{47739DAD-955B-DC41-98A8-152AD3016D0C}" type="pres">
      <dgm:prSet presAssocID="{668199BB-4497-0149-BD63-744BCE36D26C}" presName="Name18" presStyleLbl="sibTrans2D1" presStyleIdx="1" presStyleCnt="2"/>
      <dgm:spPr/>
    </dgm:pt>
    <dgm:pt modelId="{092999EC-C80A-C845-AE47-91A5B8310BD4}" type="pres">
      <dgm:prSet presAssocID="{EAABCBE8-787B-5943-B18D-57A408EB75B6}" presName="composite1" presStyleCnt="0"/>
      <dgm:spPr/>
    </dgm:pt>
    <dgm:pt modelId="{FF0B0DEA-BD74-8D48-8075-2AC2C82A7B58}" type="pres">
      <dgm:prSet presAssocID="{EAABCBE8-787B-5943-B18D-57A408EB75B6}" presName="dummyNode1" presStyleLbl="node1" presStyleIdx="1" presStyleCnt="3"/>
      <dgm:spPr/>
    </dgm:pt>
    <dgm:pt modelId="{54FAB89B-8C28-3C49-984C-875B5A2339FB}" type="pres">
      <dgm:prSet presAssocID="{EAABCBE8-787B-5943-B18D-57A408EB75B6}" presName="childNode1" presStyleLbl="bgAcc1" presStyleIdx="2" presStyleCnt="3">
        <dgm:presLayoutVars>
          <dgm:bulletEnabled val="1"/>
        </dgm:presLayoutVars>
      </dgm:prSet>
      <dgm:spPr/>
    </dgm:pt>
    <dgm:pt modelId="{45623CD0-AD48-CA4D-9195-E9E9BD88D20E}" type="pres">
      <dgm:prSet presAssocID="{EAABCBE8-787B-5943-B18D-57A408EB75B6}" presName="childNode1tx" presStyleLbl="bgAcc1" presStyleIdx="2" presStyleCnt="3">
        <dgm:presLayoutVars>
          <dgm:bulletEnabled val="1"/>
        </dgm:presLayoutVars>
      </dgm:prSet>
      <dgm:spPr/>
    </dgm:pt>
    <dgm:pt modelId="{4796769F-6ACB-BD4D-B462-D9808329D495}" type="pres">
      <dgm:prSet presAssocID="{EAABCBE8-787B-5943-B18D-57A408EB75B6}" presName="parentNode1" presStyleLbl="node1" presStyleIdx="2" presStyleCnt="3">
        <dgm:presLayoutVars>
          <dgm:chMax val="1"/>
          <dgm:bulletEnabled val="1"/>
        </dgm:presLayoutVars>
      </dgm:prSet>
      <dgm:spPr/>
    </dgm:pt>
    <dgm:pt modelId="{4F42F38E-E7DB-7D43-98DF-196AEC3BD6CD}" type="pres">
      <dgm:prSet presAssocID="{EAABCBE8-787B-5943-B18D-57A408EB75B6}" presName="connSite1" presStyleCnt="0"/>
      <dgm:spPr/>
    </dgm:pt>
  </dgm:ptLst>
  <dgm:cxnLst>
    <dgm:cxn modelId="{BD429406-8F69-B440-8A9A-200CAEC5030F}" srcId="{154D9AEF-0B57-BE47-AE2F-4FEFBF2B50E2}" destId="{EAABCBE8-787B-5943-B18D-57A408EB75B6}" srcOrd="2" destOrd="0" parTransId="{B1CCA019-1AC3-3749-B5CE-10F0A1F5F489}" sibTransId="{9463F0F5-FE84-AA46-8C58-3202200A94F0}"/>
    <dgm:cxn modelId="{7658A609-A283-5041-A0CA-733F36325F45}" type="presOf" srcId="{2D17C9CD-677E-084F-92F4-D67D4B2DBD70}" destId="{2504762B-924D-E445-9A5A-7170BEF3B65E}" srcOrd="1" destOrd="1" presId="urn:microsoft.com/office/officeart/2005/8/layout/hProcess4"/>
    <dgm:cxn modelId="{7539F909-59EA-5041-B34C-94587789D0E3}" type="presOf" srcId="{3247CBD2-D0BF-C646-9F0D-D1322E9B3976}" destId="{54FAB89B-8C28-3C49-984C-875B5A2339FB}" srcOrd="0" destOrd="2" presId="urn:microsoft.com/office/officeart/2005/8/layout/hProcess4"/>
    <dgm:cxn modelId="{CF9A5020-0F95-AA46-BC82-7216051B9C11}" srcId="{EAABCBE8-787B-5943-B18D-57A408EB75B6}" destId="{90DBC6BA-EC7A-7246-8256-CCDB1CAD0D0A}" srcOrd="0" destOrd="0" parTransId="{98D464AF-4891-F34A-B6C1-A30961849BA1}" sibTransId="{DB8CD5CC-CFF4-244B-90FC-CF0C76D3F68E}"/>
    <dgm:cxn modelId="{9B37AD27-0D65-5B43-9302-C916F997A783}" type="presOf" srcId="{175AAB1E-9680-9E40-B4CA-438C0B30AC33}" destId="{34DE495A-8BC2-C549-8FF8-7EF588430363}" srcOrd="0" destOrd="0" presId="urn:microsoft.com/office/officeart/2005/8/layout/hProcess4"/>
    <dgm:cxn modelId="{D8683D33-F75C-E44A-B8A4-B70FF478F09A}" srcId="{154D9AEF-0B57-BE47-AE2F-4FEFBF2B50E2}" destId="{175AAB1E-9680-9E40-B4CA-438C0B30AC33}" srcOrd="0" destOrd="0" parTransId="{D262880B-BFA9-AB44-B2AB-02016ED12A76}" sibTransId="{50C5EA03-E4AB-F14F-A0BC-BDDB7F07BD61}"/>
    <dgm:cxn modelId="{53731740-D0AA-854C-8325-ABD48CC39E5E}" type="presOf" srcId="{8D58197C-F5AB-104A-89C7-AB6E37A5C16F}" destId="{54FAB89B-8C28-3C49-984C-875B5A2339FB}" srcOrd="0" destOrd="1" presId="urn:microsoft.com/office/officeart/2005/8/layout/hProcess4"/>
    <dgm:cxn modelId="{231C0F4D-F255-5B45-B9DF-47FCC7A1E5ED}" type="presOf" srcId="{668199BB-4497-0149-BD63-744BCE36D26C}" destId="{47739DAD-955B-DC41-98A8-152AD3016D0C}" srcOrd="0" destOrd="0" presId="urn:microsoft.com/office/officeart/2005/8/layout/hProcess4"/>
    <dgm:cxn modelId="{BCFD6F4D-A1D3-874C-A4E4-73B43C227637}" type="presOf" srcId="{173EEFE9-6C5A-0341-8E7B-5C94D8292142}" destId="{732D80AA-AA5A-0049-BF0C-B281A0C1EF4B}" srcOrd="0" destOrd="0" presId="urn:microsoft.com/office/officeart/2005/8/layout/hProcess4"/>
    <dgm:cxn modelId="{C4341F4F-F862-7D48-9E17-DC73B3584EEF}" type="presOf" srcId="{154D9AEF-0B57-BE47-AE2F-4FEFBF2B50E2}" destId="{B651E265-97B6-3D42-BBDE-0B1327623C14}" srcOrd="0" destOrd="0" presId="urn:microsoft.com/office/officeart/2005/8/layout/hProcess4"/>
    <dgm:cxn modelId="{99089A52-77EF-0F4B-AC50-A976DC697501}" type="presOf" srcId="{257A17A4-98B1-8C4F-94AB-6935F40690E9}" destId="{09F28510-5106-1C4A-A149-4987D6C03976}" srcOrd="0" destOrd="0" presId="urn:microsoft.com/office/officeart/2005/8/layout/hProcess4"/>
    <dgm:cxn modelId="{7B681455-B3CD-2C4F-B785-B843615D4D08}" srcId="{175AAB1E-9680-9E40-B4CA-438C0B30AC33}" destId="{173EEFE9-6C5A-0341-8E7B-5C94D8292142}" srcOrd="0" destOrd="0" parTransId="{043F9A71-F9BB-CF46-9714-C44C5D33DC2C}" sibTransId="{3CD0694A-C8AA-E34E-AC0B-A0F298765EF1}"/>
    <dgm:cxn modelId="{E7A5625A-1B5E-DF4B-A264-6FEE0FCD76A0}" srcId="{175AAB1E-9680-9E40-B4CA-438C0B30AC33}" destId="{2D17C9CD-677E-084F-92F4-D67D4B2DBD70}" srcOrd="1" destOrd="0" parTransId="{7588A6DE-8025-DB45-9044-AE50D1B0C15B}" sibTransId="{BE7F245F-AE91-204A-85B7-59EC2017A334}"/>
    <dgm:cxn modelId="{BD707A5F-C4DC-4D4D-B16D-5D4B4061FEDE}" type="presOf" srcId="{90DBC6BA-EC7A-7246-8256-CCDB1CAD0D0A}" destId="{54FAB89B-8C28-3C49-984C-875B5A2339FB}" srcOrd="0" destOrd="0" presId="urn:microsoft.com/office/officeart/2005/8/layout/hProcess4"/>
    <dgm:cxn modelId="{890FEB7A-6892-3E4C-A3A1-90CE71CB09D3}" type="presOf" srcId="{8D58197C-F5AB-104A-89C7-AB6E37A5C16F}" destId="{45623CD0-AD48-CA4D-9195-E9E9BD88D20E}" srcOrd="1" destOrd="1" presId="urn:microsoft.com/office/officeart/2005/8/layout/hProcess4"/>
    <dgm:cxn modelId="{19EB6A85-AB9E-094F-8430-888E6188320C}" srcId="{EAABCBE8-787B-5943-B18D-57A408EB75B6}" destId="{3247CBD2-D0BF-C646-9F0D-D1322E9B3976}" srcOrd="2" destOrd="0" parTransId="{AD23265E-F93B-7E45-A6DB-2A354AEEBD47}" sibTransId="{3AFA0D57-4FAC-1E47-BB25-91D6BC8FCCBE}"/>
    <dgm:cxn modelId="{6BD53B89-2834-9342-87BB-823423879285}" type="presOf" srcId="{50C5EA03-E4AB-F14F-A0BC-BDDB7F07BD61}" destId="{D969E11A-B813-264D-9FD7-C3A4F4ACAE05}" srcOrd="0" destOrd="0" presId="urn:microsoft.com/office/officeart/2005/8/layout/hProcess4"/>
    <dgm:cxn modelId="{195D3A8A-2CC0-A849-9C15-5DDBC0BEF579}" type="presOf" srcId="{3247CBD2-D0BF-C646-9F0D-D1322E9B3976}" destId="{45623CD0-AD48-CA4D-9195-E9E9BD88D20E}" srcOrd="1" destOrd="2" presId="urn:microsoft.com/office/officeart/2005/8/layout/hProcess4"/>
    <dgm:cxn modelId="{4DC98596-7C58-424A-9FEB-A1BF7E7E09EC}" type="presOf" srcId="{173EEFE9-6C5A-0341-8E7B-5C94D8292142}" destId="{2504762B-924D-E445-9A5A-7170BEF3B65E}" srcOrd="1" destOrd="0" presId="urn:microsoft.com/office/officeart/2005/8/layout/hProcess4"/>
    <dgm:cxn modelId="{95FABC96-63AD-194A-BFBD-68973B58AB43}" srcId="{4ED4A30D-B851-5A46-8C82-B601422F8C40}" destId="{257A17A4-98B1-8C4F-94AB-6935F40690E9}" srcOrd="0" destOrd="0" parTransId="{866C1125-F1BB-E249-A28C-7449D28AA160}" sibTransId="{94902658-9C33-924D-9553-DDE5A07A92E6}"/>
    <dgm:cxn modelId="{C4FEAB98-9011-C244-8DAB-DA7C5E76289D}" type="presOf" srcId="{EAABCBE8-787B-5943-B18D-57A408EB75B6}" destId="{4796769F-6ACB-BD4D-B462-D9808329D495}" srcOrd="0" destOrd="0" presId="urn:microsoft.com/office/officeart/2005/8/layout/hProcess4"/>
    <dgm:cxn modelId="{EA06EFBF-4742-1A41-87DA-6E1DF07586DE}" type="presOf" srcId="{4ED4A30D-B851-5A46-8C82-B601422F8C40}" destId="{E4869577-6D6D-0D4E-A9ED-5F543D385A3A}" srcOrd="0" destOrd="0" presId="urn:microsoft.com/office/officeart/2005/8/layout/hProcess4"/>
    <dgm:cxn modelId="{63A196C8-54D2-BC44-8DDE-49C1BE5A1106}" type="presOf" srcId="{90DBC6BA-EC7A-7246-8256-CCDB1CAD0D0A}" destId="{45623CD0-AD48-CA4D-9195-E9E9BD88D20E}" srcOrd="1" destOrd="0" presId="urn:microsoft.com/office/officeart/2005/8/layout/hProcess4"/>
    <dgm:cxn modelId="{807AEFD8-BF95-8640-826A-0876A2D73BDC}" srcId="{154D9AEF-0B57-BE47-AE2F-4FEFBF2B50E2}" destId="{4ED4A30D-B851-5A46-8C82-B601422F8C40}" srcOrd="1" destOrd="0" parTransId="{C6048FAD-E9F6-964C-9212-C59F7A57A731}" sibTransId="{668199BB-4497-0149-BD63-744BCE36D26C}"/>
    <dgm:cxn modelId="{975CDAE6-F1D3-5348-82EF-5A67579A0865}" type="presOf" srcId="{2D17C9CD-677E-084F-92F4-D67D4B2DBD70}" destId="{732D80AA-AA5A-0049-BF0C-B281A0C1EF4B}" srcOrd="0" destOrd="1" presId="urn:microsoft.com/office/officeart/2005/8/layout/hProcess4"/>
    <dgm:cxn modelId="{431155E7-7A8D-C44F-82F6-9782F46B37E1}" srcId="{EAABCBE8-787B-5943-B18D-57A408EB75B6}" destId="{8D58197C-F5AB-104A-89C7-AB6E37A5C16F}" srcOrd="1" destOrd="0" parTransId="{75A978F5-F6E2-8E40-B935-52B5393992D8}" sibTransId="{369256E2-B306-4E45-8128-747018367C3F}"/>
    <dgm:cxn modelId="{2CD76CE7-96BD-C644-9231-1080FE87E3FC}" type="presOf" srcId="{257A17A4-98B1-8C4F-94AB-6935F40690E9}" destId="{BBDF3C05-D397-934E-B494-EE015C17A8FE}" srcOrd="1" destOrd="0" presId="urn:microsoft.com/office/officeart/2005/8/layout/hProcess4"/>
    <dgm:cxn modelId="{F3823F11-0D02-1741-AAE0-D28E25CA9FDB}" type="presParOf" srcId="{B651E265-97B6-3D42-BBDE-0B1327623C14}" destId="{682159A3-8481-4747-8883-F084B3C4A2B0}" srcOrd="0" destOrd="0" presId="urn:microsoft.com/office/officeart/2005/8/layout/hProcess4"/>
    <dgm:cxn modelId="{16A7EFA4-4EB6-144D-8037-D1ADFB8BE423}" type="presParOf" srcId="{B651E265-97B6-3D42-BBDE-0B1327623C14}" destId="{0C80DF38-37E2-F04C-83F4-A212F065F4B7}" srcOrd="1" destOrd="0" presId="urn:microsoft.com/office/officeart/2005/8/layout/hProcess4"/>
    <dgm:cxn modelId="{9A45864A-2875-4D40-B2FF-30931E8AD395}" type="presParOf" srcId="{B651E265-97B6-3D42-BBDE-0B1327623C14}" destId="{72685C0C-043C-4C4D-A043-6A4EECC0416B}" srcOrd="2" destOrd="0" presId="urn:microsoft.com/office/officeart/2005/8/layout/hProcess4"/>
    <dgm:cxn modelId="{AA12BA26-F648-0144-9E57-1FF631998477}" type="presParOf" srcId="{72685C0C-043C-4C4D-A043-6A4EECC0416B}" destId="{2C040440-C3E4-514F-84DD-29D1BE2A16C7}" srcOrd="0" destOrd="0" presId="urn:microsoft.com/office/officeart/2005/8/layout/hProcess4"/>
    <dgm:cxn modelId="{4CD3E27F-E5D2-D546-A43E-2CE0AA2143A5}" type="presParOf" srcId="{2C040440-C3E4-514F-84DD-29D1BE2A16C7}" destId="{0EA0954C-54B9-1447-9378-E7C955B98135}" srcOrd="0" destOrd="0" presId="urn:microsoft.com/office/officeart/2005/8/layout/hProcess4"/>
    <dgm:cxn modelId="{856E603E-4C4C-0F49-8807-7C7D78D1AFF4}" type="presParOf" srcId="{2C040440-C3E4-514F-84DD-29D1BE2A16C7}" destId="{732D80AA-AA5A-0049-BF0C-B281A0C1EF4B}" srcOrd="1" destOrd="0" presId="urn:microsoft.com/office/officeart/2005/8/layout/hProcess4"/>
    <dgm:cxn modelId="{FE739D18-206E-9840-BE44-C292BA482DC5}" type="presParOf" srcId="{2C040440-C3E4-514F-84DD-29D1BE2A16C7}" destId="{2504762B-924D-E445-9A5A-7170BEF3B65E}" srcOrd="2" destOrd="0" presId="urn:microsoft.com/office/officeart/2005/8/layout/hProcess4"/>
    <dgm:cxn modelId="{80B540D0-2523-8649-AB8D-49A44AA3B00D}" type="presParOf" srcId="{2C040440-C3E4-514F-84DD-29D1BE2A16C7}" destId="{34DE495A-8BC2-C549-8FF8-7EF588430363}" srcOrd="3" destOrd="0" presId="urn:microsoft.com/office/officeart/2005/8/layout/hProcess4"/>
    <dgm:cxn modelId="{92CCBCE0-F4CE-8C4E-978D-3299DB2EE9C5}" type="presParOf" srcId="{2C040440-C3E4-514F-84DD-29D1BE2A16C7}" destId="{051B7BC9-3A22-A94E-93D8-71537F1C0A62}" srcOrd="4" destOrd="0" presId="urn:microsoft.com/office/officeart/2005/8/layout/hProcess4"/>
    <dgm:cxn modelId="{F4D84202-5D5D-6143-953D-468E99EA5C2E}" type="presParOf" srcId="{72685C0C-043C-4C4D-A043-6A4EECC0416B}" destId="{D969E11A-B813-264D-9FD7-C3A4F4ACAE05}" srcOrd="1" destOrd="0" presId="urn:microsoft.com/office/officeart/2005/8/layout/hProcess4"/>
    <dgm:cxn modelId="{66D0103F-84A8-8147-85FE-4922CD0DFBCC}" type="presParOf" srcId="{72685C0C-043C-4C4D-A043-6A4EECC0416B}" destId="{7ECB2A7D-4564-704A-81C1-A79EA09A80D8}" srcOrd="2" destOrd="0" presId="urn:microsoft.com/office/officeart/2005/8/layout/hProcess4"/>
    <dgm:cxn modelId="{F079C255-68E0-BA44-AB0E-7AA179F04A12}" type="presParOf" srcId="{7ECB2A7D-4564-704A-81C1-A79EA09A80D8}" destId="{D1891700-E386-7140-82FE-367FC590FEC6}" srcOrd="0" destOrd="0" presId="urn:microsoft.com/office/officeart/2005/8/layout/hProcess4"/>
    <dgm:cxn modelId="{5095D9D3-E740-0C4B-ABFB-BB0FBA063A79}" type="presParOf" srcId="{7ECB2A7D-4564-704A-81C1-A79EA09A80D8}" destId="{09F28510-5106-1C4A-A149-4987D6C03976}" srcOrd="1" destOrd="0" presId="urn:microsoft.com/office/officeart/2005/8/layout/hProcess4"/>
    <dgm:cxn modelId="{6C7B8EB4-B16F-144D-AFE3-DB122A9C5D9C}" type="presParOf" srcId="{7ECB2A7D-4564-704A-81C1-A79EA09A80D8}" destId="{BBDF3C05-D397-934E-B494-EE015C17A8FE}" srcOrd="2" destOrd="0" presId="urn:microsoft.com/office/officeart/2005/8/layout/hProcess4"/>
    <dgm:cxn modelId="{74FC83D5-C137-D741-8364-3B07A7285873}" type="presParOf" srcId="{7ECB2A7D-4564-704A-81C1-A79EA09A80D8}" destId="{E4869577-6D6D-0D4E-A9ED-5F543D385A3A}" srcOrd="3" destOrd="0" presId="urn:microsoft.com/office/officeart/2005/8/layout/hProcess4"/>
    <dgm:cxn modelId="{E50BE7EA-D656-3242-92F7-00E55523FF8B}" type="presParOf" srcId="{7ECB2A7D-4564-704A-81C1-A79EA09A80D8}" destId="{68DE2B7D-2CA4-7F4C-931C-FEAE836E8E36}" srcOrd="4" destOrd="0" presId="urn:microsoft.com/office/officeart/2005/8/layout/hProcess4"/>
    <dgm:cxn modelId="{AA4232A6-1F12-DF4D-9A67-7C36D2AB8D7E}" type="presParOf" srcId="{72685C0C-043C-4C4D-A043-6A4EECC0416B}" destId="{47739DAD-955B-DC41-98A8-152AD3016D0C}" srcOrd="3" destOrd="0" presId="urn:microsoft.com/office/officeart/2005/8/layout/hProcess4"/>
    <dgm:cxn modelId="{6955E988-E4ED-AE43-AFBC-693AF7D927BC}" type="presParOf" srcId="{72685C0C-043C-4C4D-A043-6A4EECC0416B}" destId="{092999EC-C80A-C845-AE47-91A5B8310BD4}" srcOrd="4" destOrd="0" presId="urn:microsoft.com/office/officeart/2005/8/layout/hProcess4"/>
    <dgm:cxn modelId="{7DE8CE80-350C-3244-89E9-8FD962463C76}" type="presParOf" srcId="{092999EC-C80A-C845-AE47-91A5B8310BD4}" destId="{FF0B0DEA-BD74-8D48-8075-2AC2C82A7B58}" srcOrd="0" destOrd="0" presId="urn:microsoft.com/office/officeart/2005/8/layout/hProcess4"/>
    <dgm:cxn modelId="{7DAAFAA1-2C37-834D-A691-81E504CDF83B}" type="presParOf" srcId="{092999EC-C80A-C845-AE47-91A5B8310BD4}" destId="{54FAB89B-8C28-3C49-984C-875B5A2339FB}" srcOrd="1" destOrd="0" presId="urn:microsoft.com/office/officeart/2005/8/layout/hProcess4"/>
    <dgm:cxn modelId="{69A5B0C7-EB24-ED4C-B460-8A208623581A}" type="presParOf" srcId="{092999EC-C80A-C845-AE47-91A5B8310BD4}" destId="{45623CD0-AD48-CA4D-9195-E9E9BD88D20E}" srcOrd="2" destOrd="0" presId="urn:microsoft.com/office/officeart/2005/8/layout/hProcess4"/>
    <dgm:cxn modelId="{5BF5092B-377B-B246-98FB-FF538E610851}" type="presParOf" srcId="{092999EC-C80A-C845-AE47-91A5B8310BD4}" destId="{4796769F-6ACB-BD4D-B462-D9808329D495}" srcOrd="3" destOrd="0" presId="urn:microsoft.com/office/officeart/2005/8/layout/hProcess4"/>
    <dgm:cxn modelId="{39F3992E-EF28-4248-9FA3-706596E96FF4}" type="presParOf" srcId="{092999EC-C80A-C845-AE47-91A5B8310BD4}" destId="{4F42F38E-E7DB-7D43-98DF-196AEC3BD6CD}"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6F07C7-FD3F-E245-A9B8-A1966ED74733}"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1C56905C-0506-3D48-B005-764E625AC015}">
      <dgm:prSet phldrT="[Text]" custT="1"/>
      <dgm:spPr/>
      <dgm:t>
        <a:bodyPr/>
        <a:lstStyle/>
        <a:p>
          <a:r>
            <a:rPr lang="en-US" sz="1100" dirty="0">
              <a:solidFill>
                <a:schemeClr val="tx1"/>
              </a:solidFill>
            </a:rPr>
            <a:t>EPC Data </a:t>
          </a:r>
          <a:r>
            <a:rPr lang="en-US" sz="1100" dirty="0"/>
            <a:t>(Household Level)</a:t>
          </a:r>
        </a:p>
      </dgm:t>
    </dgm:pt>
    <dgm:pt modelId="{6121B7B1-4076-DC44-82C2-790E3A856F1A}" type="parTrans" cxnId="{4A1038B1-603F-9948-88CC-6A99178A50F3}">
      <dgm:prSet/>
      <dgm:spPr/>
      <dgm:t>
        <a:bodyPr/>
        <a:lstStyle/>
        <a:p>
          <a:endParaRPr lang="en-US"/>
        </a:p>
      </dgm:t>
    </dgm:pt>
    <dgm:pt modelId="{F61E6FDA-1852-B842-9D7C-D5A164301A75}" type="sibTrans" cxnId="{4A1038B1-603F-9948-88CC-6A99178A50F3}">
      <dgm:prSet/>
      <dgm:spPr/>
      <dgm:t>
        <a:bodyPr/>
        <a:lstStyle/>
        <a:p>
          <a:endParaRPr lang="en-US"/>
        </a:p>
      </dgm:t>
    </dgm:pt>
    <dgm:pt modelId="{78A7E377-2757-AC42-9350-C997BDD3EDA6}">
      <dgm:prSet phldrT="[Text]" custT="1"/>
      <dgm:spPr/>
      <dgm:t>
        <a:bodyPr/>
        <a:lstStyle/>
        <a:p>
          <a:r>
            <a:rPr lang="en-US" sz="1200" dirty="0"/>
            <a:t> LMK Key</a:t>
          </a:r>
        </a:p>
      </dgm:t>
    </dgm:pt>
    <dgm:pt modelId="{0664952D-1888-2D43-9901-771981648822}" type="parTrans" cxnId="{3FB9255F-1CD7-6B40-866F-624EC77B8C29}">
      <dgm:prSet/>
      <dgm:spPr/>
      <dgm:t>
        <a:bodyPr/>
        <a:lstStyle/>
        <a:p>
          <a:endParaRPr lang="en-US"/>
        </a:p>
      </dgm:t>
    </dgm:pt>
    <dgm:pt modelId="{4CEAA1BB-825F-DE47-9BDC-B9C48B48A296}" type="sibTrans" cxnId="{3FB9255F-1CD7-6B40-866F-624EC77B8C29}">
      <dgm:prSet/>
      <dgm:spPr/>
      <dgm:t>
        <a:bodyPr/>
        <a:lstStyle/>
        <a:p>
          <a:endParaRPr lang="en-US"/>
        </a:p>
      </dgm:t>
    </dgm:pt>
    <dgm:pt modelId="{1233D35A-781F-3544-94F9-10EDEBFB69FD}">
      <dgm:prSet phldrT="[Text]" custT="1"/>
      <dgm:spPr/>
      <dgm:t>
        <a:bodyPr/>
        <a:lstStyle/>
        <a:p>
          <a:r>
            <a:rPr lang="en-US" sz="1100" b="1" dirty="0">
              <a:solidFill>
                <a:schemeClr val="tx1"/>
              </a:solidFill>
            </a:rPr>
            <a:t>Energy Prices and Payment Data </a:t>
          </a:r>
          <a:r>
            <a:rPr lang="en-US" sz="1100" dirty="0">
              <a:solidFill>
                <a:schemeClr val="tx1"/>
              </a:solidFill>
            </a:rPr>
            <a:t>(Derived using Local Average Pricing and Household Level Consumption from EPC)</a:t>
          </a:r>
        </a:p>
      </dgm:t>
    </dgm:pt>
    <dgm:pt modelId="{D020013B-DD4A-0F4D-BB11-2A761ABFCBEC}" type="parTrans" cxnId="{E0307869-9CD1-AF4D-B4EE-2E7F0C957A16}">
      <dgm:prSet/>
      <dgm:spPr/>
      <dgm:t>
        <a:bodyPr/>
        <a:lstStyle/>
        <a:p>
          <a:endParaRPr lang="en-US"/>
        </a:p>
      </dgm:t>
    </dgm:pt>
    <dgm:pt modelId="{A553D10B-6EF1-B949-A001-E96BB46AFFA5}" type="sibTrans" cxnId="{E0307869-9CD1-AF4D-B4EE-2E7F0C957A16}">
      <dgm:prSet/>
      <dgm:spPr/>
      <dgm:t>
        <a:bodyPr/>
        <a:lstStyle/>
        <a:p>
          <a:endParaRPr lang="en-US"/>
        </a:p>
      </dgm:t>
    </dgm:pt>
    <dgm:pt modelId="{CB93B9C2-5BEF-C645-AC43-25D186644F4E}">
      <dgm:prSet phldrT="[Text]" custT="1"/>
      <dgm:spPr/>
      <dgm:t>
        <a:bodyPr/>
        <a:lstStyle/>
        <a:p>
          <a:r>
            <a:rPr lang="en-US" sz="1200" dirty="0"/>
            <a:t>Electricity – Average Variable Price per kWh</a:t>
          </a:r>
        </a:p>
      </dgm:t>
    </dgm:pt>
    <dgm:pt modelId="{E86F618D-3599-764A-B934-D56099462BEC}" type="parTrans" cxnId="{4852B2F8-C4C0-0C46-B020-1FF9812E97B0}">
      <dgm:prSet/>
      <dgm:spPr/>
      <dgm:t>
        <a:bodyPr/>
        <a:lstStyle/>
        <a:p>
          <a:endParaRPr lang="en-US"/>
        </a:p>
      </dgm:t>
    </dgm:pt>
    <dgm:pt modelId="{EDE4BDD8-D46E-5F43-AAB4-AB1D910AB6DE}" type="sibTrans" cxnId="{4852B2F8-C4C0-0C46-B020-1FF9812E97B0}">
      <dgm:prSet/>
      <dgm:spPr/>
      <dgm:t>
        <a:bodyPr/>
        <a:lstStyle/>
        <a:p>
          <a:endParaRPr lang="en-US"/>
        </a:p>
      </dgm:t>
    </dgm:pt>
    <dgm:pt modelId="{0A77BB95-524E-A748-9753-4166038883D2}">
      <dgm:prSet phldrT="[Text]" custT="1"/>
      <dgm:spPr/>
      <dgm:t>
        <a:bodyPr/>
        <a:lstStyle/>
        <a:p>
          <a:r>
            <a:rPr lang="en-US" sz="1100" b="1" dirty="0">
              <a:solidFill>
                <a:schemeClr val="tx1"/>
              </a:solidFill>
            </a:rPr>
            <a:t>Income Data </a:t>
          </a:r>
          <a:r>
            <a:rPr lang="en-US" sz="1100" b="0" dirty="0">
              <a:solidFill>
                <a:schemeClr val="tx1"/>
              </a:solidFill>
            </a:rPr>
            <a:t>(Local Authority Level)</a:t>
          </a:r>
        </a:p>
      </dgm:t>
    </dgm:pt>
    <dgm:pt modelId="{552A65F4-D8D1-0A4B-8035-70A69611AAE7}" type="parTrans" cxnId="{90542B88-75EB-5E44-AE9D-CE908D7069CD}">
      <dgm:prSet/>
      <dgm:spPr/>
      <dgm:t>
        <a:bodyPr/>
        <a:lstStyle/>
        <a:p>
          <a:endParaRPr lang="en-US"/>
        </a:p>
      </dgm:t>
    </dgm:pt>
    <dgm:pt modelId="{46E3480A-1124-F243-96F5-3DCA1D85122C}" type="sibTrans" cxnId="{90542B88-75EB-5E44-AE9D-CE908D7069CD}">
      <dgm:prSet/>
      <dgm:spPr/>
      <dgm:t>
        <a:bodyPr/>
        <a:lstStyle/>
        <a:p>
          <a:endParaRPr lang="en-US"/>
        </a:p>
      </dgm:t>
    </dgm:pt>
    <dgm:pt modelId="{64169262-7F88-2349-A888-26EC0CE3A3A6}">
      <dgm:prSet phldrT="[Text]" custT="1"/>
      <dgm:spPr/>
      <dgm:t>
        <a:bodyPr/>
        <a:lstStyle/>
        <a:p>
          <a:r>
            <a:rPr lang="en-US" sz="1200" dirty="0"/>
            <a:t>Net Income 2024 (adjusted from 2020 data for local authority average)</a:t>
          </a:r>
        </a:p>
      </dgm:t>
    </dgm:pt>
    <dgm:pt modelId="{496A5795-B8B1-1549-B434-35133E0E9BF9}" type="parTrans" cxnId="{528CEEED-7A63-C840-AB3E-769EC6125CC4}">
      <dgm:prSet/>
      <dgm:spPr/>
      <dgm:t>
        <a:bodyPr/>
        <a:lstStyle/>
        <a:p>
          <a:endParaRPr lang="en-US"/>
        </a:p>
      </dgm:t>
    </dgm:pt>
    <dgm:pt modelId="{5423531D-EBB7-3746-A370-99A7218F44DB}" type="sibTrans" cxnId="{528CEEED-7A63-C840-AB3E-769EC6125CC4}">
      <dgm:prSet/>
      <dgm:spPr/>
      <dgm:t>
        <a:bodyPr/>
        <a:lstStyle/>
        <a:p>
          <a:endParaRPr lang="en-US"/>
        </a:p>
      </dgm:t>
    </dgm:pt>
    <dgm:pt modelId="{FFBBC131-88FA-9D44-860D-AB017B580213}">
      <dgm:prSet phldrT="[Text]" custT="1"/>
      <dgm:spPr/>
      <dgm:t>
        <a:bodyPr/>
        <a:lstStyle/>
        <a:p>
          <a:r>
            <a:rPr lang="en-US" sz="1200" dirty="0"/>
            <a:t>Net Income before housing costs</a:t>
          </a:r>
        </a:p>
      </dgm:t>
    </dgm:pt>
    <dgm:pt modelId="{41B291F2-C4D2-E743-BA8A-6D5B1F887D52}" type="parTrans" cxnId="{24457B54-C216-6149-B960-BDBAE20F0B15}">
      <dgm:prSet/>
      <dgm:spPr/>
      <dgm:t>
        <a:bodyPr/>
        <a:lstStyle/>
        <a:p>
          <a:endParaRPr lang="en-US"/>
        </a:p>
      </dgm:t>
    </dgm:pt>
    <dgm:pt modelId="{EC748382-95EF-7B4B-80D7-C60B0571E253}" type="sibTrans" cxnId="{24457B54-C216-6149-B960-BDBAE20F0B15}">
      <dgm:prSet/>
      <dgm:spPr/>
      <dgm:t>
        <a:bodyPr/>
        <a:lstStyle/>
        <a:p>
          <a:endParaRPr lang="en-US"/>
        </a:p>
      </dgm:t>
    </dgm:pt>
    <dgm:pt modelId="{9B39F302-74BE-BD4C-B4A8-4C8DA929C640}">
      <dgm:prSet phldrT="[Text]" custT="1"/>
      <dgm:spPr/>
      <dgm:t>
        <a:bodyPr/>
        <a:lstStyle/>
        <a:p>
          <a:r>
            <a:rPr lang="en-US" sz="1200" dirty="0"/>
            <a:t>Net Income after housing costs</a:t>
          </a:r>
        </a:p>
      </dgm:t>
    </dgm:pt>
    <dgm:pt modelId="{9657B4E5-232B-D14B-9C89-50D28977334C}" type="parTrans" cxnId="{9E152211-2E94-F04D-81D4-F75A173055A5}">
      <dgm:prSet/>
      <dgm:spPr/>
      <dgm:t>
        <a:bodyPr/>
        <a:lstStyle/>
        <a:p>
          <a:endParaRPr lang="en-US"/>
        </a:p>
      </dgm:t>
    </dgm:pt>
    <dgm:pt modelId="{27B61D27-393D-2041-8EBA-C9E247D69A15}" type="sibTrans" cxnId="{9E152211-2E94-F04D-81D4-F75A173055A5}">
      <dgm:prSet/>
      <dgm:spPr/>
      <dgm:t>
        <a:bodyPr/>
        <a:lstStyle/>
        <a:p>
          <a:endParaRPr lang="en-US"/>
        </a:p>
      </dgm:t>
    </dgm:pt>
    <dgm:pt modelId="{60FDE687-E4BB-9B48-A918-B0D5F782DC91}">
      <dgm:prSet phldrT="[Text]" custT="1"/>
      <dgm:spPr/>
      <dgm:t>
        <a:bodyPr/>
        <a:lstStyle/>
        <a:p>
          <a:r>
            <a:rPr lang="en-US" sz="1200" dirty="0"/>
            <a:t>Number of Low Income Households (Estimated based on 60% of national median income)</a:t>
          </a:r>
        </a:p>
      </dgm:t>
    </dgm:pt>
    <dgm:pt modelId="{EDFC0BDB-E504-6D42-AB50-89A212BE4991}" type="parTrans" cxnId="{499EE2BB-76C5-524F-AA84-0BA9B558FFE9}">
      <dgm:prSet/>
      <dgm:spPr/>
      <dgm:t>
        <a:bodyPr/>
        <a:lstStyle/>
        <a:p>
          <a:endParaRPr lang="en-US"/>
        </a:p>
      </dgm:t>
    </dgm:pt>
    <dgm:pt modelId="{4177FA47-F4EF-624E-8A84-95851DAA1480}" type="sibTrans" cxnId="{499EE2BB-76C5-524F-AA84-0BA9B558FFE9}">
      <dgm:prSet/>
      <dgm:spPr/>
      <dgm:t>
        <a:bodyPr/>
        <a:lstStyle/>
        <a:p>
          <a:endParaRPr lang="en-US"/>
        </a:p>
      </dgm:t>
    </dgm:pt>
    <dgm:pt modelId="{8E36FFCC-253E-314A-9890-7BF7809E7F92}">
      <dgm:prSet phldrT="[Text]" custT="1"/>
      <dgm:spPr/>
      <dgm:t>
        <a:bodyPr/>
        <a:lstStyle/>
        <a:p>
          <a:r>
            <a:rPr lang="en-US" sz="1200" dirty="0"/>
            <a:t>Temperature At Surface (Under different Global Warming Assumptions)</a:t>
          </a:r>
        </a:p>
      </dgm:t>
    </dgm:pt>
    <dgm:pt modelId="{7E7A7786-EE1F-EC4F-8029-0D23DCAC3EE4}" type="parTrans" cxnId="{3A9B6F39-DF25-AF44-A9DB-3DFD72565167}">
      <dgm:prSet/>
      <dgm:spPr/>
      <dgm:t>
        <a:bodyPr/>
        <a:lstStyle/>
        <a:p>
          <a:endParaRPr lang="en-US"/>
        </a:p>
      </dgm:t>
    </dgm:pt>
    <dgm:pt modelId="{9F7938F9-48AE-214A-9205-91206A3786FC}" type="sibTrans" cxnId="{3A9B6F39-DF25-AF44-A9DB-3DFD72565167}">
      <dgm:prSet/>
      <dgm:spPr/>
      <dgm:t>
        <a:bodyPr/>
        <a:lstStyle/>
        <a:p>
          <a:endParaRPr lang="en-US"/>
        </a:p>
      </dgm:t>
    </dgm:pt>
    <dgm:pt modelId="{56B72C74-E4A0-A148-9551-CEEAD8C2B48C}">
      <dgm:prSet phldrT="[Text]" custT="1"/>
      <dgm:spPr/>
      <dgm:t>
        <a:bodyPr/>
        <a:lstStyle/>
        <a:p>
          <a:r>
            <a:rPr lang="en-US" sz="1200" dirty="0"/>
            <a:t>Percentage of Low-Income Households</a:t>
          </a:r>
        </a:p>
      </dgm:t>
    </dgm:pt>
    <dgm:pt modelId="{DD762059-11B1-B749-B47B-31D04518F273}" type="parTrans" cxnId="{901EBF61-BD64-4945-9825-326B88A27522}">
      <dgm:prSet/>
      <dgm:spPr/>
      <dgm:t>
        <a:bodyPr/>
        <a:lstStyle/>
        <a:p>
          <a:endParaRPr lang="en-US"/>
        </a:p>
      </dgm:t>
    </dgm:pt>
    <dgm:pt modelId="{8B20CD16-F397-7E40-968E-403F257AA01C}" type="sibTrans" cxnId="{901EBF61-BD64-4945-9825-326B88A27522}">
      <dgm:prSet/>
      <dgm:spPr/>
      <dgm:t>
        <a:bodyPr/>
        <a:lstStyle/>
        <a:p>
          <a:endParaRPr lang="en-US"/>
        </a:p>
      </dgm:t>
    </dgm:pt>
    <dgm:pt modelId="{94A7A8FC-9D63-0245-8C29-E56F402AA7F7}">
      <dgm:prSet phldrT="[Text]" custT="1"/>
      <dgm:spPr/>
      <dgm:t>
        <a:bodyPr/>
        <a:lstStyle/>
        <a:p>
          <a:r>
            <a:rPr lang="en-US" sz="1200" dirty="0"/>
            <a:t>Unemployment Rate in Local Authority</a:t>
          </a:r>
        </a:p>
      </dgm:t>
    </dgm:pt>
    <dgm:pt modelId="{AB4FAA12-EECA-3548-9B3C-81FFCD7D9646}" type="parTrans" cxnId="{9646260D-6F64-A942-A4FD-12E20A593664}">
      <dgm:prSet/>
      <dgm:spPr/>
      <dgm:t>
        <a:bodyPr/>
        <a:lstStyle/>
        <a:p>
          <a:endParaRPr lang="en-US"/>
        </a:p>
      </dgm:t>
    </dgm:pt>
    <dgm:pt modelId="{8F980CFC-7502-EF46-B293-D4E8EBEACC1F}" type="sibTrans" cxnId="{9646260D-6F64-A942-A4FD-12E20A593664}">
      <dgm:prSet/>
      <dgm:spPr/>
      <dgm:t>
        <a:bodyPr/>
        <a:lstStyle/>
        <a:p>
          <a:endParaRPr lang="en-US"/>
        </a:p>
      </dgm:t>
    </dgm:pt>
    <dgm:pt modelId="{9ECB8A29-3A77-4E4A-BCD7-7169EBFAA47F}">
      <dgm:prSet phldrT="[Text]" custT="1"/>
      <dgm:spPr/>
      <dgm:t>
        <a:bodyPr/>
        <a:lstStyle/>
        <a:p>
          <a:r>
            <a:rPr lang="en-US" sz="1200" dirty="0"/>
            <a:t>Higher Degree Days</a:t>
          </a:r>
        </a:p>
      </dgm:t>
    </dgm:pt>
    <dgm:pt modelId="{384D18C5-A276-EC47-A835-68E8E56B59E5}" type="parTrans" cxnId="{8A57F934-E778-9B45-B4D5-0705022BECF6}">
      <dgm:prSet/>
      <dgm:spPr/>
      <dgm:t>
        <a:bodyPr/>
        <a:lstStyle/>
        <a:p>
          <a:endParaRPr lang="en-US"/>
        </a:p>
      </dgm:t>
    </dgm:pt>
    <dgm:pt modelId="{9BE1E97C-183B-8A44-BCA3-FF76E1886A74}" type="sibTrans" cxnId="{8A57F934-E778-9B45-B4D5-0705022BECF6}">
      <dgm:prSet/>
      <dgm:spPr/>
      <dgm:t>
        <a:bodyPr/>
        <a:lstStyle/>
        <a:p>
          <a:endParaRPr lang="en-US"/>
        </a:p>
      </dgm:t>
    </dgm:pt>
    <dgm:pt modelId="{FF3A0E0C-0083-3642-9630-EF9C9C84D545}">
      <dgm:prSet phldrT="[Text]" custT="1"/>
      <dgm:spPr/>
      <dgm:t>
        <a:bodyPr/>
        <a:lstStyle/>
        <a:p>
          <a:r>
            <a:rPr lang="en-US" sz="1100" b="1" dirty="0">
              <a:solidFill>
                <a:schemeClr val="tx1"/>
              </a:solidFill>
            </a:rPr>
            <a:t>Weather Data </a:t>
          </a:r>
          <a:r>
            <a:rPr lang="en-US" sz="1100" dirty="0">
              <a:solidFill>
                <a:schemeClr val="tx1"/>
              </a:solidFill>
            </a:rPr>
            <a:t>(Local Authority Level)</a:t>
          </a:r>
        </a:p>
      </dgm:t>
    </dgm:pt>
    <dgm:pt modelId="{4C42AE37-1436-4D41-AA1B-6FA539EABC0B}" type="parTrans" cxnId="{2B0D42AE-E96E-0F47-B825-3AFE935938B2}">
      <dgm:prSet/>
      <dgm:spPr/>
      <dgm:t>
        <a:bodyPr/>
        <a:lstStyle/>
        <a:p>
          <a:endParaRPr lang="en-US"/>
        </a:p>
      </dgm:t>
    </dgm:pt>
    <dgm:pt modelId="{EE178211-62ED-874C-8832-1A1DE1C79B2C}" type="sibTrans" cxnId="{2B0D42AE-E96E-0F47-B825-3AFE935938B2}">
      <dgm:prSet/>
      <dgm:spPr/>
      <dgm:t>
        <a:bodyPr/>
        <a:lstStyle/>
        <a:p>
          <a:endParaRPr lang="en-US"/>
        </a:p>
      </dgm:t>
    </dgm:pt>
    <dgm:pt modelId="{6F786B04-0FFA-FD4A-AE92-00B70C497D1F}">
      <dgm:prSet phldrT="[Text]" custT="1"/>
      <dgm:spPr/>
      <dgm:t>
        <a:bodyPr/>
        <a:lstStyle/>
        <a:p>
          <a:r>
            <a:rPr lang="en-US" sz="1200" dirty="0"/>
            <a:t>Urban/Rural Classification</a:t>
          </a:r>
        </a:p>
      </dgm:t>
    </dgm:pt>
    <dgm:pt modelId="{CB0122CB-6A22-D94A-AEA3-F52C726F67D5}" type="parTrans" cxnId="{9729C006-318C-AA41-9D9C-0830269313CE}">
      <dgm:prSet/>
      <dgm:spPr/>
      <dgm:t>
        <a:bodyPr/>
        <a:lstStyle/>
        <a:p>
          <a:endParaRPr lang="en-US"/>
        </a:p>
      </dgm:t>
    </dgm:pt>
    <dgm:pt modelId="{43AC5F43-B781-AE47-86A5-D1B2A1757262}" type="sibTrans" cxnId="{9729C006-318C-AA41-9D9C-0830269313CE}">
      <dgm:prSet/>
      <dgm:spPr/>
      <dgm:t>
        <a:bodyPr/>
        <a:lstStyle/>
        <a:p>
          <a:endParaRPr lang="en-US"/>
        </a:p>
      </dgm:t>
    </dgm:pt>
    <dgm:pt modelId="{F063D3ED-6185-1447-AF11-7655EFC650F0}">
      <dgm:prSet phldrT="[Text]" custT="1"/>
      <dgm:spPr/>
      <dgm:t>
        <a:bodyPr/>
        <a:lstStyle/>
        <a:p>
          <a:r>
            <a:rPr lang="en-US" sz="1200" dirty="0"/>
            <a:t>Minimum Temperature</a:t>
          </a:r>
        </a:p>
      </dgm:t>
    </dgm:pt>
    <dgm:pt modelId="{B2C23BCB-293C-9C41-9F45-2D6A8B98DB2B}" type="parTrans" cxnId="{E01F16A0-C700-6041-A232-82FA923C5AE1}">
      <dgm:prSet/>
      <dgm:spPr/>
      <dgm:t>
        <a:bodyPr/>
        <a:lstStyle/>
        <a:p>
          <a:endParaRPr lang="en-US"/>
        </a:p>
      </dgm:t>
    </dgm:pt>
    <dgm:pt modelId="{43BEC718-8C4B-FB48-9D24-C53BC8821DFB}" type="sibTrans" cxnId="{E01F16A0-C700-6041-A232-82FA923C5AE1}">
      <dgm:prSet/>
      <dgm:spPr/>
      <dgm:t>
        <a:bodyPr/>
        <a:lstStyle/>
        <a:p>
          <a:endParaRPr lang="en-US"/>
        </a:p>
      </dgm:t>
    </dgm:pt>
    <dgm:pt modelId="{702A8E9E-6B6C-BC48-A2B2-ED2E27DE0D42}">
      <dgm:prSet phldrT="[Text]" custT="1"/>
      <dgm:spPr/>
      <dgm:t>
        <a:bodyPr/>
        <a:lstStyle/>
        <a:p>
          <a:r>
            <a:rPr lang="en-US" sz="1100" b="1" dirty="0">
              <a:solidFill>
                <a:schemeClr val="tx1"/>
              </a:solidFill>
            </a:rPr>
            <a:t>Population Data </a:t>
          </a:r>
          <a:r>
            <a:rPr lang="en-US" sz="1100" dirty="0">
              <a:solidFill>
                <a:schemeClr val="tx1"/>
              </a:solidFill>
            </a:rPr>
            <a:t>(Local Authority Level)</a:t>
          </a:r>
        </a:p>
      </dgm:t>
    </dgm:pt>
    <dgm:pt modelId="{E725FBDD-16CE-8F48-91F9-4764FAE070E8}" type="parTrans" cxnId="{0C860E1A-7E07-8446-AA96-2A366CA5FF21}">
      <dgm:prSet/>
      <dgm:spPr/>
      <dgm:t>
        <a:bodyPr/>
        <a:lstStyle/>
        <a:p>
          <a:endParaRPr lang="en-US"/>
        </a:p>
      </dgm:t>
    </dgm:pt>
    <dgm:pt modelId="{0F9A5D76-93E4-BE40-B2B1-3DACFDC559E0}" type="sibTrans" cxnId="{0C860E1A-7E07-8446-AA96-2A366CA5FF21}">
      <dgm:prSet/>
      <dgm:spPr/>
      <dgm:t>
        <a:bodyPr/>
        <a:lstStyle/>
        <a:p>
          <a:endParaRPr lang="en-US"/>
        </a:p>
      </dgm:t>
    </dgm:pt>
    <dgm:pt modelId="{E8823471-1A23-8443-8726-7A920993CF3B}">
      <dgm:prSet phldrT="[Text]" custT="1"/>
      <dgm:spPr/>
      <dgm:t>
        <a:bodyPr/>
        <a:lstStyle/>
        <a:p>
          <a:r>
            <a:rPr lang="en-US" sz="1200" dirty="0"/>
            <a:t>Senior Population </a:t>
          </a:r>
        </a:p>
      </dgm:t>
    </dgm:pt>
    <dgm:pt modelId="{448860D7-4DA4-CD4A-B2B0-5AA4D0BBF16B}" type="parTrans" cxnId="{20058F27-3614-9F4C-9E2A-40696F3B82CE}">
      <dgm:prSet/>
      <dgm:spPr/>
      <dgm:t>
        <a:bodyPr/>
        <a:lstStyle/>
        <a:p>
          <a:endParaRPr lang="en-US"/>
        </a:p>
      </dgm:t>
    </dgm:pt>
    <dgm:pt modelId="{0DB890A6-087D-A248-8000-DD78AA322C76}" type="sibTrans" cxnId="{20058F27-3614-9F4C-9E2A-40696F3B82CE}">
      <dgm:prSet/>
      <dgm:spPr/>
      <dgm:t>
        <a:bodyPr/>
        <a:lstStyle/>
        <a:p>
          <a:endParaRPr lang="en-US"/>
        </a:p>
      </dgm:t>
    </dgm:pt>
    <dgm:pt modelId="{0F6C5B97-B5AE-EA40-8C21-640BBD594031}">
      <dgm:prSet phldrT="[Text]" custT="1"/>
      <dgm:spPr/>
      <dgm:t>
        <a:bodyPr/>
        <a:lstStyle/>
        <a:p>
          <a:r>
            <a:rPr lang="en-US" sz="1200" dirty="0"/>
            <a:t>Child Population</a:t>
          </a:r>
        </a:p>
      </dgm:t>
    </dgm:pt>
    <dgm:pt modelId="{7FC85966-30C9-2247-A455-E26F842A7129}" type="parTrans" cxnId="{17A045CD-9C77-A540-B91C-CE2C664E5BC4}">
      <dgm:prSet/>
      <dgm:spPr/>
      <dgm:t>
        <a:bodyPr/>
        <a:lstStyle/>
        <a:p>
          <a:endParaRPr lang="en-US"/>
        </a:p>
      </dgm:t>
    </dgm:pt>
    <dgm:pt modelId="{B631C6C6-8E15-E647-865D-325136895A88}" type="sibTrans" cxnId="{17A045CD-9C77-A540-B91C-CE2C664E5BC4}">
      <dgm:prSet/>
      <dgm:spPr/>
      <dgm:t>
        <a:bodyPr/>
        <a:lstStyle/>
        <a:p>
          <a:endParaRPr lang="en-US"/>
        </a:p>
      </dgm:t>
    </dgm:pt>
    <dgm:pt modelId="{721F1FE8-4DF0-3442-A391-C840A06767F9}">
      <dgm:prSet phldrT="[Text]" custT="1"/>
      <dgm:spPr/>
      <dgm:t>
        <a:bodyPr/>
        <a:lstStyle/>
        <a:p>
          <a:r>
            <a:rPr lang="en-US" sz="1200" dirty="0"/>
            <a:t>Working Age Population</a:t>
          </a:r>
        </a:p>
      </dgm:t>
    </dgm:pt>
    <dgm:pt modelId="{81995DC1-1EE1-1A4A-8563-0E7A077F8FEB}" type="parTrans" cxnId="{BAA3FE54-28A6-8647-92FA-19EE4A688FBC}">
      <dgm:prSet/>
      <dgm:spPr/>
      <dgm:t>
        <a:bodyPr/>
        <a:lstStyle/>
        <a:p>
          <a:endParaRPr lang="en-US"/>
        </a:p>
      </dgm:t>
    </dgm:pt>
    <dgm:pt modelId="{3BFDC8A0-160F-2C49-8FCE-1D8316C66289}" type="sibTrans" cxnId="{BAA3FE54-28A6-8647-92FA-19EE4A688FBC}">
      <dgm:prSet/>
      <dgm:spPr/>
      <dgm:t>
        <a:bodyPr/>
        <a:lstStyle/>
        <a:p>
          <a:endParaRPr lang="en-US"/>
        </a:p>
      </dgm:t>
    </dgm:pt>
    <dgm:pt modelId="{86909EB5-E2A4-9140-A8F3-89A813005B8D}">
      <dgm:prSet phldrT="[Text]" custT="1"/>
      <dgm:spPr/>
      <dgm:t>
        <a:bodyPr/>
        <a:lstStyle/>
        <a:p>
          <a:r>
            <a:rPr lang="en-US" sz="1200" dirty="0"/>
            <a:t>Age Dependency Ratio</a:t>
          </a:r>
        </a:p>
      </dgm:t>
    </dgm:pt>
    <dgm:pt modelId="{ECD80D7D-3F75-C941-9680-E9F03AF215EB}" type="parTrans" cxnId="{7A4294C5-AC07-1D4B-91A2-C6036D2C2F9A}">
      <dgm:prSet/>
      <dgm:spPr/>
      <dgm:t>
        <a:bodyPr/>
        <a:lstStyle/>
        <a:p>
          <a:endParaRPr lang="en-US"/>
        </a:p>
      </dgm:t>
    </dgm:pt>
    <dgm:pt modelId="{6D078E63-9998-FA4A-ADEA-CCE6F731AFFC}" type="sibTrans" cxnId="{7A4294C5-AC07-1D4B-91A2-C6036D2C2F9A}">
      <dgm:prSet/>
      <dgm:spPr/>
      <dgm:t>
        <a:bodyPr/>
        <a:lstStyle/>
        <a:p>
          <a:endParaRPr lang="en-US"/>
        </a:p>
      </dgm:t>
    </dgm:pt>
    <dgm:pt modelId="{FC9BCF0C-090B-FC40-ABE7-83E4F8B9D8EB}">
      <dgm:prSet phldrT="[Text]" custT="1"/>
      <dgm:spPr/>
      <dgm:t>
        <a:bodyPr/>
        <a:lstStyle/>
        <a:p>
          <a:r>
            <a:rPr lang="en-US" sz="1200" dirty="0"/>
            <a:t>Average Household Size</a:t>
          </a:r>
        </a:p>
      </dgm:t>
    </dgm:pt>
    <dgm:pt modelId="{37A20E0D-08CE-C140-9A12-AC6DAB63871E}" type="parTrans" cxnId="{B286B290-4DD9-6347-887E-9F7CFDC65BE0}">
      <dgm:prSet/>
      <dgm:spPr/>
      <dgm:t>
        <a:bodyPr/>
        <a:lstStyle/>
        <a:p>
          <a:endParaRPr lang="en-US"/>
        </a:p>
      </dgm:t>
    </dgm:pt>
    <dgm:pt modelId="{5C3E6204-2858-DB49-809F-377331E1C099}" type="sibTrans" cxnId="{B286B290-4DD9-6347-887E-9F7CFDC65BE0}">
      <dgm:prSet/>
      <dgm:spPr/>
      <dgm:t>
        <a:bodyPr/>
        <a:lstStyle/>
        <a:p>
          <a:endParaRPr lang="en-US"/>
        </a:p>
      </dgm:t>
    </dgm:pt>
    <dgm:pt modelId="{8709BA89-A992-464D-8F14-E7D5EB36C6CB}">
      <dgm:prSet custT="1"/>
      <dgm:spPr/>
      <dgm:t>
        <a:bodyPr/>
        <a:lstStyle/>
        <a:p>
          <a:pPr>
            <a:buFont typeface="Arial" panose="020B0604020202020204" pitchFamily="34" charset="0"/>
            <a:buChar char="•"/>
          </a:pPr>
          <a:r>
            <a:rPr lang="en-US" sz="1200" dirty="0"/>
            <a:t>Current Energy Rating</a:t>
          </a:r>
        </a:p>
      </dgm:t>
    </dgm:pt>
    <dgm:pt modelId="{0AE7E9A8-C20C-274C-BBC9-5E46580DFF0F}" type="parTrans" cxnId="{463DE894-B6E2-D54E-935F-D306E4357808}">
      <dgm:prSet/>
      <dgm:spPr/>
      <dgm:t>
        <a:bodyPr/>
        <a:lstStyle/>
        <a:p>
          <a:endParaRPr lang="en-US"/>
        </a:p>
      </dgm:t>
    </dgm:pt>
    <dgm:pt modelId="{2A2CC2D5-8F8D-1C42-9079-E35F361F10AE}" type="sibTrans" cxnId="{463DE894-B6E2-D54E-935F-D306E4357808}">
      <dgm:prSet/>
      <dgm:spPr/>
      <dgm:t>
        <a:bodyPr/>
        <a:lstStyle/>
        <a:p>
          <a:endParaRPr lang="en-US"/>
        </a:p>
      </dgm:t>
    </dgm:pt>
    <dgm:pt modelId="{0433023E-7828-9D48-B430-695986A09A45}">
      <dgm:prSet custT="1"/>
      <dgm:spPr/>
      <dgm:t>
        <a:bodyPr/>
        <a:lstStyle/>
        <a:p>
          <a:pPr>
            <a:buFont typeface="Arial" panose="020B0604020202020204" pitchFamily="34" charset="0"/>
            <a:buChar char="•"/>
          </a:pPr>
          <a:r>
            <a:rPr lang="en-US" sz="1200" dirty="0"/>
            <a:t>Current Energy Efficiency</a:t>
          </a:r>
        </a:p>
      </dgm:t>
    </dgm:pt>
    <dgm:pt modelId="{F7433172-19D5-CA43-9440-DF2581A20A88}" type="parTrans" cxnId="{71D95196-644B-A143-9D26-60D3DDFD42C7}">
      <dgm:prSet/>
      <dgm:spPr/>
      <dgm:t>
        <a:bodyPr/>
        <a:lstStyle/>
        <a:p>
          <a:endParaRPr lang="en-US"/>
        </a:p>
      </dgm:t>
    </dgm:pt>
    <dgm:pt modelId="{05B688C4-FF0D-1047-9D6D-3184C8877645}" type="sibTrans" cxnId="{71D95196-644B-A143-9D26-60D3DDFD42C7}">
      <dgm:prSet/>
      <dgm:spPr/>
      <dgm:t>
        <a:bodyPr/>
        <a:lstStyle/>
        <a:p>
          <a:endParaRPr lang="en-US"/>
        </a:p>
      </dgm:t>
    </dgm:pt>
    <dgm:pt modelId="{B7DDF51A-2839-BA4D-806B-552A56D7A61B}">
      <dgm:prSet custT="1"/>
      <dgm:spPr/>
      <dgm:t>
        <a:bodyPr/>
        <a:lstStyle/>
        <a:p>
          <a:pPr>
            <a:buFont typeface="Arial" panose="020B0604020202020204" pitchFamily="34" charset="0"/>
            <a:buChar char="•"/>
          </a:pPr>
          <a:r>
            <a:rPr lang="en-US" sz="1200" dirty="0"/>
            <a:t>Energy Consumption (Current)</a:t>
          </a:r>
        </a:p>
      </dgm:t>
    </dgm:pt>
    <dgm:pt modelId="{EA3CA476-951C-8447-96C8-4A983200D472}" type="parTrans" cxnId="{FDE0758D-0F0A-1F4F-857D-AF9D12AB91A2}">
      <dgm:prSet/>
      <dgm:spPr/>
      <dgm:t>
        <a:bodyPr/>
        <a:lstStyle/>
        <a:p>
          <a:endParaRPr lang="en-US"/>
        </a:p>
      </dgm:t>
    </dgm:pt>
    <dgm:pt modelId="{010BB29A-1BAD-3340-9FA0-4353650B5140}" type="sibTrans" cxnId="{FDE0758D-0F0A-1F4F-857D-AF9D12AB91A2}">
      <dgm:prSet/>
      <dgm:spPr/>
      <dgm:t>
        <a:bodyPr/>
        <a:lstStyle/>
        <a:p>
          <a:endParaRPr lang="en-US"/>
        </a:p>
      </dgm:t>
    </dgm:pt>
    <dgm:pt modelId="{7CB7B6D2-903F-D14B-9873-01C053190254}">
      <dgm:prSet custT="1"/>
      <dgm:spPr/>
      <dgm:t>
        <a:bodyPr/>
        <a:lstStyle/>
        <a:p>
          <a:pPr>
            <a:buFont typeface="Arial" panose="020B0604020202020204" pitchFamily="34" charset="0"/>
            <a:buChar char="•"/>
          </a:pPr>
          <a:r>
            <a:rPr lang="en-US" sz="1200" dirty="0"/>
            <a:t>CO₂ Emissions (Current)</a:t>
          </a:r>
        </a:p>
      </dgm:t>
    </dgm:pt>
    <dgm:pt modelId="{F79B6ED0-995D-BA42-8E72-644246ABCC4F}" type="parTrans" cxnId="{4BF857F2-4343-4B4B-BE4E-C46D0026F8E7}">
      <dgm:prSet/>
      <dgm:spPr/>
      <dgm:t>
        <a:bodyPr/>
        <a:lstStyle/>
        <a:p>
          <a:endParaRPr lang="en-US"/>
        </a:p>
      </dgm:t>
    </dgm:pt>
    <dgm:pt modelId="{F3ABE147-6BC6-BC43-8945-AECE1E1ED345}" type="sibTrans" cxnId="{4BF857F2-4343-4B4B-BE4E-C46D0026F8E7}">
      <dgm:prSet/>
      <dgm:spPr/>
      <dgm:t>
        <a:bodyPr/>
        <a:lstStyle/>
        <a:p>
          <a:endParaRPr lang="en-US"/>
        </a:p>
      </dgm:t>
    </dgm:pt>
    <dgm:pt modelId="{D720F601-DA9E-DD4D-B1E2-0D014FD17539}">
      <dgm:prSet custT="1"/>
      <dgm:spPr/>
      <dgm:t>
        <a:bodyPr/>
        <a:lstStyle/>
        <a:p>
          <a:pPr>
            <a:buFont typeface="Arial" panose="020B0604020202020204" pitchFamily="34" charset="0"/>
            <a:buChar char="•"/>
          </a:pPr>
          <a:r>
            <a:rPr lang="en-US" sz="1200" dirty="0"/>
            <a:t>Roof Energy Efficiency</a:t>
          </a:r>
        </a:p>
      </dgm:t>
    </dgm:pt>
    <dgm:pt modelId="{5D930C9C-0EF6-C142-BFCC-61A426C70DCA}" type="parTrans" cxnId="{4135BD73-504E-8549-B0EE-D1A845F8DAE6}">
      <dgm:prSet/>
      <dgm:spPr/>
      <dgm:t>
        <a:bodyPr/>
        <a:lstStyle/>
        <a:p>
          <a:endParaRPr lang="en-US"/>
        </a:p>
      </dgm:t>
    </dgm:pt>
    <dgm:pt modelId="{0816E01F-13CD-9F47-AF1C-47B5E8B33A96}" type="sibTrans" cxnId="{4135BD73-504E-8549-B0EE-D1A845F8DAE6}">
      <dgm:prSet/>
      <dgm:spPr/>
      <dgm:t>
        <a:bodyPr/>
        <a:lstStyle/>
        <a:p>
          <a:endParaRPr lang="en-US"/>
        </a:p>
      </dgm:t>
    </dgm:pt>
    <dgm:pt modelId="{34391072-07A4-AB46-8DBC-F31806A1793C}">
      <dgm:prSet custT="1"/>
      <dgm:spPr/>
      <dgm:t>
        <a:bodyPr/>
        <a:lstStyle/>
        <a:p>
          <a:pPr>
            <a:buFont typeface="Arial" panose="020B0604020202020204" pitchFamily="34" charset="0"/>
            <a:buChar char="•"/>
          </a:pPr>
          <a:r>
            <a:rPr lang="en-US" sz="1200" dirty="0"/>
            <a:t>Walls Energy Efficiency</a:t>
          </a:r>
        </a:p>
      </dgm:t>
    </dgm:pt>
    <dgm:pt modelId="{2ED882D4-F861-4F4E-B866-1A9D9DB0EF86}" type="parTrans" cxnId="{7B7447A7-1D20-BD4E-8DC1-972C0D53312B}">
      <dgm:prSet/>
      <dgm:spPr/>
      <dgm:t>
        <a:bodyPr/>
        <a:lstStyle/>
        <a:p>
          <a:endParaRPr lang="en-US"/>
        </a:p>
      </dgm:t>
    </dgm:pt>
    <dgm:pt modelId="{4ABCC38D-CE96-6A44-9762-F43C9F567243}" type="sibTrans" cxnId="{7B7447A7-1D20-BD4E-8DC1-972C0D53312B}">
      <dgm:prSet/>
      <dgm:spPr/>
      <dgm:t>
        <a:bodyPr/>
        <a:lstStyle/>
        <a:p>
          <a:endParaRPr lang="en-US"/>
        </a:p>
      </dgm:t>
    </dgm:pt>
    <dgm:pt modelId="{BD465C32-A5AA-0B49-B917-7CABB1E922F4}">
      <dgm:prSet custT="1"/>
      <dgm:spPr/>
      <dgm:t>
        <a:bodyPr/>
        <a:lstStyle/>
        <a:p>
          <a:pPr>
            <a:buFont typeface="Arial" panose="020B0604020202020204" pitchFamily="34" charset="0"/>
            <a:buChar char="•"/>
          </a:pPr>
          <a:r>
            <a:rPr lang="en-US" sz="1200" dirty="0"/>
            <a:t>Main Fuel</a:t>
          </a:r>
        </a:p>
      </dgm:t>
    </dgm:pt>
    <dgm:pt modelId="{CDCF1E04-42E1-584D-84A8-AAC4B9ADDB70}" type="parTrans" cxnId="{B99BD03E-BE68-9148-992F-003257228D91}">
      <dgm:prSet/>
      <dgm:spPr/>
      <dgm:t>
        <a:bodyPr/>
        <a:lstStyle/>
        <a:p>
          <a:endParaRPr lang="en-US"/>
        </a:p>
      </dgm:t>
    </dgm:pt>
    <dgm:pt modelId="{264D9773-9A79-FD49-ADFF-62397003A82C}" type="sibTrans" cxnId="{B99BD03E-BE68-9148-992F-003257228D91}">
      <dgm:prSet/>
      <dgm:spPr/>
      <dgm:t>
        <a:bodyPr/>
        <a:lstStyle/>
        <a:p>
          <a:endParaRPr lang="en-US"/>
        </a:p>
      </dgm:t>
    </dgm:pt>
    <dgm:pt modelId="{8416CA0D-8AD8-B34C-9FA5-ED1BE1F67756}">
      <dgm:prSet custT="1"/>
      <dgm:spPr/>
      <dgm:t>
        <a:bodyPr/>
        <a:lstStyle/>
        <a:p>
          <a:pPr>
            <a:buFont typeface="Arial" panose="020B0604020202020204" pitchFamily="34" charset="0"/>
            <a:buChar char="•"/>
          </a:pPr>
          <a:r>
            <a:rPr lang="en-US" sz="1200" dirty="0"/>
            <a:t>Property Type</a:t>
          </a:r>
        </a:p>
      </dgm:t>
    </dgm:pt>
    <dgm:pt modelId="{01A456E4-0897-6841-AF95-E9A2EF965D72}" type="parTrans" cxnId="{8FB26AB3-E53D-4B41-AC73-8DABF94CC727}">
      <dgm:prSet/>
      <dgm:spPr/>
      <dgm:t>
        <a:bodyPr/>
        <a:lstStyle/>
        <a:p>
          <a:endParaRPr lang="en-US"/>
        </a:p>
      </dgm:t>
    </dgm:pt>
    <dgm:pt modelId="{3E076BAC-AAD5-B24C-BFD1-880D06DE504D}" type="sibTrans" cxnId="{8FB26AB3-E53D-4B41-AC73-8DABF94CC727}">
      <dgm:prSet/>
      <dgm:spPr/>
      <dgm:t>
        <a:bodyPr/>
        <a:lstStyle/>
        <a:p>
          <a:endParaRPr lang="en-US"/>
        </a:p>
      </dgm:t>
    </dgm:pt>
    <dgm:pt modelId="{58FB35EB-09D7-3344-9680-8F5EA120803A}">
      <dgm:prSet custT="1"/>
      <dgm:spPr/>
      <dgm:t>
        <a:bodyPr/>
        <a:lstStyle/>
        <a:p>
          <a:pPr>
            <a:buFont typeface="Arial" panose="020B0604020202020204" pitchFamily="34" charset="0"/>
            <a:buChar char="•"/>
          </a:pPr>
          <a:r>
            <a:rPr lang="en-US" sz="1200" dirty="0"/>
            <a:t>Built Form</a:t>
          </a:r>
        </a:p>
      </dgm:t>
    </dgm:pt>
    <dgm:pt modelId="{8CFD6C5D-C837-844E-86AD-9091904042C3}" type="parTrans" cxnId="{DDF60DAB-A12F-F44C-9BF4-5AD4B49795D9}">
      <dgm:prSet/>
      <dgm:spPr/>
      <dgm:t>
        <a:bodyPr/>
        <a:lstStyle/>
        <a:p>
          <a:endParaRPr lang="en-US"/>
        </a:p>
      </dgm:t>
    </dgm:pt>
    <dgm:pt modelId="{61182137-68E4-0343-A31D-A4E5E0967358}" type="sibTrans" cxnId="{DDF60DAB-A12F-F44C-9BF4-5AD4B49795D9}">
      <dgm:prSet/>
      <dgm:spPr/>
      <dgm:t>
        <a:bodyPr/>
        <a:lstStyle/>
        <a:p>
          <a:endParaRPr lang="en-US"/>
        </a:p>
      </dgm:t>
    </dgm:pt>
    <dgm:pt modelId="{556A9B11-DA67-684E-B71A-66BC94D8EA42}">
      <dgm:prSet custT="1"/>
      <dgm:spPr/>
      <dgm:t>
        <a:bodyPr/>
        <a:lstStyle/>
        <a:p>
          <a:pPr>
            <a:buFont typeface="Arial" panose="020B0604020202020204" pitchFamily="34" charset="0"/>
            <a:buChar char="•"/>
          </a:pPr>
          <a:r>
            <a:rPr lang="en-US" sz="1200" dirty="0"/>
            <a:t>Total Floor Area</a:t>
          </a:r>
        </a:p>
      </dgm:t>
    </dgm:pt>
    <dgm:pt modelId="{F8697F0C-ACD7-F54D-9345-74DB2E65E1D6}" type="parTrans" cxnId="{318221CF-6DC0-3E45-AA0A-4AD5E55EA6D4}">
      <dgm:prSet/>
      <dgm:spPr/>
      <dgm:t>
        <a:bodyPr/>
        <a:lstStyle/>
        <a:p>
          <a:endParaRPr lang="en-US"/>
        </a:p>
      </dgm:t>
    </dgm:pt>
    <dgm:pt modelId="{7BCEB129-8A84-304D-A7AE-94FC41C5ABBA}" type="sibTrans" cxnId="{318221CF-6DC0-3E45-AA0A-4AD5E55EA6D4}">
      <dgm:prSet/>
      <dgm:spPr/>
      <dgm:t>
        <a:bodyPr/>
        <a:lstStyle/>
        <a:p>
          <a:endParaRPr lang="en-US"/>
        </a:p>
      </dgm:t>
    </dgm:pt>
    <dgm:pt modelId="{1020E334-AE29-1E4C-8A40-08CD08C85F44}">
      <dgm:prSet custT="1"/>
      <dgm:spPr/>
      <dgm:t>
        <a:bodyPr/>
        <a:lstStyle/>
        <a:p>
          <a:pPr>
            <a:buFont typeface="Arial" panose="020B0604020202020204" pitchFamily="34" charset="0"/>
            <a:buChar char="•"/>
          </a:pPr>
          <a:r>
            <a:rPr lang="en-US" sz="1200" dirty="0"/>
            <a:t>Number of Habitable Rooms</a:t>
          </a:r>
        </a:p>
      </dgm:t>
    </dgm:pt>
    <dgm:pt modelId="{658B53D0-DAB0-FA43-AFA3-B2B1B789EA81}" type="parTrans" cxnId="{7F9DF600-C913-9D42-8A88-833DA1F5C7FC}">
      <dgm:prSet/>
      <dgm:spPr/>
      <dgm:t>
        <a:bodyPr/>
        <a:lstStyle/>
        <a:p>
          <a:endParaRPr lang="en-US"/>
        </a:p>
      </dgm:t>
    </dgm:pt>
    <dgm:pt modelId="{49602133-BF8D-BD48-998C-49AA0827EA9D}" type="sibTrans" cxnId="{7F9DF600-C913-9D42-8A88-833DA1F5C7FC}">
      <dgm:prSet/>
      <dgm:spPr/>
      <dgm:t>
        <a:bodyPr/>
        <a:lstStyle/>
        <a:p>
          <a:endParaRPr lang="en-US"/>
        </a:p>
      </dgm:t>
    </dgm:pt>
    <dgm:pt modelId="{3C53C40B-0E8C-A643-BA86-040826FF63B2}">
      <dgm:prSet custT="1"/>
      <dgm:spPr/>
      <dgm:t>
        <a:bodyPr/>
        <a:lstStyle/>
        <a:p>
          <a:pPr>
            <a:buFont typeface="Arial" panose="020B0604020202020204" pitchFamily="34" charset="0"/>
            <a:buChar char="•"/>
          </a:pPr>
          <a:r>
            <a:rPr lang="en-US" sz="1200" dirty="0"/>
            <a:t>Tenure</a:t>
          </a:r>
        </a:p>
      </dgm:t>
    </dgm:pt>
    <dgm:pt modelId="{493B47EC-D7A4-0043-B6B1-6C2DDEBB88D1}" type="parTrans" cxnId="{EFE31D50-B4A6-014F-87CD-2CB12BC0CC1F}">
      <dgm:prSet/>
      <dgm:spPr/>
      <dgm:t>
        <a:bodyPr/>
        <a:lstStyle/>
        <a:p>
          <a:endParaRPr lang="en-US"/>
        </a:p>
      </dgm:t>
    </dgm:pt>
    <dgm:pt modelId="{63171947-D8C2-EC48-8C27-8BF5AB201F4D}" type="sibTrans" cxnId="{EFE31D50-B4A6-014F-87CD-2CB12BC0CC1F}">
      <dgm:prSet/>
      <dgm:spPr/>
      <dgm:t>
        <a:bodyPr/>
        <a:lstStyle/>
        <a:p>
          <a:endParaRPr lang="en-US"/>
        </a:p>
      </dgm:t>
    </dgm:pt>
    <dgm:pt modelId="{66A9642F-905C-9443-AD67-8E0B0E44507C}">
      <dgm:prSet custT="1"/>
      <dgm:spPr/>
      <dgm:t>
        <a:bodyPr/>
        <a:lstStyle/>
        <a:p>
          <a:pPr>
            <a:buFont typeface="Arial" panose="020B0604020202020204" pitchFamily="34" charset="0"/>
            <a:buChar char="•"/>
          </a:pPr>
          <a:r>
            <a:rPr lang="en-US" sz="1200" dirty="0"/>
            <a:t>Construction Age Band</a:t>
          </a:r>
        </a:p>
      </dgm:t>
    </dgm:pt>
    <dgm:pt modelId="{571D5EED-92DC-4149-8E0B-86E97D3ED977}" type="parTrans" cxnId="{7FF3F67D-9E2C-BD40-BA87-FE328256E468}">
      <dgm:prSet/>
      <dgm:spPr/>
      <dgm:t>
        <a:bodyPr/>
        <a:lstStyle/>
        <a:p>
          <a:endParaRPr lang="en-US"/>
        </a:p>
      </dgm:t>
    </dgm:pt>
    <dgm:pt modelId="{73A2C439-BD28-8C43-90C8-407209D2E61C}" type="sibTrans" cxnId="{7FF3F67D-9E2C-BD40-BA87-FE328256E468}">
      <dgm:prSet/>
      <dgm:spPr/>
      <dgm:t>
        <a:bodyPr/>
        <a:lstStyle/>
        <a:p>
          <a:endParaRPr lang="en-US"/>
        </a:p>
      </dgm:t>
    </dgm:pt>
    <dgm:pt modelId="{4E8727F6-4C8E-6E48-8A81-F7BD3DE8B770}">
      <dgm:prSet custT="1"/>
      <dgm:spPr/>
      <dgm:t>
        <a:bodyPr/>
        <a:lstStyle/>
        <a:p>
          <a:pPr>
            <a:buFont typeface="Arial" panose="020B0604020202020204" pitchFamily="34" charset="0"/>
            <a:buChar char="•"/>
          </a:pPr>
          <a:r>
            <a:rPr lang="en-US" sz="1200" dirty="0"/>
            <a:t>Local Authority</a:t>
          </a:r>
        </a:p>
      </dgm:t>
    </dgm:pt>
    <dgm:pt modelId="{F254E880-7579-D942-9055-11BE48058653}" type="parTrans" cxnId="{B2A0D083-9A6E-4946-A168-416092BCD0C4}">
      <dgm:prSet/>
      <dgm:spPr/>
      <dgm:t>
        <a:bodyPr/>
        <a:lstStyle/>
        <a:p>
          <a:endParaRPr lang="en-US"/>
        </a:p>
      </dgm:t>
    </dgm:pt>
    <dgm:pt modelId="{6EA90F71-811F-2C42-BB6E-47DF68B2FBFB}" type="sibTrans" cxnId="{B2A0D083-9A6E-4946-A168-416092BCD0C4}">
      <dgm:prSet/>
      <dgm:spPr/>
      <dgm:t>
        <a:bodyPr/>
        <a:lstStyle/>
        <a:p>
          <a:endParaRPr lang="en-US"/>
        </a:p>
      </dgm:t>
    </dgm:pt>
    <dgm:pt modelId="{6F4A0A7D-195A-234C-AF4F-2F79E10FBCCB}">
      <dgm:prSet custT="1"/>
      <dgm:spPr/>
      <dgm:t>
        <a:bodyPr/>
        <a:lstStyle/>
        <a:p>
          <a:pPr>
            <a:buFont typeface="Arial" panose="020B0604020202020204" pitchFamily="34" charset="0"/>
            <a:buChar char="•"/>
          </a:pPr>
          <a:r>
            <a:rPr lang="en-US" sz="1200" dirty="0"/>
            <a:t>Postcode</a:t>
          </a:r>
        </a:p>
      </dgm:t>
    </dgm:pt>
    <dgm:pt modelId="{BB0DA683-48A3-5249-B841-022EA405131C}" type="parTrans" cxnId="{F94767C2-3C6F-3F41-836F-32CD7689C47C}">
      <dgm:prSet/>
      <dgm:spPr/>
      <dgm:t>
        <a:bodyPr/>
        <a:lstStyle/>
        <a:p>
          <a:endParaRPr lang="en-US"/>
        </a:p>
      </dgm:t>
    </dgm:pt>
    <dgm:pt modelId="{10A06469-CAFC-8B4C-898A-8BEEA95DC334}" type="sibTrans" cxnId="{F94767C2-3C6F-3F41-836F-32CD7689C47C}">
      <dgm:prSet/>
      <dgm:spPr/>
      <dgm:t>
        <a:bodyPr/>
        <a:lstStyle/>
        <a:p>
          <a:endParaRPr lang="en-US"/>
        </a:p>
      </dgm:t>
    </dgm:pt>
    <dgm:pt modelId="{63B99A28-EE58-9B49-B522-6366CB37E6EB}">
      <dgm:prSet custT="1"/>
      <dgm:spPr/>
      <dgm:t>
        <a:bodyPr/>
        <a:lstStyle/>
        <a:p>
          <a:r>
            <a:rPr lang="en-US" sz="1200" dirty="0" err="1"/>
            <a:t>Lodgement</a:t>
          </a:r>
          <a:r>
            <a:rPr lang="en-US" sz="1200" dirty="0"/>
            <a:t> Date</a:t>
          </a:r>
        </a:p>
      </dgm:t>
    </dgm:pt>
    <dgm:pt modelId="{2E12AD15-7E7B-7D45-9F41-62A33414E0D1}" type="parTrans" cxnId="{EB0C2E93-FED7-0D44-95F5-95B966E4FE9E}">
      <dgm:prSet/>
      <dgm:spPr/>
      <dgm:t>
        <a:bodyPr/>
        <a:lstStyle/>
        <a:p>
          <a:endParaRPr lang="en-US"/>
        </a:p>
      </dgm:t>
    </dgm:pt>
    <dgm:pt modelId="{35A91987-6ED2-BC4D-AF4A-9517D1B44305}" type="sibTrans" cxnId="{EB0C2E93-FED7-0D44-95F5-95B966E4FE9E}">
      <dgm:prSet/>
      <dgm:spPr/>
      <dgm:t>
        <a:bodyPr/>
        <a:lstStyle/>
        <a:p>
          <a:endParaRPr lang="en-US"/>
        </a:p>
      </dgm:t>
    </dgm:pt>
    <dgm:pt modelId="{392936AB-4AD2-DF44-816F-05EDEDCA978D}">
      <dgm:prSet custT="1"/>
      <dgm:spPr/>
      <dgm:t>
        <a:bodyPr/>
        <a:lstStyle/>
        <a:p>
          <a:pPr>
            <a:buFont typeface="Arial" panose="020B0604020202020204" pitchFamily="34" charset="0"/>
            <a:buChar char="•"/>
          </a:pPr>
          <a:r>
            <a:rPr lang="en-US" sz="1200" dirty="0"/>
            <a:t>Electricity – Average Annual Fixed Cost</a:t>
          </a:r>
        </a:p>
      </dgm:t>
    </dgm:pt>
    <dgm:pt modelId="{CA50A546-B62D-8A48-A897-2E577C7099A9}" type="parTrans" cxnId="{828363BB-2E63-A547-8A47-D3F819DE8457}">
      <dgm:prSet/>
      <dgm:spPr/>
      <dgm:t>
        <a:bodyPr/>
        <a:lstStyle/>
        <a:p>
          <a:endParaRPr lang="en-US"/>
        </a:p>
      </dgm:t>
    </dgm:pt>
    <dgm:pt modelId="{2D8605DC-DC18-8647-97A6-38D72A32C22F}" type="sibTrans" cxnId="{828363BB-2E63-A547-8A47-D3F819DE8457}">
      <dgm:prSet/>
      <dgm:spPr/>
      <dgm:t>
        <a:bodyPr/>
        <a:lstStyle/>
        <a:p>
          <a:endParaRPr lang="en-US"/>
        </a:p>
      </dgm:t>
    </dgm:pt>
    <dgm:pt modelId="{7721A919-7221-6E46-963C-807CCD412531}">
      <dgm:prSet custT="1"/>
      <dgm:spPr/>
      <dgm:t>
        <a:bodyPr/>
        <a:lstStyle/>
        <a:p>
          <a:pPr>
            <a:buFont typeface="Arial" panose="020B0604020202020204" pitchFamily="34" charset="0"/>
            <a:buChar char="•"/>
          </a:pPr>
          <a:r>
            <a:rPr lang="en-US" sz="1200" dirty="0"/>
            <a:t>Gas – Average Variable Price per kWh</a:t>
          </a:r>
        </a:p>
      </dgm:t>
    </dgm:pt>
    <dgm:pt modelId="{72444B40-28FB-9048-9225-053645F971F3}" type="parTrans" cxnId="{94E7AAFA-9A9D-8142-A141-FF957FAB0DCF}">
      <dgm:prSet/>
      <dgm:spPr/>
      <dgm:t>
        <a:bodyPr/>
        <a:lstStyle/>
        <a:p>
          <a:endParaRPr lang="en-US"/>
        </a:p>
      </dgm:t>
    </dgm:pt>
    <dgm:pt modelId="{25A2761E-89E7-7A45-8F62-4D131A0FF050}" type="sibTrans" cxnId="{94E7AAFA-9A9D-8142-A141-FF957FAB0DCF}">
      <dgm:prSet/>
      <dgm:spPr/>
      <dgm:t>
        <a:bodyPr/>
        <a:lstStyle/>
        <a:p>
          <a:endParaRPr lang="en-US"/>
        </a:p>
      </dgm:t>
    </dgm:pt>
    <dgm:pt modelId="{4A0D7FEA-301F-E646-B8B1-4E8B22C8FB32}">
      <dgm:prSet custT="1"/>
      <dgm:spPr/>
      <dgm:t>
        <a:bodyPr/>
        <a:lstStyle/>
        <a:p>
          <a:pPr>
            <a:buFont typeface="Arial" panose="020B0604020202020204" pitchFamily="34" charset="0"/>
            <a:buChar char="•"/>
          </a:pPr>
          <a:r>
            <a:rPr lang="en-US" sz="1200" dirty="0"/>
            <a:t>Gas – Average Annual Fixed Cost</a:t>
          </a:r>
        </a:p>
      </dgm:t>
    </dgm:pt>
    <dgm:pt modelId="{AD3B9DB8-A51F-184B-9826-B252199AFB0D}" type="parTrans" cxnId="{6F81A021-49A9-4B48-A100-D497307A93CF}">
      <dgm:prSet/>
      <dgm:spPr/>
      <dgm:t>
        <a:bodyPr/>
        <a:lstStyle/>
        <a:p>
          <a:endParaRPr lang="en-US"/>
        </a:p>
      </dgm:t>
    </dgm:pt>
    <dgm:pt modelId="{01B865ED-97EA-AB41-95A2-8C67D7E4BC7D}" type="sibTrans" cxnId="{6F81A021-49A9-4B48-A100-D497307A93CF}">
      <dgm:prSet/>
      <dgm:spPr/>
      <dgm:t>
        <a:bodyPr/>
        <a:lstStyle/>
        <a:p>
          <a:endParaRPr lang="en-US"/>
        </a:p>
      </dgm:t>
    </dgm:pt>
    <dgm:pt modelId="{E49C3395-1371-B742-9C28-0544B8504B61}">
      <dgm:prSet custT="1"/>
      <dgm:spPr/>
      <dgm:t>
        <a:bodyPr/>
        <a:lstStyle/>
        <a:p>
          <a:pPr>
            <a:buFont typeface="Arial" panose="020B0604020202020204" pitchFamily="34" charset="0"/>
            <a:buChar char="•"/>
          </a:pPr>
          <a:r>
            <a:rPr lang="en-US" sz="1200" dirty="0"/>
            <a:t>Average Annual Fuel Bill (Individual Estimate) </a:t>
          </a:r>
          <a:r>
            <a:rPr lang="en-US" sz="1200" i="1" dirty="0"/>
            <a:t>(Derived)</a:t>
          </a:r>
          <a:endParaRPr lang="en-US" sz="1200" dirty="0"/>
        </a:p>
      </dgm:t>
    </dgm:pt>
    <dgm:pt modelId="{78EE00F9-8688-5743-B5FC-21E3CBA3B253}" type="parTrans" cxnId="{4F066039-E1E0-F144-92C5-88E4D1DFD651}">
      <dgm:prSet/>
      <dgm:spPr/>
      <dgm:t>
        <a:bodyPr/>
        <a:lstStyle/>
        <a:p>
          <a:endParaRPr lang="en-US"/>
        </a:p>
      </dgm:t>
    </dgm:pt>
    <dgm:pt modelId="{E663375D-09E6-3341-8D41-219753CFDD6D}" type="sibTrans" cxnId="{4F066039-E1E0-F144-92C5-88E4D1DFD651}">
      <dgm:prSet/>
      <dgm:spPr/>
      <dgm:t>
        <a:bodyPr/>
        <a:lstStyle/>
        <a:p>
          <a:endParaRPr lang="en-US"/>
        </a:p>
      </dgm:t>
    </dgm:pt>
    <dgm:pt modelId="{3704E324-9580-3744-AD70-BEDAE9E64FF0}">
      <dgm:prSet custT="1"/>
      <dgm:spPr/>
      <dgm:t>
        <a:bodyPr/>
        <a:lstStyle/>
        <a:p>
          <a:pPr>
            <a:buFont typeface="Arial" panose="020B0604020202020204" pitchFamily="34" charset="0"/>
            <a:buChar char="•"/>
          </a:pPr>
          <a:r>
            <a:rPr lang="en-US" sz="1200" dirty="0"/>
            <a:t>Local Authority – Average Electricity Consumption</a:t>
          </a:r>
        </a:p>
      </dgm:t>
    </dgm:pt>
    <dgm:pt modelId="{BAAF5C3C-EB4F-9042-960E-D3991A969170}" type="parTrans" cxnId="{2AA678BF-D937-2D48-B307-7BBC50858AB8}">
      <dgm:prSet/>
      <dgm:spPr/>
      <dgm:t>
        <a:bodyPr/>
        <a:lstStyle/>
        <a:p>
          <a:endParaRPr lang="en-US"/>
        </a:p>
      </dgm:t>
    </dgm:pt>
    <dgm:pt modelId="{682D7A56-4AD9-8D47-BEF0-BDF4F9704A7B}" type="sibTrans" cxnId="{2AA678BF-D937-2D48-B307-7BBC50858AB8}">
      <dgm:prSet/>
      <dgm:spPr/>
      <dgm:t>
        <a:bodyPr/>
        <a:lstStyle/>
        <a:p>
          <a:endParaRPr lang="en-US"/>
        </a:p>
      </dgm:t>
    </dgm:pt>
    <dgm:pt modelId="{94194C6C-6A35-F749-8EA0-39142FA3B1AA}">
      <dgm:prSet custT="1"/>
      <dgm:spPr/>
      <dgm:t>
        <a:bodyPr/>
        <a:lstStyle/>
        <a:p>
          <a:pPr>
            <a:buFont typeface="Arial" panose="020B0604020202020204" pitchFamily="34" charset="0"/>
            <a:buChar char="•"/>
          </a:pPr>
          <a:r>
            <a:rPr lang="en-US" sz="1200" dirty="0"/>
            <a:t>Local Authority – Average Gas Consumption</a:t>
          </a:r>
        </a:p>
      </dgm:t>
    </dgm:pt>
    <dgm:pt modelId="{A947C529-F940-BE4F-A8EF-F97B1FF43C91}" type="parTrans" cxnId="{B2585D16-1E06-4E4A-B682-7982DBB6F684}">
      <dgm:prSet/>
      <dgm:spPr/>
      <dgm:t>
        <a:bodyPr/>
        <a:lstStyle/>
        <a:p>
          <a:endParaRPr lang="en-US"/>
        </a:p>
      </dgm:t>
    </dgm:pt>
    <dgm:pt modelId="{E06D2AFA-CF17-D544-89A4-E823EC463AA0}" type="sibTrans" cxnId="{B2585D16-1E06-4E4A-B682-7982DBB6F684}">
      <dgm:prSet/>
      <dgm:spPr/>
      <dgm:t>
        <a:bodyPr/>
        <a:lstStyle/>
        <a:p>
          <a:endParaRPr lang="en-US"/>
        </a:p>
      </dgm:t>
    </dgm:pt>
    <dgm:pt modelId="{1964CE94-2E6D-CD45-9BDA-B0FCD0EBB211}">
      <dgm:prSet custT="1"/>
      <dgm:spPr/>
      <dgm:t>
        <a:bodyPr/>
        <a:lstStyle/>
        <a:p>
          <a:r>
            <a:rPr lang="en-US" sz="1200" dirty="0"/>
            <a:t>Households Receiving Winter Fuel Payment (2023)</a:t>
          </a:r>
        </a:p>
      </dgm:t>
    </dgm:pt>
    <dgm:pt modelId="{6D7D49C9-232D-074B-B7F3-53D93BE7EE85}" type="parTrans" cxnId="{7C5ED873-2ACD-3B4B-986E-045D0CF93F3C}">
      <dgm:prSet/>
      <dgm:spPr/>
      <dgm:t>
        <a:bodyPr/>
        <a:lstStyle/>
        <a:p>
          <a:endParaRPr lang="en-US"/>
        </a:p>
      </dgm:t>
    </dgm:pt>
    <dgm:pt modelId="{86E53510-E479-2943-8AD4-39124B1EF57B}" type="sibTrans" cxnId="{7C5ED873-2ACD-3B4B-986E-045D0CF93F3C}">
      <dgm:prSet/>
      <dgm:spPr/>
      <dgm:t>
        <a:bodyPr/>
        <a:lstStyle/>
        <a:p>
          <a:endParaRPr lang="en-US"/>
        </a:p>
      </dgm:t>
    </dgm:pt>
    <dgm:pt modelId="{E2725AD1-5053-2241-8171-C55A2FC3EDAC}" type="pres">
      <dgm:prSet presAssocID="{896F07C7-FD3F-E245-A9B8-A1966ED74733}" presName="Name0" presStyleCnt="0">
        <dgm:presLayoutVars>
          <dgm:dir/>
          <dgm:animLvl val="lvl"/>
          <dgm:resizeHandles val="exact"/>
        </dgm:presLayoutVars>
      </dgm:prSet>
      <dgm:spPr/>
    </dgm:pt>
    <dgm:pt modelId="{456D4872-937A-2B43-9124-48D7AE46F20D}" type="pres">
      <dgm:prSet presAssocID="{1C56905C-0506-3D48-B005-764E625AC015}" presName="composite" presStyleCnt="0"/>
      <dgm:spPr/>
    </dgm:pt>
    <dgm:pt modelId="{4EB56A96-6C8D-D04E-9BF7-732972021BD3}" type="pres">
      <dgm:prSet presAssocID="{1C56905C-0506-3D48-B005-764E625AC015}" presName="parTx" presStyleLbl="alignNode1" presStyleIdx="0" presStyleCnt="5" custLinFactNeighborX="46005" custLinFactNeighborY="2644">
        <dgm:presLayoutVars>
          <dgm:chMax val="0"/>
          <dgm:chPref val="0"/>
          <dgm:bulletEnabled val="1"/>
        </dgm:presLayoutVars>
      </dgm:prSet>
      <dgm:spPr/>
    </dgm:pt>
    <dgm:pt modelId="{44B5F438-B81C-D848-9C2D-2034F86DA259}" type="pres">
      <dgm:prSet presAssocID="{1C56905C-0506-3D48-B005-764E625AC015}" presName="desTx" presStyleLbl="alignAccFollowNode1" presStyleIdx="0" presStyleCnt="5" custScaleY="100593" custLinFactNeighborX="46515" custLinFactNeighborY="61092">
        <dgm:presLayoutVars>
          <dgm:bulletEnabled val="1"/>
        </dgm:presLayoutVars>
      </dgm:prSet>
      <dgm:spPr/>
    </dgm:pt>
    <dgm:pt modelId="{90BC9800-7E8E-1C48-9208-17A3C590A18F}" type="pres">
      <dgm:prSet presAssocID="{F61E6FDA-1852-B842-9D7C-D5A164301A75}" presName="space" presStyleCnt="0"/>
      <dgm:spPr/>
    </dgm:pt>
    <dgm:pt modelId="{6F777363-5A94-924C-85EA-F6B3C2DACD9B}" type="pres">
      <dgm:prSet presAssocID="{1233D35A-781F-3544-94F9-10EDEBFB69FD}" presName="composite" presStyleCnt="0"/>
      <dgm:spPr/>
    </dgm:pt>
    <dgm:pt modelId="{44A9ECC8-93BD-C94C-BBF7-75CBF7F272D9}" type="pres">
      <dgm:prSet presAssocID="{1233D35A-781F-3544-94F9-10EDEBFB69FD}" presName="parTx" presStyleLbl="alignNode1" presStyleIdx="1" presStyleCnt="5" custScaleY="137399" custLinFactNeighborX="67648" custLinFactNeighborY="-9954">
        <dgm:presLayoutVars>
          <dgm:chMax val="0"/>
          <dgm:chPref val="0"/>
          <dgm:bulletEnabled val="1"/>
        </dgm:presLayoutVars>
      </dgm:prSet>
      <dgm:spPr/>
    </dgm:pt>
    <dgm:pt modelId="{C16A65E6-E70B-9145-80C8-AEC1D0B725F2}" type="pres">
      <dgm:prSet presAssocID="{1233D35A-781F-3544-94F9-10EDEBFB69FD}" presName="desTx" presStyleLbl="alignAccFollowNode1" presStyleIdx="1" presStyleCnt="5" custScaleY="96196" custLinFactNeighborX="67648" custLinFactNeighborY="805">
        <dgm:presLayoutVars>
          <dgm:bulletEnabled val="1"/>
        </dgm:presLayoutVars>
      </dgm:prSet>
      <dgm:spPr/>
    </dgm:pt>
    <dgm:pt modelId="{DF107FDF-F550-1441-B37E-F358CD4CCF3E}" type="pres">
      <dgm:prSet presAssocID="{A553D10B-6EF1-B949-A001-E96BB46AFFA5}" presName="space" presStyleCnt="0"/>
      <dgm:spPr/>
    </dgm:pt>
    <dgm:pt modelId="{45C8E511-97E3-C942-AA84-3BC90E2F8F0B}" type="pres">
      <dgm:prSet presAssocID="{0A77BB95-524E-A748-9753-4166038883D2}" presName="composite" presStyleCnt="0"/>
      <dgm:spPr/>
    </dgm:pt>
    <dgm:pt modelId="{8AB6FFB9-7528-DC4E-A358-25098926AC24}" type="pres">
      <dgm:prSet presAssocID="{0A77BB95-524E-A748-9753-4166038883D2}" presName="parTx" presStyleLbl="alignNode1" presStyleIdx="2" presStyleCnt="5" custScaleX="115478" custLinFactNeighborX="88309" custLinFactNeighborY="11898">
        <dgm:presLayoutVars>
          <dgm:chMax val="0"/>
          <dgm:chPref val="0"/>
          <dgm:bulletEnabled val="1"/>
        </dgm:presLayoutVars>
      </dgm:prSet>
      <dgm:spPr/>
    </dgm:pt>
    <dgm:pt modelId="{E3755F1D-4A57-7F49-89CB-EEAC7B89ED7A}" type="pres">
      <dgm:prSet presAssocID="{0A77BB95-524E-A748-9753-4166038883D2}" presName="desTx" presStyleLbl="alignAccFollowNode1" presStyleIdx="2" presStyleCnt="5" custScaleX="121044" custLinFactY="154419" custLinFactNeighborX="88838" custLinFactNeighborY="200000">
        <dgm:presLayoutVars>
          <dgm:bulletEnabled val="1"/>
        </dgm:presLayoutVars>
      </dgm:prSet>
      <dgm:spPr/>
    </dgm:pt>
    <dgm:pt modelId="{6E6453B1-EB55-6B4C-B391-D8D5216BC19D}" type="pres">
      <dgm:prSet presAssocID="{46E3480A-1124-F243-96F5-3DCA1D85122C}" presName="space" presStyleCnt="0"/>
      <dgm:spPr/>
    </dgm:pt>
    <dgm:pt modelId="{06582AD7-971D-C840-AB86-AEFEDA7953DD}" type="pres">
      <dgm:prSet presAssocID="{FF3A0E0C-0083-3642-9630-EF9C9C84D545}" presName="composite" presStyleCnt="0"/>
      <dgm:spPr/>
    </dgm:pt>
    <dgm:pt modelId="{CEB3D0F8-77D9-7B4A-B4D9-23570BE1E377}" type="pres">
      <dgm:prSet presAssocID="{FF3A0E0C-0083-3642-9630-EF9C9C84D545}" presName="parTx" presStyleLbl="alignNode1" presStyleIdx="3" presStyleCnt="5" custLinFactX="8992" custLinFactNeighborX="100000" custLinFactNeighborY="-80425">
        <dgm:presLayoutVars>
          <dgm:chMax val="0"/>
          <dgm:chPref val="0"/>
          <dgm:bulletEnabled val="1"/>
        </dgm:presLayoutVars>
      </dgm:prSet>
      <dgm:spPr/>
    </dgm:pt>
    <dgm:pt modelId="{D4882C59-E859-7A43-8792-DE1BEFAB4CD6}" type="pres">
      <dgm:prSet presAssocID="{FF3A0E0C-0083-3642-9630-EF9C9C84D545}" presName="desTx" presStyleLbl="alignAccFollowNode1" presStyleIdx="3" presStyleCnt="5" custScaleY="30813" custLinFactX="12279" custLinFactNeighborX="100000" custLinFactNeighborY="-50276">
        <dgm:presLayoutVars>
          <dgm:bulletEnabled val="1"/>
        </dgm:presLayoutVars>
      </dgm:prSet>
      <dgm:spPr/>
    </dgm:pt>
    <dgm:pt modelId="{4C0EDFED-28F8-9B45-93CC-5855CACB5960}" type="pres">
      <dgm:prSet presAssocID="{EE178211-62ED-874C-8832-1A1DE1C79B2C}" presName="space" presStyleCnt="0"/>
      <dgm:spPr/>
    </dgm:pt>
    <dgm:pt modelId="{9D8BE3C3-63CD-E24C-B048-8E15300B58C6}" type="pres">
      <dgm:prSet presAssocID="{702A8E9E-6B6C-BC48-A2B2-ED2E27DE0D42}" presName="composite" presStyleCnt="0"/>
      <dgm:spPr/>
    </dgm:pt>
    <dgm:pt modelId="{273EF8C9-8FF1-F046-98D6-4A96A27659F6}" type="pres">
      <dgm:prSet presAssocID="{702A8E9E-6B6C-BC48-A2B2-ED2E27DE0D42}" presName="parTx" presStyleLbl="alignNode1" presStyleIdx="4" presStyleCnt="5" custLinFactY="100000" custLinFactNeighborX="-4642" custLinFactNeighborY="130357">
        <dgm:presLayoutVars>
          <dgm:chMax val="0"/>
          <dgm:chPref val="0"/>
          <dgm:bulletEnabled val="1"/>
        </dgm:presLayoutVars>
      </dgm:prSet>
      <dgm:spPr/>
    </dgm:pt>
    <dgm:pt modelId="{55891657-9D4B-F142-A802-811E784886D5}" type="pres">
      <dgm:prSet presAssocID="{702A8E9E-6B6C-BC48-A2B2-ED2E27DE0D42}" presName="desTx" presStyleLbl="alignAccFollowNode1" presStyleIdx="4" presStyleCnt="5" custScaleY="30706" custLinFactY="600000" custLinFactNeighborX="-4153" custLinFactNeighborY="686124">
        <dgm:presLayoutVars>
          <dgm:bulletEnabled val="1"/>
        </dgm:presLayoutVars>
      </dgm:prSet>
      <dgm:spPr/>
    </dgm:pt>
  </dgm:ptLst>
  <dgm:cxnLst>
    <dgm:cxn modelId="{7F9DF600-C913-9D42-8A88-833DA1F5C7FC}" srcId="{1C56905C-0506-3D48-B005-764E625AC015}" destId="{1020E334-AE29-1E4C-8A40-08CD08C85F44}" srcOrd="11" destOrd="0" parTransId="{658B53D0-DAB0-FA43-AFA3-B2B1B789EA81}" sibTransId="{49602133-BF8D-BD48-998C-49AA0827EA9D}"/>
    <dgm:cxn modelId="{76716D05-582A-2F4A-B691-94681B381567}" type="presOf" srcId="{BD465C32-A5AA-0B49-B917-7CABB1E922F4}" destId="{44B5F438-B81C-D848-9C2D-2034F86DA259}" srcOrd="0" destOrd="7" presId="urn:microsoft.com/office/officeart/2005/8/layout/hList1"/>
    <dgm:cxn modelId="{9729C006-318C-AA41-9D9C-0830269313CE}" srcId="{0A77BB95-524E-A748-9753-4166038883D2}" destId="{6F786B04-0FFA-FD4A-AE92-00B70C497D1F}" srcOrd="6" destOrd="0" parTransId="{CB0122CB-6A22-D94A-AEA3-F52C726F67D5}" sibTransId="{43AC5F43-B781-AE47-86A5-D1B2A1757262}"/>
    <dgm:cxn modelId="{EFD80F0D-FC5C-2741-96A8-7CC4C90A291B}" type="presOf" srcId="{94A7A8FC-9D63-0245-8C29-E56F402AA7F7}" destId="{E3755F1D-4A57-7F49-89CB-EEAC7B89ED7A}" srcOrd="0" destOrd="5" presId="urn:microsoft.com/office/officeart/2005/8/layout/hList1"/>
    <dgm:cxn modelId="{9646260D-6F64-A942-A4FD-12E20A593664}" srcId="{0A77BB95-524E-A748-9753-4166038883D2}" destId="{94A7A8FC-9D63-0245-8C29-E56F402AA7F7}" srcOrd="5" destOrd="0" parTransId="{AB4FAA12-EECA-3548-9B3C-81FFCD7D9646}" sibTransId="{8F980CFC-7502-EF46-B293-D4E8EBEACC1F}"/>
    <dgm:cxn modelId="{9E152211-2E94-F04D-81D4-F75A173055A5}" srcId="{0A77BB95-524E-A748-9753-4166038883D2}" destId="{9B39F302-74BE-BD4C-B4A8-4C8DA929C640}" srcOrd="2" destOrd="0" parTransId="{9657B4E5-232B-D14B-9C89-50D28977334C}" sibTransId="{27B61D27-393D-2041-8EBA-C9E247D69A15}"/>
    <dgm:cxn modelId="{875D8C11-6444-AC44-93CE-C4EC30C62FAB}" type="presOf" srcId="{60FDE687-E4BB-9B48-A918-B0D5F782DC91}" destId="{E3755F1D-4A57-7F49-89CB-EEAC7B89ED7A}" srcOrd="0" destOrd="3" presId="urn:microsoft.com/office/officeart/2005/8/layout/hList1"/>
    <dgm:cxn modelId="{B2585D16-1E06-4E4A-B682-7982DBB6F684}" srcId="{1233D35A-781F-3544-94F9-10EDEBFB69FD}" destId="{94194C6C-6A35-F749-8EA0-39142FA3B1AA}" srcOrd="6" destOrd="0" parTransId="{A947C529-F940-BE4F-A8EF-F97B1FF43C91}" sibTransId="{E06D2AFA-CF17-D544-89A4-E823EC463AA0}"/>
    <dgm:cxn modelId="{925C4019-F066-934A-9036-6273183610AA}" type="presOf" srcId="{4A0D7FEA-301F-E646-B8B1-4E8B22C8FB32}" destId="{C16A65E6-E70B-9145-80C8-AEC1D0B725F2}" srcOrd="0" destOrd="3" presId="urn:microsoft.com/office/officeart/2005/8/layout/hList1"/>
    <dgm:cxn modelId="{0C860E1A-7E07-8446-AA96-2A366CA5FF21}" srcId="{896F07C7-FD3F-E245-A9B8-A1966ED74733}" destId="{702A8E9E-6B6C-BC48-A2B2-ED2E27DE0D42}" srcOrd="4" destOrd="0" parTransId="{E725FBDD-16CE-8F48-91F9-4764FAE070E8}" sibTransId="{0F9A5D76-93E4-BE40-B2B1-3DACFDC559E0}"/>
    <dgm:cxn modelId="{BE43571A-39BA-0B43-978E-E0FD58A4A136}" type="presOf" srcId="{702A8E9E-6B6C-BC48-A2B2-ED2E27DE0D42}" destId="{273EF8C9-8FF1-F046-98D6-4A96A27659F6}" srcOrd="0" destOrd="0" presId="urn:microsoft.com/office/officeart/2005/8/layout/hList1"/>
    <dgm:cxn modelId="{6F81A021-49A9-4B48-A100-D497307A93CF}" srcId="{1233D35A-781F-3544-94F9-10EDEBFB69FD}" destId="{4A0D7FEA-301F-E646-B8B1-4E8B22C8FB32}" srcOrd="3" destOrd="0" parTransId="{AD3B9DB8-A51F-184B-9826-B252199AFB0D}" sibTransId="{01B865ED-97EA-AB41-95A2-8C67D7E4BC7D}"/>
    <dgm:cxn modelId="{B90AA421-661B-F140-94F8-BB4AD0148533}" type="presOf" srcId="{E8823471-1A23-8443-8726-7A920993CF3B}" destId="{55891657-9D4B-F142-A802-811E784886D5}" srcOrd="0" destOrd="0" presId="urn:microsoft.com/office/officeart/2005/8/layout/hList1"/>
    <dgm:cxn modelId="{20058F27-3614-9F4C-9E2A-40696F3B82CE}" srcId="{702A8E9E-6B6C-BC48-A2B2-ED2E27DE0D42}" destId="{E8823471-1A23-8443-8726-7A920993CF3B}" srcOrd="0" destOrd="0" parTransId="{448860D7-4DA4-CD4A-B2B0-5AA4D0BBF16B}" sibTransId="{0DB890A6-087D-A248-8000-DD78AA322C76}"/>
    <dgm:cxn modelId="{76A5E428-53F1-D846-AEB6-F60D1BB97EAC}" type="presOf" srcId="{0433023E-7828-9D48-B430-695986A09A45}" destId="{44B5F438-B81C-D848-9C2D-2034F86DA259}" srcOrd="0" destOrd="2" presId="urn:microsoft.com/office/officeart/2005/8/layout/hList1"/>
    <dgm:cxn modelId="{6798372A-DA05-6F44-AD5E-6C6DB3492B04}" type="presOf" srcId="{1964CE94-2E6D-CD45-9BDA-B0FCD0EBB211}" destId="{C16A65E6-E70B-9145-80C8-AEC1D0B725F2}" srcOrd="0" destOrd="7" presId="urn:microsoft.com/office/officeart/2005/8/layout/hList1"/>
    <dgm:cxn modelId="{87435D2A-D4F0-E349-8221-FE22ADD093C1}" type="presOf" srcId="{58FB35EB-09D7-3344-9680-8F5EA120803A}" destId="{44B5F438-B81C-D848-9C2D-2034F86DA259}" srcOrd="0" destOrd="9" presId="urn:microsoft.com/office/officeart/2005/8/layout/hList1"/>
    <dgm:cxn modelId="{4C489A2B-E1E7-E54E-9B10-B67FC2A8B474}" type="presOf" srcId="{896F07C7-FD3F-E245-A9B8-A1966ED74733}" destId="{E2725AD1-5053-2241-8171-C55A2FC3EDAC}" srcOrd="0" destOrd="0" presId="urn:microsoft.com/office/officeart/2005/8/layout/hList1"/>
    <dgm:cxn modelId="{B601DB2B-EBFF-5640-8A89-41C38659C7EA}" type="presOf" srcId="{34391072-07A4-AB46-8DBC-F31806A1793C}" destId="{44B5F438-B81C-D848-9C2D-2034F86DA259}" srcOrd="0" destOrd="6" presId="urn:microsoft.com/office/officeart/2005/8/layout/hList1"/>
    <dgm:cxn modelId="{C6A4622D-AE0A-1449-9ABB-0B5FAC55EF83}" type="presOf" srcId="{64169262-7F88-2349-A888-26EC0CE3A3A6}" destId="{E3755F1D-4A57-7F49-89CB-EEAC7B89ED7A}" srcOrd="0" destOrd="0" presId="urn:microsoft.com/office/officeart/2005/8/layout/hList1"/>
    <dgm:cxn modelId="{FBC65634-D84D-5A44-AAF3-2001AA5CF305}" type="presOf" srcId="{7721A919-7221-6E46-963C-807CCD412531}" destId="{C16A65E6-E70B-9145-80C8-AEC1D0B725F2}" srcOrd="0" destOrd="2" presId="urn:microsoft.com/office/officeart/2005/8/layout/hList1"/>
    <dgm:cxn modelId="{8A57F934-E778-9B45-B4D5-0705022BECF6}" srcId="{FF3A0E0C-0083-3642-9630-EF9C9C84D545}" destId="{9ECB8A29-3A77-4E4A-BCD7-7169EBFAA47F}" srcOrd="0" destOrd="0" parTransId="{384D18C5-A276-EC47-A835-68E8E56B59E5}" sibTransId="{9BE1E97C-183B-8A44-BCA3-FF76E1886A74}"/>
    <dgm:cxn modelId="{4F066039-E1E0-F144-92C5-88E4D1DFD651}" srcId="{1233D35A-781F-3544-94F9-10EDEBFB69FD}" destId="{E49C3395-1371-B742-9C28-0544B8504B61}" srcOrd="4" destOrd="0" parTransId="{78EE00F9-8688-5743-B5FC-21E3CBA3B253}" sibTransId="{E663375D-09E6-3341-8D41-219753CFDD6D}"/>
    <dgm:cxn modelId="{47FF6239-CFED-B045-9701-40AFEBBDA22C}" type="presOf" srcId="{556A9B11-DA67-684E-B71A-66BC94D8EA42}" destId="{44B5F438-B81C-D848-9C2D-2034F86DA259}" srcOrd="0" destOrd="10" presId="urn:microsoft.com/office/officeart/2005/8/layout/hList1"/>
    <dgm:cxn modelId="{3A9B6F39-DF25-AF44-A9DB-3DFD72565167}" srcId="{FF3A0E0C-0083-3642-9630-EF9C9C84D545}" destId="{8E36FFCC-253E-314A-9890-7BF7809E7F92}" srcOrd="1" destOrd="0" parTransId="{7E7A7786-EE1F-EC4F-8029-0D23DCAC3EE4}" sibTransId="{9F7938F9-48AE-214A-9205-91206A3786FC}"/>
    <dgm:cxn modelId="{B99BD03E-BE68-9148-992F-003257228D91}" srcId="{1C56905C-0506-3D48-B005-764E625AC015}" destId="{BD465C32-A5AA-0B49-B917-7CABB1E922F4}" srcOrd="7" destOrd="0" parTransId="{CDCF1E04-42E1-584D-84A8-AAC4B9ADDB70}" sibTransId="{264D9773-9A79-FD49-ADFF-62397003A82C}"/>
    <dgm:cxn modelId="{28BAD23E-0272-7F45-923B-58960915947A}" type="presOf" srcId="{B7DDF51A-2839-BA4D-806B-552A56D7A61B}" destId="{44B5F438-B81C-D848-9C2D-2034F86DA259}" srcOrd="0" destOrd="3" presId="urn:microsoft.com/office/officeart/2005/8/layout/hList1"/>
    <dgm:cxn modelId="{F32D6C3F-2A00-C14C-B873-80D80BA0D9FB}" type="presOf" srcId="{9B39F302-74BE-BD4C-B4A8-4C8DA929C640}" destId="{E3755F1D-4A57-7F49-89CB-EEAC7B89ED7A}" srcOrd="0" destOrd="2" presId="urn:microsoft.com/office/officeart/2005/8/layout/hList1"/>
    <dgm:cxn modelId="{1A410D43-C51B-E04A-BEB9-537CE2F672C2}" type="presOf" srcId="{8416CA0D-8AD8-B34C-9FA5-ED1BE1F67756}" destId="{44B5F438-B81C-D848-9C2D-2034F86DA259}" srcOrd="0" destOrd="8" presId="urn:microsoft.com/office/officeart/2005/8/layout/hList1"/>
    <dgm:cxn modelId="{346FBB4D-76D6-3643-AB44-EDE730AA9D9A}" type="presOf" srcId="{E49C3395-1371-B742-9C28-0544B8504B61}" destId="{C16A65E6-E70B-9145-80C8-AEC1D0B725F2}" srcOrd="0" destOrd="4" presId="urn:microsoft.com/office/officeart/2005/8/layout/hList1"/>
    <dgm:cxn modelId="{EFE31D50-B4A6-014F-87CD-2CB12BC0CC1F}" srcId="{1C56905C-0506-3D48-B005-764E625AC015}" destId="{3C53C40B-0E8C-A643-BA86-040826FF63B2}" srcOrd="12" destOrd="0" parTransId="{493B47EC-D7A4-0043-B6B1-6C2DDEBB88D1}" sibTransId="{63171947-D8C2-EC48-8C27-8BF5AB201F4D}"/>
    <dgm:cxn modelId="{21406C50-BE16-334D-BE89-7A9C41645860}" type="presOf" srcId="{0A77BB95-524E-A748-9753-4166038883D2}" destId="{8AB6FFB9-7528-DC4E-A358-25098926AC24}" srcOrd="0" destOrd="0" presId="urn:microsoft.com/office/officeart/2005/8/layout/hList1"/>
    <dgm:cxn modelId="{24457B54-C216-6149-B960-BDBAE20F0B15}" srcId="{0A77BB95-524E-A748-9753-4166038883D2}" destId="{FFBBC131-88FA-9D44-860D-AB017B580213}" srcOrd="1" destOrd="0" parTransId="{41B291F2-C4D2-E743-BA8A-6D5B1F887D52}" sibTransId="{EC748382-95EF-7B4B-80D7-C60B0571E253}"/>
    <dgm:cxn modelId="{BAA3FE54-28A6-8647-92FA-19EE4A688FBC}" srcId="{702A8E9E-6B6C-BC48-A2B2-ED2E27DE0D42}" destId="{721F1FE8-4DF0-3442-A391-C840A06767F9}" srcOrd="2" destOrd="0" parTransId="{81995DC1-1EE1-1A4A-8563-0E7A077F8FEB}" sibTransId="{3BFDC8A0-160F-2C49-8FCE-1D8316C66289}"/>
    <dgm:cxn modelId="{4DFA1557-CCF8-8843-B64A-3F662F5D5DFA}" type="presOf" srcId="{86909EB5-E2A4-9140-A8F3-89A813005B8D}" destId="{55891657-9D4B-F142-A802-811E784886D5}" srcOrd="0" destOrd="3" presId="urn:microsoft.com/office/officeart/2005/8/layout/hList1"/>
    <dgm:cxn modelId="{3FB9255F-1CD7-6B40-866F-624EC77B8C29}" srcId="{1C56905C-0506-3D48-B005-764E625AC015}" destId="{78A7E377-2757-AC42-9350-C997BDD3EDA6}" srcOrd="0" destOrd="0" parTransId="{0664952D-1888-2D43-9901-771981648822}" sibTransId="{4CEAA1BB-825F-DE47-9BDC-B9C48B48A296}"/>
    <dgm:cxn modelId="{901EBF61-BD64-4945-9825-326B88A27522}" srcId="{0A77BB95-524E-A748-9753-4166038883D2}" destId="{56B72C74-E4A0-A148-9551-CEEAD8C2B48C}" srcOrd="4" destOrd="0" parTransId="{DD762059-11B1-B749-B47B-31D04518F273}" sibTransId="{8B20CD16-F397-7E40-968E-403F257AA01C}"/>
    <dgm:cxn modelId="{E0307869-9CD1-AF4D-B4EE-2E7F0C957A16}" srcId="{896F07C7-FD3F-E245-A9B8-A1966ED74733}" destId="{1233D35A-781F-3544-94F9-10EDEBFB69FD}" srcOrd="1" destOrd="0" parTransId="{D020013B-DD4A-0F4D-BB11-2A761ABFCBEC}" sibTransId="{A553D10B-6EF1-B949-A001-E96BB46AFFA5}"/>
    <dgm:cxn modelId="{470B716A-CB00-834C-8754-99CB6FBA75D6}" type="presOf" srcId="{7CB7B6D2-903F-D14B-9873-01C053190254}" destId="{44B5F438-B81C-D848-9C2D-2034F86DA259}" srcOrd="0" destOrd="4" presId="urn:microsoft.com/office/officeart/2005/8/layout/hList1"/>
    <dgm:cxn modelId="{9E36F36D-F661-024E-8630-AAF7AC3D7D76}" type="presOf" srcId="{FFBBC131-88FA-9D44-860D-AB017B580213}" destId="{E3755F1D-4A57-7F49-89CB-EEAC7B89ED7A}" srcOrd="0" destOrd="1" presId="urn:microsoft.com/office/officeart/2005/8/layout/hList1"/>
    <dgm:cxn modelId="{4135BD73-504E-8549-B0EE-D1A845F8DAE6}" srcId="{1C56905C-0506-3D48-B005-764E625AC015}" destId="{D720F601-DA9E-DD4D-B1E2-0D014FD17539}" srcOrd="5" destOrd="0" parTransId="{5D930C9C-0EF6-C142-BFCC-61A426C70DCA}" sibTransId="{0816E01F-13CD-9F47-AF1C-47B5E8B33A96}"/>
    <dgm:cxn modelId="{7C5ED873-2ACD-3B4B-986E-045D0CF93F3C}" srcId="{1233D35A-781F-3544-94F9-10EDEBFB69FD}" destId="{1964CE94-2E6D-CD45-9BDA-B0FCD0EBB211}" srcOrd="7" destOrd="0" parTransId="{6D7D49C9-232D-074B-B7F3-53D93BE7EE85}" sibTransId="{86E53510-E479-2943-8AD4-39124B1EF57B}"/>
    <dgm:cxn modelId="{34031679-CEBD-6241-B947-EC032A89EF27}" type="presOf" srcId="{3704E324-9580-3744-AD70-BEDAE9E64FF0}" destId="{C16A65E6-E70B-9145-80C8-AEC1D0B725F2}" srcOrd="0" destOrd="5" presId="urn:microsoft.com/office/officeart/2005/8/layout/hList1"/>
    <dgm:cxn modelId="{5145547D-81C8-9648-B2AE-9D40F041E31A}" type="presOf" srcId="{78A7E377-2757-AC42-9350-C997BDD3EDA6}" destId="{44B5F438-B81C-D848-9C2D-2034F86DA259}" srcOrd="0" destOrd="0" presId="urn:microsoft.com/office/officeart/2005/8/layout/hList1"/>
    <dgm:cxn modelId="{7FF3F67D-9E2C-BD40-BA87-FE328256E468}" srcId="{1C56905C-0506-3D48-B005-764E625AC015}" destId="{66A9642F-905C-9443-AD67-8E0B0E44507C}" srcOrd="13" destOrd="0" parTransId="{571D5EED-92DC-4149-8E0B-86E97D3ED977}" sibTransId="{73A2C439-BD28-8C43-90C8-407209D2E61C}"/>
    <dgm:cxn modelId="{B2A0D083-9A6E-4946-A168-416092BCD0C4}" srcId="{1C56905C-0506-3D48-B005-764E625AC015}" destId="{4E8727F6-4C8E-6E48-8A81-F7BD3DE8B770}" srcOrd="14" destOrd="0" parTransId="{F254E880-7579-D942-9055-11BE48058653}" sibTransId="{6EA90F71-811F-2C42-BB6E-47DF68B2FBFB}"/>
    <dgm:cxn modelId="{D1947887-CDF6-914D-831A-8D739D44AF31}" type="presOf" srcId="{0F6C5B97-B5AE-EA40-8C21-640BBD594031}" destId="{55891657-9D4B-F142-A802-811E784886D5}" srcOrd="0" destOrd="1" presId="urn:microsoft.com/office/officeart/2005/8/layout/hList1"/>
    <dgm:cxn modelId="{90542B88-75EB-5E44-AE9D-CE908D7069CD}" srcId="{896F07C7-FD3F-E245-A9B8-A1966ED74733}" destId="{0A77BB95-524E-A748-9753-4166038883D2}" srcOrd="2" destOrd="0" parTransId="{552A65F4-D8D1-0A4B-8035-70A69611AAE7}" sibTransId="{46E3480A-1124-F243-96F5-3DCA1D85122C}"/>
    <dgm:cxn modelId="{FDE0758D-0F0A-1F4F-857D-AF9D12AB91A2}" srcId="{1C56905C-0506-3D48-B005-764E625AC015}" destId="{B7DDF51A-2839-BA4D-806B-552A56D7A61B}" srcOrd="3" destOrd="0" parTransId="{EA3CA476-951C-8447-96C8-4A983200D472}" sibTransId="{010BB29A-1BAD-3340-9FA0-4353650B5140}"/>
    <dgm:cxn modelId="{1DC8358F-8CA2-F24A-8EF4-9EF6A9BDA8B6}" type="presOf" srcId="{94194C6C-6A35-F749-8EA0-39142FA3B1AA}" destId="{C16A65E6-E70B-9145-80C8-AEC1D0B725F2}" srcOrd="0" destOrd="6" presId="urn:microsoft.com/office/officeart/2005/8/layout/hList1"/>
    <dgm:cxn modelId="{B286B290-4DD9-6347-887E-9F7CFDC65BE0}" srcId="{702A8E9E-6B6C-BC48-A2B2-ED2E27DE0D42}" destId="{FC9BCF0C-090B-FC40-ABE7-83E4F8B9D8EB}" srcOrd="4" destOrd="0" parTransId="{37A20E0D-08CE-C140-9A12-AC6DAB63871E}" sibTransId="{5C3E6204-2858-DB49-809F-377331E1C099}"/>
    <dgm:cxn modelId="{78217492-761E-9F4D-92B5-A96134CBB508}" type="presOf" srcId="{8709BA89-A992-464D-8F14-E7D5EB36C6CB}" destId="{44B5F438-B81C-D848-9C2D-2034F86DA259}" srcOrd="0" destOrd="1" presId="urn:microsoft.com/office/officeart/2005/8/layout/hList1"/>
    <dgm:cxn modelId="{EB0C2E93-FED7-0D44-95F5-95B966E4FE9E}" srcId="{1C56905C-0506-3D48-B005-764E625AC015}" destId="{63B99A28-EE58-9B49-B522-6366CB37E6EB}" srcOrd="16" destOrd="0" parTransId="{2E12AD15-7E7B-7D45-9F41-62A33414E0D1}" sibTransId="{35A91987-6ED2-BC4D-AF4A-9517D1B44305}"/>
    <dgm:cxn modelId="{463DE894-B6E2-D54E-935F-D306E4357808}" srcId="{1C56905C-0506-3D48-B005-764E625AC015}" destId="{8709BA89-A992-464D-8F14-E7D5EB36C6CB}" srcOrd="1" destOrd="0" parTransId="{0AE7E9A8-C20C-274C-BBC9-5E46580DFF0F}" sibTransId="{2A2CC2D5-8F8D-1C42-9079-E35F361F10AE}"/>
    <dgm:cxn modelId="{71D95196-644B-A143-9D26-60D3DDFD42C7}" srcId="{1C56905C-0506-3D48-B005-764E625AC015}" destId="{0433023E-7828-9D48-B430-695986A09A45}" srcOrd="2" destOrd="0" parTransId="{F7433172-19D5-CA43-9440-DF2581A20A88}" sibTransId="{05B688C4-FF0D-1047-9D6D-3184C8877645}"/>
    <dgm:cxn modelId="{3223CA97-743C-3642-90DB-FA02476B67D1}" type="presOf" srcId="{9ECB8A29-3A77-4E4A-BCD7-7169EBFAA47F}" destId="{D4882C59-E859-7A43-8792-DE1BEFAB4CD6}" srcOrd="0" destOrd="0" presId="urn:microsoft.com/office/officeart/2005/8/layout/hList1"/>
    <dgm:cxn modelId="{7B84129E-A1B6-D344-93EA-5116E37CACBE}" type="presOf" srcId="{CB93B9C2-5BEF-C645-AC43-25D186644F4E}" destId="{C16A65E6-E70B-9145-80C8-AEC1D0B725F2}" srcOrd="0" destOrd="0" presId="urn:microsoft.com/office/officeart/2005/8/layout/hList1"/>
    <dgm:cxn modelId="{6DE6ED9E-C0B0-D24B-8A10-AF537ACBB660}" type="presOf" srcId="{8E36FFCC-253E-314A-9890-7BF7809E7F92}" destId="{D4882C59-E859-7A43-8792-DE1BEFAB4CD6}" srcOrd="0" destOrd="1" presId="urn:microsoft.com/office/officeart/2005/8/layout/hList1"/>
    <dgm:cxn modelId="{E01F16A0-C700-6041-A232-82FA923C5AE1}" srcId="{FF3A0E0C-0083-3642-9630-EF9C9C84D545}" destId="{F063D3ED-6185-1447-AF11-7655EFC650F0}" srcOrd="2" destOrd="0" parTransId="{B2C23BCB-293C-9C41-9F45-2D6A8B98DB2B}" sibTransId="{43BEC718-8C4B-FB48-9D24-C53BC8821DFB}"/>
    <dgm:cxn modelId="{7B7447A7-1D20-BD4E-8DC1-972C0D53312B}" srcId="{1C56905C-0506-3D48-B005-764E625AC015}" destId="{34391072-07A4-AB46-8DBC-F31806A1793C}" srcOrd="6" destOrd="0" parTransId="{2ED882D4-F861-4F4E-B866-1A9D9DB0EF86}" sibTransId="{4ABCC38D-CE96-6A44-9762-F43C9F567243}"/>
    <dgm:cxn modelId="{DDF60DAB-A12F-F44C-9BF4-5AD4B49795D9}" srcId="{1C56905C-0506-3D48-B005-764E625AC015}" destId="{58FB35EB-09D7-3344-9680-8F5EA120803A}" srcOrd="9" destOrd="0" parTransId="{8CFD6C5D-C837-844E-86AD-9091904042C3}" sibTransId="{61182137-68E4-0343-A31D-A4E5E0967358}"/>
    <dgm:cxn modelId="{3D0470AB-5EAC-564E-B224-D085913EE9AE}" type="presOf" srcId="{1020E334-AE29-1E4C-8A40-08CD08C85F44}" destId="{44B5F438-B81C-D848-9C2D-2034F86DA259}" srcOrd="0" destOrd="11" presId="urn:microsoft.com/office/officeart/2005/8/layout/hList1"/>
    <dgm:cxn modelId="{353E8DAC-B3A3-4F47-BFC2-5DFB170308DA}" type="presOf" srcId="{4E8727F6-4C8E-6E48-8A81-F7BD3DE8B770}" destId="{44B5F438-B81C-D848-9C2D-2034F86DA259}" srcOrd="0" destOrd="14" presId="urn:microsoft.com/office/officeart/2005/8/layout/hList1"/>
    <dgm:cxn modelId="{2B0D42AE-E96E-0F47-B825-3AFE935938B2}" srcId="{896F07C7-FD3F-E245-A9B8-A1966ED74733}" destId="{FF3A0E0C-0083-3642-9630-EF9C9C84D545}" srcOrd="3" destOrd="0" parTransId="{4C42AE37-1436-4D41-AA1B-6FA539EABC0B}" sibTransId="{EE178211-62ED-874C-8832-1A1DE1C79B2C}"/>
    <dgm:cxn modelId="{701DD8AE-9D5E-D449-A8FB-4DE2C2DBCAFE}" type="presOf" srcId="{6F4A0A7D-195A-234C-AF4F-2F79E10FBCCB}" destId="{44B5F438-B81C-D848-9C2D-2034F86DA259}" srcOrd="0" destOrd="15" presId="urn:microsoft.com/office/officeart/2005/8/layout/hList1"/>
    <dgm:cxn modelId="{4A1038B1-603F-9948-88CC-6A99178A50F3}" srcId="{896F07C7-FD3F-E245-A9B8-A1966ED74733}" destId="{1C56905C-0506-3D48-B005-764E625AC015}" srcOrd="0" destOrd="0" parTransId="{6121B7B1-4076-DC44-82C2-790E3A856F1A}" sibTransId="{F61E6FDA-1852-B842-9D7C-D5A164301A75}"/>
    <dgm:cxn modelId="{8FB26AB3-E53D-4B41-AC73-8DABF94CC727}" srcId="{1C56905C-0506-3D48-B005-764E625AC015}" destId="{8416CA0D-8AD8-B34C-9FA5-ED1BE1F67756}" srcOrd="8" destOrd="0" parTransId="{01A456E4-0897-6841-AF95-E9A2EF965D72}" sibTransId="{3E076BAC-AAD5-B24C-BFD1-880D06DE504D}"/>
    <dgm:cxn modelId="{828363BB-2E63-A547-8A47-D3F819DE8457}" srcId="{1233D35A-781F-3544-94F9-10EDEBFB69FD}" destId="{392936AB-4AD2-DF44-816F-05EDEDCA978D}" srcOrd="1" destOrd="0" parTransId="{CA50A546-B62D-8A48-A897-2E577C7099A9}" sibTransId="{2D8605DC-DC18-8647-97A6-38D72A32C22F}"/>
    <dgm:cxn modelId="{5FFD9EBB-DCAA-5549-AACC-8A91994702E8}" type="presOf" srcId="{F063D3ED-6185-1447-AF11-7655EFC650F0}" destId="{D4882C59-E859-7A43-8792-DE1BEFAB4CD6}" srcOrd="0" destOrd="2" presId="urn:microsoft.com/office/officeart/2005/8/layout/hList1"/>
    <dgm:cxn modelId="{499EE2BB-76C5-524F-AA84-0BA9B558FFE9}" srcId="{0A77BB95-524E-A748-9753-4166038883D2}" destId="{60FDE687-E4BB-9B48-A918-B0D5F782DC91}" srcOrd="3" destOrd="0" parTransId="{EDFC0BDB-E504-6D42-AB50-89A212BE4991}" sibTransId="{4177FA47-F4EF-624E-8A84-95851DAA1480}"/>
    <dgm:cxn modelId="{2AA678BF-D937-2D48-B307-7BBC50858AB8}" srcId="{1233D35A-781F-3544-94F9-10EDEBFB69FD}" destId="{3704E324-9580-3744-AD70-BEDAE9E64FF0}" srcOrd="5" destOrd="0" parTransId="{BAAF5C3C-EB4F-9042-960E-D3991A969170}" sibTransId="{682D7A56-4AD9-8D47-BEF0-BDF4F9704A7B}"/>
    <dgm:cxn modelId="{118F47C1-50A7-E54D-8928-EF02154FB641}" type="presOf" srcId="{392936AB-4AD2-DF44-816F-05EDEDCA978D}" destId="{C16A65E6-E70B-9145-80C8-AEC1D0B725F2}" srcOrd="0" destOrd="1" presId="urn:microsoft.com/office/officeart/2005/8/layout/hList1"/>
    <dgm:cxn modelId="{F94767C2-3C6F-3F41-836F-32CD7689C47C}" srcId="{1C56905C-0506-3D48-B005-764E625AC015}" destId="{6F4A0A7D-195A-234C-AF4F-2F79E10FBCCB}" srcOrd="15" destOrd="0" parTransId="{BB0DA683-48A3-5249-B841-022EA405131C}" sibTransId="{10A06469-CAFC-8B4C-898A-8BEEA95DC334}"/>
    <dgm:cxn modelId="{7A4294C5-AC07-1D4B-91A2-C6036D2C2F9A}" srcId="{702A8E9E-6B6C-BC48-A2B2-ED2E27DE0D42}" destId="{86909EB5-E2A4-9140-A8F3-89A813005B8D}" srcOrd="3" destOrd="0" parTransId="{ECD80D7D-3F75-C941-9680-E9F03AF215EB}" sibTransId="{6D078E63-9998-FA4A-ADEA-CCE6F731AFFC}"/>
    <dgm:cxn modelId="{F96677C8-6156-6243-B949-BC36002B340B}" type="presOf" srcId="{3C53C40B-0E8C-A643-BA86-040826FF63B2}" destId="{44B5F438-B81C-D848-9C2D-2034F86DA259}" srcOrd="0" destOrd="12" presId="urn:microsoft.com/office/officeart/2005/8/layout/hList1"/>
    <dgm:cxn modelId="{C8C46FC9-16CB-9E43-A778-A5C8C615EEA7}" type="presOf" srcId="{1C56905C-0506-3D48-B005-764E625AC015}" destId="{4EB56A96-6C8D-D04E-9BF7-732972021BD3}" srcOrd="0" destOrd="0" presId="urn:microsoft.com/office/officeart/2005/8/layout/hList1"/>
    <dgm:cxn modelId="{17A045CD-9C77-A540-B91C-CE2C664E5BC4}" srcId="{702A8E9E-6B6C-BC48-A2B2-ED2E27DE0D42}" destId="{0F6C5B97-B5AE-EA40-8C21-640BBD594031}" srcOrd="1" destOrd="0" parTransId="{7FC85966-30C9-2247-A455-E26F842A7129}" sibTransId="{B631C6C6-8E15-E647-865D-325136895A88}"/>
    <dgm:cxn modelId="{95CE1ACF-E61F-A74D-B2D4-EC282A4A89C6}" type="presOf" srcId="{1233D35A-781F-3544-94F9-10EDEBFB69FD}" destId="{44A9ECC8-93BD-C94C-BBF7-75CBF7F272D9}" srcOrd="0" destOrd="0" presId="urn:microsoft.com/office/officeart/2005/8/layout/hList1"/>
    <dgm:cxn modelId="{318221CF-6DC0-3E45-AA0A-4AD5E55EA6D4}" srcId="{1C56905C-0506-3D48-B005-764E625AC015}" destId="{556A9B11-DA67-684E-B71A-66BC94D8EA42}" srcOrd="10" destOrd="0" parTransId="{F8697F0C-ACD7-F54D-9345-74DB2E65E1D6}" sibTransId="{7BCEB129-8A84-304D-A7AE-94FC41C5ABBA}"/>
    <dgm:cxn modelId="{A2B641D9-0482-174E-88B8-40003083FA72}" type="presOf" srcId="{FF3A0E0C-0083-3642-9630-EF9C9C84D545}" destId="{CEB3D0F8-77D9-7B4A-B4D9-23570BE1E377}" srcOrd="0" destOrd="0" presId="urn:microsoft.com/office/officeart/2005/8/layout/hList1"/>
    <dgm:cxn modelId="{142B96DC-A944-E24B-A61E-266F1FE23A29}" type="presOf" srcId="{66A9642F-905C-9443-AD67-8E0B0E44507C}" destId="{44B5F438-B81C-D848-9C2D-2034F86DA259}" srcOrd="0" destOrd="13" presId="urn:microsoft.com/office/officeart/2005/8/layout/hList1"/>
    <dgm:cxn modelId="{54D67BE2-4D51-B24E-B1F8-134F65118505}" type="presOf" srcId="{63B99A28-EE58-9B49-B522-6366CB37E6EB}" destId="{44B5F438-B81C-D848-9C2D-2034F86DA259}" srcOrd="0" destOrd="16" presId="urn:microsoft.com/office/officeart/2005/8/layout/hList1"/>
    <dgm:cxn modelId="{68FAD9E4-54F3-AE48-8110-71B7BE5FEF7A}" type="presOf" srcId="{56B72C74-E4A0-A148-9551-CEEAD8C2B48C}" destId="{E3755F1D-4A57-7F49-89CB-EEAC7B89ED7A}" srcOrd="0" destOrd="4" presId="urn:microsoft.com/office/officeart/2005/8/layout/hList1"/>
    <dgm:cxn modelId="{58B3C7E6-E68D-B146-B88E-A8676A7DB6B9}" type="presOf" srcId="{6F786B04-0FFA-FD4A-AE92-00B70C497D1F}" destId="{E3755F1D-4A57-7F49-89CB-EEAC7B89ED7A}" srcOrd="0" destOrd="6" presId="urn:microsoft.com/office/officeart/2005/8/layout/hList1"/>
    <dgm:cxn modelId="{BF338DE8-E08B-E046-82D6-7603C3A6CF28}" type="presOf" srcId="{721F1FE8-4DF0-3442-A391-C840A06767F9}" destId="{55891657-9D4B-F142-A802-811E784886D5}" srcOrd="0" destOrd="2" presId="urn:microsoft.com/office/officeart/2005/8/layout/hList1"/>
    <dgm:cxn modelId="{1002EFE8-DF58-614D-B1E5-0DCE2B7A69D5}" type="presOf" srcId="{FC9BCF0C-090B-FC40-ABE7-83E4F8B9D8EB}" destId="{55891657-9D4B-F142-A802-811E784886D5}" srcOrd="0" destOrd="4" presId="urn:microsoft.com/office/officeart/2005/8/layout/hList1"/>
    <dgm:cxn modelId="{528CEEED-7A63-C840-AB3E-769EC6125CC4}" srcId="{0A77BB95-524E-A748-9753-4166038883D2}" destId="{64169262-7F88-2349-A888-26EC0CE3A3A6}" srcOrd="0" destOrd="0" parTransId="{496A5795-B8B1-1549-B434-35133E0E9BF9}" sibTransId="{5423531D-EBB7-3746-A370-99A7218F44DB}"/>
    <dgm:cxn modelId="{4BF857F2-4343-4B4B-BE4E-C46D0026F8E7}" srcId="{1C56905C-0506-3D48-B005-764E625AC015}" destId="{7CB7B6D2-903F-D14B-9873-01C053190254}" srcOrd="4" destOrd="0" parTransId="{F79B6ED0-995D-BA42-8E72-644246ABCC4F}" sibTransId="{F3ABE147-6BC6-BC43-8945-AECE1E1ED345}"/>
    <dgm:cxn modelId="{4852B2F8-C4C0-0C46-B020-1FF9812E97B0}" srcId="{1233D35A-781F-3544-94F9-10EDEBFB69FD}" destId="{CB93B9C2-5BEF-C645-AC43-25D186644F4E}" srcOrd="0" destOrd="0" parTransId="{E86F618D-3599-764A-B934-D56099462BEC}" sibTransId="{EDE4BDD8-D46E-5F43-AAB4-AB1D910AB6DE}"/>
    <dgm:cxn modelId="{C86680FA-A9A7-D14D-B3A5-DF8E9D9D63A1}" type="presOf" srcId="{D720F601-DA9E-DD4D-B1E2-0D014FD17539}" destId="{44B5F438-B81C-D848-9C2D-2034F86DA259}" srcOrd="0" destOrd="5" presId="urn:microsoft.com/office/officeart/2005/8/layout/hList1"/>
    <dgm:cxn modelId="{94E7AAFA-9A9D-8142-A141-FF957FAB0DCF}" srcId="{1233D35A-781F-3544-94F9-10EDEBFB69FD}" destId="{7721A919-7221-6E46-963C-807CCD412531}" srcOrd="2" destOrd="0" parTransId="{72444B40-28FB-9048-9225-053645F971F3}" sibTransId="{25A2761E-89E7-7A45-8F62-4D131A0FF050}"/>
    <dgm:cxn modelId="{62EF2419-836E-0A49-A790-D5679EB97722}" type="presParOf" srcId="{E2725AD1-5053-2241-8171-C55A2FC3EDAC}" destId="{456D4872-937A-2B43-9124-48D7AE46F20D}" srcOrd="0" destOrd="0" presId="urn:microsoft.com/office/officeart/2005/8/layout/hList1"/>
    <dgm:cxn modelId="{C1590CBE-E7E3-CD46-BD38-C4E41961C2D6}" type="presParOf" srcId="{456D4872-937A-2B43-9124-48D7AE46F20D}" destId="{4EB56A96-6C8D-D04E-9BF7-732972021BD3}" srcOrd="0" destOrd="0" presId="urn:microsoft.com/office/officeart/2005/8/layout/hList1"/>
    <dgm:cxn modelId="{27A00F68-FB2B-8A46-9F3D-CD05F1DB7A99}" type="presParOf" srcId="{456D4872-937A-2B43-9124-48D7AE46F20D}" destId="{44B5F438-B81C-D848-9C2D-2034F86DA259}" srcOrd="1" destOrd="0" presId="urn:microsoft.com/office/officeart/2005/8/layout/hList1"/>
    <dgm:cxn modelId="{69DE9F72-81AD-A840-A37D-0EC34D77A26C}" type="presParOf" srcId="{E2725AD1-5053-2241-8171-C55A2FC3EDAC}" destId="{90BC9800-7E8E-1C48-9208-17A3C590A18F}" srcOrd="1" destOrd="0" presId="urn:microsoft.com/office/officeart/2005/8/layout/hList1"/>
    <dgm:cxn modelId="{5CA7D43F-5881-924B-88AA-724B2F0ACB56}" type="presParOf" srcId="{E2725AD1-5053-2241-8171-C55A2FC3EDAC}" destId="{6F777363-5A94-924C-85EA-F6B3C2DACD9B}" srcOrd="2" destOrd="0" presId="urn:microsoft.com/office/officeart/2005/8/layout/hList1"/>
    <dgm:cxn modelId="{9E6622CB-6201-1343-BD0D-652B7C5102B8}" type="presParOf" srcId="{6F777363-5A94-924C-85EA-F6B3C2DACD9B}" destId="{44A9ECC8-93BD-C94C-BBF7-75CBF7F272D9}" srcOrd="0" destOrd="0" presId="urn:microsoft.com/office/officeart/2005/8/layout/hList1"/>
    <dgm:cxn modelId="{8BB5659B-1489-F044-A3A6-8EAC0EBA600A}" type="presParOf" srcId="{6F777363-5A94-924C-85EA-F6B3C2DACD9B}" destId="{C16A65E6-E70B-9145-80C8-AEC1D0B725F2}" srcOrd="1" destOrd="0" presId="urn:microsoft.com/office/officeart/2005/8/layout/hList1"/>
    <dgm:cxn modelId="{E514200B-4B28-5C44-B08B-5FE0C2A4D291}" type="presParOf" srcId="{E2725AD1-5053-2241-8171-C55A2FC3EDAC}" destId="{DF107FDF-F550-1441-B37E-F358CD4CCF3E}" srcOrd="3" destOrd="0" presId="urn:microsoft.com/office/officeart/2005/8/layout/hList1"/>
    <dgm:cxn modelId="{3D528DCD-C86C-714B-A9AD-E9531CD94CDD}" type="presParOf" srcId="{E2725AD1-5053-2241-8171-C55A2FC3EDAC}" destId="{45C8E511-97E3-C942-AA84-3BC90E2F8F0B}" srcOrd="4" destOrd="0" presId="urn:microsoft.com/office/officeart/2005/8/layout/hList1"/>
    <dgm:cxn modelId="{80D644B8-F026-3A4D-A940-62F57C0A40E2}" type="presParOf" srcId="{45C8E511-97E3-C942-AA84-3BC90E2F8F0B}" destId="{8AB6FFB9-7528-DC4E-A358-25098926AC24}" srcOrd="0" destOrd="0" presId="urn:microsoft.com/office/officeart/2005/8/layout/hList1"/>
    <dgm:cxn modelId="{D90C77F8-EAB6-594B-A8A2-0B4DD03DE1FF}" type="presParOf" srcId="{45C8E511-97E3-C942-AA84-3BC90E2F8F0B}" destId="{E3755F1D-4A57-7F49-89CB-EEAC7B89ED7A}" srcOrd="1" destOrd="0" presId="urn:microsoft.com/office/officeart/2005/8/layout/hList1"/>
    <dgm:cxn modelId="{DBA155CC-0A1B-F648-B674-A50BB5F4D2B1}" type="presParOf" srcId="{E2725AD1-5053-2241-8171-C55A2FC3EDAC}" destId="{6E6453B1-EB55-6B4C-B391-D8D5216BC19D}" srcOrd="5" destOrd="0" presId="urn:microsoft.com/office/officeart/2005/8/layout/hList1"/>
    <dgm:cxn modelId="{3CE2EC86-4809-D847-941D-3A002171494B}" type="presParOf" srcId="{E2725AD1-5053-2241-8171-C55A2FC3EDAC}" destId="{06582AD7-971D-C840-AB86-AEFEDA7953DD}" srcOrd="6" destOrd="0" presId="urn:microsoft.com/office/officeart/2005/8/layout/hList1"/>
    <dgm:cxn modelId="{0B803ED8-A131-6743-841E-3E30276AB529}" type="presParOf" srcId="{06582AD7-971D-C840-AB86-AEFEDA7953DD}" destId="{CEB3D0F8-77D9-7B4A-B4D9-23570BE1E377}" srcOrd="0" destOrd="0" presId="urn:microsoft.com/office/officeart/2005/8/layout/hList1"/>
    <dgm:cxn modelId="{72C75A46-1955-3C43-A229-C10445A23241}" type="presParOf" srcId="{06582AD7-971D-C840-AB86-AEFEDA7953DD}" destId="{D4882C59-E859-7A43-8792-DE1BEFAB4CD6}" srcOrd="1" destOrd="0" presId="urn:microsoft.com/office/officeart/2005/8/layout/hList1"/>
    <dgm:cxn modelId="{6D523FBC-64C6-514B-854A-C7BA23267A97}" type="presParOf" srcId="{E2725AD1-5053-2241-8171-C55A2FC3EDAC}" destId="{4C0EDFED-28F8-9B45-93CC-5855CACB5960}" srcOrd="7" destOrd="0" presId="urn:microsoft.com/office/officeart/2005/8/layout/hList1"/>
    <dgm:cxn modelId="{22B8D00C-3511-494C-A239-953138296830}" type="presParOf" srcId="{E2725AD1-5053-2241-8171-C55A2FC3EDAC}" destId="{9D8BE3C3-63CD-E24C-B048-8E15300B58C6}" srcOrd="8" destOrd="0" presId="urn:microsoft.com/office/officeart/2005/8/layout/hList1"/>
    <dgm:cxn modelId="{3487FD01-FC11-AB41-9A40-8F3E904C3034}" type="presParOf" srcId="{9D8BE3C3-63CD-E24C-B048-8E15300B58C6}" destId="{273EF8C9-8FF1-F046-98D6-4A96A27659F6}" srcOrd="0" destOrd="0" presId="urn:microsoft.com/office/officeart/2005/8/layout/hList1"/>
    <dgm:cxn modelId="{A9F8A7FE-67BE-8D41-9343-797F01E3038B}" type="presParOf" srcId="{9D8BE3C3-63CD-E24C-B048-8E15300B58C6}" destId="{55891657-9D4B-F142-A802-811E784886D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508AD2D-012D-2D47-9069-F7700A07DE13}" type="doc">
      <dgm:prSet loTypeId="urn:microsoft.com/office/officeart/2005/8/layout/equation2" loCatId="" qsTypeId="urn:microsoft.com/office/officeart/2005/8/quickstyle/simple1" qsCatId="simple" csTypeId="urn:microsoft.com/office/officeart/2005/8/colors/accent1_2" csCatId="accent1" phldr="1"/>
      <dgm:spPr/>
    </dgm:pt>
    <dgm:pt modelId="{F543EB70-4841-4542-A031-BB0AB569E9A3}">
      <dgm:prSet phldrT="[Text]" custT="1"/>
      <dgm:spPr/>
      <dgm:t>
        <a:bodyPr/>
        <a:lstStyle/>
        <a:p>
          <a:r>
            <a:rPr lang="en-US" sz="1200" b="1" dirty="0"/>
            <a:t>LILEE - Aggregate Level Probability as Priors</a:t>
          </a:r>
        </a:p>
      </dgm:t>
    </dgm:pt>
    <dgm:pt modelId="{14CACDAA-4AF8-CA44-BD42-BF8D60D6F0B2}" type="parTrans" cxnId="{EEF62535-D020-674D-A6D8-FB325A1BD871}">
      <dgm:prSet/>
      <dgm:spPr/>
      <dgm:t>
        <a:bodyPr/>
        <a:lstStyle/>
        <a:p>
          <a:endParaRPr lang="en-US"/>
        </a:p>
      </dgm:t>
    </dgm:pt>
    <dgm:pt modelId="{A236DCE8-DE21-C047-9CB9-40A50A36F8A7}" type="sibTrans" cxnId="{EEF62535-D020-674D-A6D8-FB325A1BD871}">
      <dgm:prSet/>
      <dgm:spPr/>
      <dgm:t>
        <a:bodyPr/>
        <a:lstStyle/>
        <a:p>
          <a:endParaRPr lang="en-US"/>
        </a:p>
      </dgm:t>
    </dgm:pt>
    <dgm:pt modelId="{BE855BE2-9B28-0C49-89B7-C4C55AEDDEC6}">
      <dgm:prSet phldrT="[Text]" custT="1"/>
      <dgm:spPr/>
      <dgm:t>
        <a:bodyPr/>
        <a:lstStyle/>
        <a:p>
          <a:r>
            <a:rPr lang="en-US" sz="1200" b="1" dirty="0"/>
            <a:t>Bayesian Regression using Markov-chain Monte Carlo Simulation</a:t>
          </a:r>
        </a:p>
      </dgm:t>
    </dgm:pt>
    <dgm:pt modelId="{F133E819-A7B7-2644-A6C8-0EC2FE33D8CC}" type="parTrans" cxnId="{4D8EEA5E-AB0A-E043-8AA3-6E2C2B72EEA1}">
      <dgm:prSet/>
      <dgm:spPr/>
      <dgm:t>
        <a:bodyPr/>
        <a:lstStyle/>
        <a:p>
          <a:endParaRPr lang="en-US"/>
        </a:p>
      </dgm:t>
    </dgm:pt>
    <dgm:pt modelId="{735BF82A-01C8-C042-809C-DF405C9A5E73}" type="sibTrans" cxnId="{4D8EEA5E-AB0A-E043-8AA3-6E2C2B72EEA1}">
      <dgm:prSet/>
      <dgm:spPr/>
      <dgm:t>
        <a:bodyPr/>
        <a:lstStyle/>
        <a:p>
          <a:endParaRPr lang="en-US"/>
        </a:p>
      </dgm:t>
    </dgm:pt>
    <dgm:pt modelId="{A5F49F74-E9B3-064C-BC69-6946661B1F6F}">
      <dgm:prSet phldrT="[Text]" custT="1"/>
      <dgm:spPr/>
      <dgm:t>
        <a:bodyPr/>
        <a:lstStyle/>
        <a:p>
          <a:r>
            <a:rPr lang="en-US" sz="2000" b="1" dirty="0"/>
            <a:t>Generating Fuel Poverty Risk Band (Less Likely to Highly Likely)</a:t>
          </a:r>
        </a:p>
      </dgm:t>
    </dgm:pt>
    <dgm:pt modelId="{35B45D65-26CE-AB42-AD41-A7343AD5AE13}" type="parTrans" cxnId="{532AB594-F2FD-B44B-ACD0-F1DEDE4FD04B}">
      <dgm:prSet/>
      <dgm:spPr/>
      <dgm:t>
        <a:bodyPr/>
        <a:lstStyle/>
        <a:p>
          <a:endParaRPr lang="en-US"/>
        </a:p>
      </dgm:t>
    </dgm:pt>
    <dgm:pt modelId="{498A28CF-01A1-7744-97AC-780105FE0B75}" type="sibTrans" cxnId="{532AB594-F2FD-B44B-ACD0-F1DEDE4FD04B}">
      <dgm:prSet/>
      <dgm:spPr/>
      <dgm:t>
        <a:bodyPr/>
        <a:lstStyle/>
        <a:p>
          <a:endParaRPr lang="en-US"/>
        </a:p>
      </dgm:t>
    </dgm:pt>
    <dgm:pt modelId="{94DD1639-E257-2842-AD74-C153F1B8C810}" type="pres">
      <dgm:prSet presAssocID="{C508AD2D-012D-2D47-9069-F7700A07DE13}" presName="Name0" presStyleCnt="0">
        <dgm:presLayoutVars>
          <dgm:dir/>
          <dgm:resizeHandles val="exact"/>
        </dgm:presLayoutVars>
      </dgm:prSet>
      <dgm:spPr/>
    </dgm:pt>
    <dgm:pt modelId="{5A2F74FD-4CCB-4949-A699-378020C6748D}" type="pres">
      <dgm:prSet presAssocID="{C508AD2D-012D-2D47-9069-F7700A07DE13}" presName="vNodes" presStyleCnt="0"/>
      <dgm:spPr/>
    </dgm:pt>
    <dgm:pt modelId="{3C5F7258-08FA-1040-A74E-D0C04C8688B4}" type="pres">
      <dgm:prSet presAssocID="{F543EB70-4841-4542-A031-BB0AB569E9A3}" presName="node" presStyleLbl="node1" presStyleIdx="0" presStyleCnt="3">
        <dgm:presLayoutVars>
          <dgm:bulletEnabled val="1"/>
        </dgm:presLayoutVars>
      </dgm:prSet>
      <dgm:spPr/>
    </dgm:pt>
    <dgm:pt modelId="{49C3DE19-1F6A-C847-A2D1-54B8B54CA7F3}" type="pres">
      <dgm:prSet presAssocID="{A236DCE8-DE21-C047-9CB9-40A50A36F8A7}" presName="spacerT" presStyleCnt="0"/>
      <dgm:spPr/>
    </dgm:pt>
    <dgm:pt modelId="{185BE288-8DE2-2941-B586-1DAED122519B}" type="pres">
      <dgm:prSet presAssocID="{A236DCE8-DE21-C047-9CB9-40A50A36F8A7}" presName="sibTrans" presStyleLbl="sibTrans2D1" presStyleIdx="0" presStyleCnt="2"/>
      <dgm:spPr/>
    </dgm:pt>
    <dgm:pt modelId="{C200C67E-7C7D-2646-9ED4-F98A5FDF1D85}" type="pres">
      <dgm:prSet presAssocID="{A236DCE8-DE21-C047-9CB9-40A50A36F8A7}" presName="spacerB" presStyleCnt="0"/>
      <dgm:spPr/>
    </dgm:pt>
    <dgm:pt modelId="{AD15737E-2C26-EC44-A2D6-57B0B258D6DD}" type="pres">
      <dgm:prSet presAssocID="{BE855BE2-9B28-0C49-89B7-C4C55AEDDEC6}" presName="node" presStyleLbl="node1" presStyleIdx="1" presStyleCnt="3">
        <dgm:presLayoutVars>
          <dgm:bulletEnabled val="1"/>
        </dgm:presLayoutVars>
      </dgm:prSet>
      <dgm:spPr/>
    </dgm:pt>
    <dgm:pt modelId="{8F78CA2B-CC72-5048-B31F-4E8DCD777F5D}" type="pres">
      <dgm:prSet presAssocID="{C508AD2D-012D-2D47-9069-F7700A07DE13}" presName="sibTransLast" presStyleLbl="sibTrans2D1" presStyleIdx="1" presStyleCnt="2"/>
      <dgm:spPr/>
    </dgm:pt>
    <dgm:pt modelId="{A954F38C-CCE7-9349-9656-3321BC7CE19D}" type="pres">
      <dgm:prSet presAssocID="{C508AD2D-012D-2D47-9069-F7700A07DE13}" presName="connectorText" presStyleLbl="sibTrans2D1" presStyleIdx="1" presStyleCnt="2"/>
      <dgm:spPr/>
    </dgm:pt>
    <dgm:pt modelId="{47D8662F-00E3-934E-9854-E8AF67628D3F}" type="pres">
      <dgm:prSet presAssocID="{C508AD2D-012D-2D47-9069-F7700A07DE13}" presName="lastNode" presStyleLbl="node1" presStyleIdx="2" presStyleCnt="3">
        <dgm:presLayoutVars>
          <dgm:bulletEnabled val="1"/>
        </dgm:presLayoutVars>
      </dgm:prSet>
      <dgm:spPr/>
    </dgm:pt>
  </dgm:ptLst>
  <dgm:cxnLst>
    <dgm:cxn modelId="{C7A25021-3E52-0F49-B343-B99CE4D6ECE5}" type="presOf" srcId="{C508AD2D-012D-2D47-9069-F7700A07DE13}" destId="{94DD1639-E257-2842-AD74-C153F1B8C810}" srcOrd="0" destOrd="0" presId="urn:microsoft.com/office/officeart/2005/8/layout/equation2"/>
    <dgm:cxn modelId="{EEF62535-D020-674D-A6D8-FB325A1BD871}" srcId="{C508AD2D-012D-2D47-9069-F7700A07DE13}" destId="{F543EB70-4841-4542-A031-BB0AB569E9A3}" srcOrd="0" destOrd="0" parTransId="{14CACDAA-4AF8-CA44-BD42-BF8D60D6F0B2}" sibTransId="{A236DCE8-DE21-C047-9CB9-40A50A36F8A7}"/>
    <dgm:cxn modelId="{4D8EEA5E-AB0A-E043-8AA3-6E2C2B72EEA1}" srcId="{C508AD2D-012D-2D47-9069-F7700A07DE13}" destId="{BE855BE2-9B28-0C49-89B7-C4C55AEDDEC6}" srcOrd="1" destOrd="0" parTransId="{F133E819-A7B7-2644-A6C8-0EC2FE33D8CC}" sibTransId="{735BF82A-01C8-C042-809C-DF405C9A5E73}"/>
    <dgm:cxn modelId="{1438E65F-08BE-B444-8436-31116FB04102}" type="presOf" srcId="{F543EB70-4841-4542-A031-BB0AB569E9A3}" destId="{3C5F7258-08FA-1040-A74E-D0C04C8688B4}" srcOrd="0" destOrd="0" presId="urn:microsoft.com/office/officeart/2005/8/layout/equation2"/>
    <dgm:cxn modelId="{CB6CD871-7C43-0D42-91C2-C4FC2E021CBE}" type="presOf" srcId="{735BF82A-01C8-C042-809C-DF405C9A5E73}" destId="{A954F38C-CCE7-9349-9656-3321BC7CE19D}" srcOrd="1" destOrd="0" presId="urn:microsoft.com/office/officeart/2005/8/layout/equation2"/>
    <dgm:cxn modelId="{532AB594-F2FD-B44B-ACD0-F1DEDE4FD04B}" srcId="{C508AD2D-012D-2D47-9069-F7700A07DE13}" destId="{A5F49F74-E9B3-064C-BC69-6946661B1F6F}" srcOrd="2" destOrd="0" parTransId="{35B45D65-26CE-AB42-AD41-A7343AD5AE13}" sibTransId="{498A28CF-01A1-7744-97AC-780105FE0B75}"/>
    <dgm:cxn modelId="{C03B15A0-AC03-7146-AA0B-01C371237179}" type="presOf" srcId="{735BF82A-01C8-C042-809C-DF405C9A5E73}" destId="{8F78CA2B-CC72-5048-B31F-4E8DCD777F5D}" srcOrd="0" destOrd="0" presId="urn:microsoft.com/office/officeart/2005/8/layout/equation2"/>
    <dgm:cxn modelId="{3C59E7C0-13E8-F24D-8F48-5CEB0C35B81E}" type="presOf" srcId="{A5F49F74-E9B3-064C-BC69-6946661B1F6F}" destId="{47D8662F-00E3-934E-9854-E8AF67628D3F}" srcOrd="0" destOrd="0" presId="urn:microsoft.com/office/officeart/2005/8/layout/equation2"/>
    <dgm:cxn modelId="{6F9730D4-6A5B-2B4D-A04C-C2F06B9B8FC2}" type="presOf" srcId="{A236DCE8-DE21-C047-9CB9-40A50A36F8A7}" destId="{185BE288-8DE2-2941-B586-1DAED122519B}" srcOrd="0" destOrd="0" presId="urn:microsoft.com/office/officeart/2005/8/layout/equation2"/>
    <dgm:cxn modelId="{F4F2D9F2-C8F6-984F-8A1C-5D9622935AA9}" type="presOf" srcId="{BE855BE2-9B28-0C49-89B7-C4C55AEDDEC6}" destId="{AD15737E-2C26-EC44-A2D6-57B0B258D6DD}" srcOrd="0" destOrd="0" presId="urn:microsoft.com/office/officeart/2005/8/layout/equation2"/>
    <dgm:cxn modelId="{D7132A6A-FE8C-B343-8F86-FC29810510A7}" type="presParOf" srcId="{94DD1639-E257-2842-AD74-C153F1B8C810}" destId="{5A2F74FD-4CCB-4949-A699-378020C6748D}" srcOrd="0" destOrd="0" presId="urn:microsoft.com/office/officeart/2005/8/layout/equation2"/>
    <dgm:cxn modelId="{41D930E9-B8F9-FC48-A88F-89525D9FD142}" type="presParOf" srcId="{5A2F74FD-4CCB-4949-A699-378020C6748D}" destId="{3C5F7258-08FA-1040-A74E-D0C04C8688B4}" srcOrd="0" destOrd="0" presId="urn:microsoft.com/office/officeart/2005/8/layout/equation2"/>
    <dgm:cxn modelId="{0CDBCC4C-34CE-AF4F-B728-DD36A1408B76}" type="presParOf" srcId="{5A2F74FD-4CCB-4949-A699-378020C6748D}" destId="{49C3DE19-1F6A-C847-A2D1-54B8B54CA7F3}" srcOrd="1" destOrd="0" presId="urn:microsoft.com/office/officeart/2005/8/layout/equation2"/>
    <dgm:cxn modelId="{3F491189-6358-E043-82EA-60331F8C54C7}" type="presParOf" srcId="{5A2F74FD-4CCB-4949-A699-378020C6748D}" destId="{185BE288-8DE2-2941-B586-1DAED122519B}" srcOrd="2" destOrd="0" presId="urn:microsoft.com/office/officeart/2005/8/layout/equation2"/>
    <dgm:cxn modelId="{099105C2-787C-3E41-A12D-7061248E5758}" type="presParOf" srcId="{5A2F74FD-4CCB-4949-A699-378020C6748D}" destId="{C200C67E-7C7D-2646-9ED4-F98A5FDF1D85}" srcOrd="3" destOrd="0" presId="urn:microsoft.com/office/officeart/2005/8/layout/equation2"/>
    <dgm:cxn modelId="{C77A7EE5-A196-EA45-9092-4A953A3CCA94}" type="presParOf" srcId="{5A2F74FD-4CCB-4949-A699-378020C6748D}" destId="{AD15737E-2C26-EC44-A2D6-57B0B258D6DD}" srcOrd="4" destOrd="0" presId="urn:microsoft.com/office/officeart/2005/8/layout/equation2"/>
    <dgm:cxn modelId="{18344BD5-B893-8A49-99DA-42461E12A71C}" type="presParOf" srcId="{94DD1639-E257-2842-AD74-C153F1B8C810}" destId="{8F78CA2B-CC72-5048-B31F-4E8DCD777F5D}" srcOrd="1" destOrd="0" presId="urn:microsoft.com/office/officeart/2005/8/layout/equation2"/>
    <dgm:cxn modelId="{CE600631-3BF3-A54A-8891-3161100015C8}" type="presParOf" srcId="{8F78CA2B-CC72-5048-B31F-4E8DCD777F5D}" destId="{A954F38C-CCE7-9349-9656-3321BC7CE19D}" srcOrd="0" destOrd="0" presId="urn:microsoft.com/office/officeart/2005/8/layout/equation2"/>
    <dgm:cxn modelId="{B7AEFF1F-1C07-2346-BB6C-7007DD93A315}" type="presParOf" srcId="{94DD1639-E257-2842-AD74-C153F1B8C810}" destId="{47D8662F-00E3-934E-9854-E8AF67628D3F}"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3CB8528-3312-0F4A-8A89-373942C868D3}" type="doc">
      <dgm:prSet loTypeId="urn:microsoft.com/office/officeart/2009/3/layout/PlusandMinus" loCatId="" qsTypeId="urn:microsoft.com/office/officeart/2005/8/quickstyle/simple1" qsCatId="simple" csTypeId="urn:microsoft.com/office/officeart/2005/8/colors/accent1_2" csCatId="accent1" phldr="1"/>
      <dgm:spPr/>
      <dgm:t>
        <a:bodyPr/>
        <a:lstStyle/>
        <a:p>
          <a:endParaRPr lang="en-US"/>
        </a:p>
      </dgm:t>
    </dgm:pt>
    <dgm:pt modelId="{59AEAE3A-CA28-8A40-A0AC-DDC8C41553EC}">
      <dgm:prSet phldrT="[Text]"/>
      <dgm:spPr/>
      <dgm:t>
        <a:bodyPr/>
        <a:lstStyle/>
        <a:p>
          <a:r>
            <a:rPr lang="en-US" dirty="0"/>
            <a:t>Simulation Reached Convergence after 1000 iterations</a:t>
          </a:r>
        </a:p>
      </dgm:t>
    </dgm:pt>
    <dgm:pt modelId="{3B8BA467-7C90-3B40-A3F5-3222626C8DB4}" type="parTrans" cxnId="{6D7DD6D9-0B17-F743-A108-6592A7039764}">
      <dgm:prSet/>
      <dgm:spPr/>
      <dgm:t>
        <a:bodyPr/>
        <a:lstStyle/>
        <a:p>
          <a:endParaRPr lang="en-US"/>
        </a:p>
      </dgm:t>
    </dgm:pt>
    <dgm:pt modelId="{61C15586-3F0D-FD44-8BDD-804829C61DCD}" type="sibTrans" cxnId="{6D7DD6D9-0B17-F743-A108-6592A7039764}">
      <dgm:prSet/>
      <dgm:spPr/>
      <dgm:t>
        <a:bodyPr/>
        <a:lstStyle/>
        <a:p>
          <a:endParaRPr lang="en-US"/>
        </a:p>
      </dgm:t>
    </dgm:pt>
    <dgm:pt modelId="{43CA1A59-E0EF-A942-82E1-3F0EF014D72A}">
      <dgm:prSet phldrT="[Text]"/>
      <dgm:spPr/>
      <dgm:t>
        <a:bodyPr/>
        <a:lstStyle/>
        <a:p>
          <a:r>
            <a:rPr lang="en-US" dirty="0"/>
            <a:t>Computationally Hungry, hence 2.6M rows had to be reduced to 10K only.</a:t>
          </a:r>
        </a:p>
      </dgm:t>
    </dgm:pt>
    <dgm:pt modelId="{4323E3BC-F2F1-E24B-A12F-721880802E14}" type="parTrans" cxnId="{191AA606-E183-1D4A-A1E1-408E456DF450}">
      <dgm:prSet/>
      <dgm:spPr/>
      <dgm:t>
        <a:bodyPr/>
        <a:lstStyle/>
        <a:p>
          <a:endParaRPr lang="en-US"/>
        </a:p>
      </dgm:t>
    </dgm:pt>
    <dgm:pt modelId="{83AA7A3A-BF7D-A345-9821-F7EF91EFF416}" type="sibTrans" cxnId="{191AA606-E183-1D4A-A1E1-408E456DF450}">
      <dgm:prSet/>
      <dgm:spPr/>
      <dgm:t>
        <a:bodyPr/>
        <a:lstStyle/>
        <a:p>
          <a:endParaRPr lang="en-US"/>
        </a:p>
      </dgm:t>
    </dgm:pt>
    <dgm:pt modelId="{2B717899-D663-2346-8B14-B6E65B76441A}" type="pres">
      <dgm:prSet presAssocID="{73CB8528-3312-0F4A-8A89-373942C868D3}" presName="Name0" presStyleCnt="0">
        <dgm:presLayoutVars>
          <dgm:chMax val="2"/>
          <dgm:chPref val="2"/>
          <dgm:dir/>
          <dgm:animOne/>
          <dgm:resizeHandles val="exact"/>
        </dgm:presLayoutVars>
      </dgm:prSet>
      <dgm:spPr/>
    </dgm:pt>
    <dgm:pt modelId="{BE46B8DE-1060-E74B-BAB9-D12169FFA6DB}" type="pres">
      <dgm:prSet presAssocID="{73CB8528-3312-0F4A-8A89-373942C868D3}" presName="Background" presStyleLbl="bgImgPlace1" presStyleIdx="0" presStyleCnt="1"/>
      <dgm:spPr/>
    </dgm:pt>
    <dgm:pt modelId="{1AEC79EF-84BA-3242-AC33-CD9CBA5BEB64}" type="pres">
      <dgm:prSet presAssocID="{73CB8528-3312-0F4A-8A89-373942C868D3}" presName="ParentText1" presStyleLbl="revTx" presStyleIdx="0" presStyleCnt="2">
        <dgm:presLayoutVars>
          <dgm:chMax val="0"/>
          <dgm:chPref val="0"/>
          <dgm:bulletEnabled val="1"/>
        </dgm:presLayoutVars>
      </dgm:prSet>
      <dgm:spPr/>
    </dgm:pt>
    <dgm:pt modelId="{4E0775CC-EE68-1C43-8C1E-2F899E2EAD4D}" type="pres">
      <dgm:prSet presAssocID="{73CB8528-3312-0F4A-8A89-373942C868D3}" presName="ParentText2" presStyleLbl="revTx" presStyleIdx="1" presStyleCnt="2">
        <dgm:presLayoutVars>
          <dgm:chMax val="0"/>
          <dgm:chPref val="0"/>
          <dgm:bulletEnabled val="1"/>
        </dgm:presLayoutVars>
      </dgm:prSet>
      <dgm:spPr/>
    </dgm:pt>
    <dgm:pt modelId="{6C9EF804-7A6E-9F4E-8705-AEC754F6CBFA}" type="pres">
      <dgm:prSet presAssocID="{73CB8528-3312-0F4A-8A89-373942C868D3}" presName="Plus" presStyleLbl="alignNode1" presStyleIdx="0" presStyleCnt="2"/>
      <dgm:spPr/>
    </dgm:pt>
    <dgm:pt modelId="{AC0BA597-8476-DE48-80AC-81941C08224E}" type="pres">
      <dgm:prSet presAssocID="{73CB8528-3312-0F4A-8A89-373942C868D3}" presName="Minus" presStyleLbl="alignNode1" presStyleIdx="1" presStyleCnt="2"/>
      <dgm:spPr/>
    </dgm:pt>
    <dgm:pt modelId="{1ED96B67-8A9A-F34B-A123-2A029C019AA4}" type="pres">
      <dgm:prSet presAssocID="{73CB8528-3312-0F4A-8A89-373942C868D3}" presName="Divider" presStyleLbl="parChTrans1D1" presStyleIdx="0" presStyleCnt="1"/>
      <dgm:spPr/>
    </dgm:pt>
  </dgm:ptLst>
  <dgm:cxnLst>
    <dgm:cxn modelId="{191AA606-E183-1D4A-A1E1-408E456DF450}" srcId="{73CB8528-3312-0F4A-8A89-373942C868D3}" destId="{43CA1A59-E0EF-A942-82E1-3F0EF014D72A}" srcOrd="1" destOrd="0" parTransId="{4323E3BC-F2F1-E24B-A12F-721880802E14}" sibTransId="{83AA7A3A-BF7D-A345-9821-F7EF91EFF416}"/>
    <dgm:cxn modelId="{B9600837-AE8D-4B4E-B309-59B2F68B9C8E}" type="presOf" srcId="{73CB8528-3312-0F4A-8A89-373942C868D3}" destId="{2B717899-D663-2346-8B14-B6E65B76441A}" srcOrd="0" destOrd="0" presId="urn:microsoft.com/office/officeart/2009/3/layout/PlusandMinus"/>
    <dgm:cxn modelId="{6BDD287E-A9B8-1C45-BC40-E1533D8CB82E}" type="presOf" srcId="{43CA1A59-E0EF-A942-82E1-3F0EF014D72A}" destId="{4E0775CC-EE68-1C43-8C1E-2F899E2EAD4D}" srcOrd="0" destOrd="0" presId="urn:microsoft.com/office/officeart/2009/3/layout/PlusandMinus"/>
    <dgm:cxn modelId="{58A513CF-61ED-B24C-A105-8635B00E8703}" type="presOf" srcId="{59AEAE3A-CA28-8A40-A0AC-DDC8C41553EC}" destId="{1AEC79EF-84BA-3242-AC33-CD9CBA5BEB64}" srcOrd="0" destOrd="0" presId="urn:microsoft.com/office/officeart/2009/3/layout/PlusandMinus"/>
    <dgm:cxn modelId="{6D7DD6D9-0B17-F743-A108-6592A7039764}" srcId="{73CB8528-3312-0F4A-8A89-373942C868D3}" destId="{59AEAE3A-CA28-8A40-A0AC-DDC8C41553EC}" srcOrd="0" destOrd="0" parTransId="{3B8BA467-7C90-3B40-A3F5-3222626C8DB4}" sibTransId="{61C15586-3F0D-FD44-8BDD-804829C61DCD}"/>
    <dgm:cxn modelId="{605DDAC7-3F94-534D-962D-821D812BCF92}" type="presParOf" srcId="{2B717899-D663-2346-8B14-B6E65B76441A}" destId="{BE46B8DE-1060-E74B-BAB9-D12169FFA6DB}" srcOrd="0" destOrd="0" presId="urn:microsoft.com/office/officeart/2009/3/layout/PlusandMinus"/>
    <dgm:cxn modelId="{297CE5DE-06BA-EE4A-942D-E8DA2D02F717}" type="presParOf" srcId="{2B717899-D663-2346-8B14-B6E65B76441A}" destId="{1AEC79EF-84BA-3242-AC33-CD9CBA5BEB64}" srcOrd="1" destOrd="0" presId="urn:microsoft.com/office/officeart/2009/3/layout/PlusandMinus"/>
    <dgm:cxn modelId="{36044454-2A22-0A4D-B5E6-78215EBC51AD}" type="presParOf" srcId="{2B717899-D663-2346-8B14-B6E65B76441A}" destId="{4E0775CC-EE68-1C43-8C1E-2F899E2EAD4D}" srcOrd="2" destOrd="0" presId="urn:microsoft.com/office/officeart/2009/3/layout/PlusandMinus"/>
    <dgm:cxn modelId="{E1746D4F-A850-A447-A446-3C2174DB5423}" type="presParOf" srcId="{2B717899-D663-2346-8B14-B6E65B76441A}" destId="{6C9EF804-7A6E-9F4E-8705-AEC754F6CBFA}" srcOrd="3" destOrd="0" presId="urn:microsoft.com/office/officeart/2009/3/layout/PlusandMinus"/>
    <dgm:cxn modelId="{B0C53CA0-32BC-A74C-A36C-8381DA98E568}" type="presParOf" srcId="{2B717899-D663-2346-8B14-B6E65B76441A}" destId="{AC0BA597-8476-DE48-80AC-81941C08224E}" srcOrd="4" destOrd="0" presId="urn:microsoft.com/office/officeart/2009/3/layout/PlusandMinus"/>
    <dgm:cxn modelId="{9608FE3A-CDC7-DF47-89BD-4FD8C4FEF237}" type="presParOf" srcId="{2B717899-D663-2346-8B14-B6E65B76441A}" destId="{1ED96B67-8A9A-F34B-A123-2A029C019AA4}" srcOrd="5" destOrd="0" presId="urn:microsoft.com/office/officeart/2009/3/layout/PlusandMinu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42EF83A-52B7-40EE-9652-EC9DF0335128}"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6C1F446-0AF7-4235-A82E-1EF661715300}">
      <dgm:prSet custT="1"/>
      <dgm:spPr/>
      <dgm:t>
        <a:bodyPr/>
        <a:lstStyle/>
        <a:p>
          <a:pPr>
            <a:defRPr cap="all"/>
          </a:pPr>
          <a:r>
            <a:rPr lang="en-US" sz="2000" b="1" dirty="0"/>
            <a:t>Data with outliers</a:t>
          </a:r>
          <a:br>
            <a:rPr lang="en-US" sz="1100" dirty="0"/>
          </a:br>
          <a:r>
            <a:rPr lang="en-US" sz="1100" dirty="0"/>
            <a:t>Capped at 99</a:t>
          </a:r>
          <a:r>
            <a:rPr lang="en-US" sz="1100" baseline="30000" dirty="0"/>
            <a:t>th</a:t>
          </a:r>
          <a:r>
            <a:rPr lang="en-US" sz="1100" dirty="0"/>
            <a:t> percentile, rows with outliers removed.</a:t>
          </a:r>
          <a:br>
            <a:rPr lang="en-US" sz="1100" dirty="0"/>
          </a:br>
          <a:r>
            <a:rPr lang="en-US" sz="1100" dirty="0"/>
            <a:t>Imputation may introduce bias, since target is already synthetic</a:t>
          </a:r>
        </a:p>
      </dgm:t>
    </dgm:pt>
    <dgm:pt modelId="{829A77BA-A89C-4E4D-8FA9-EC5EC4B512CE}" type="parTrans" cxnId="{50B47DC8-DEA6-4A0E-8E59-CE7BE458A6E3}">
      <dgm:prSet/>
      <dgm:spPr/>
      <dgm:t>
        <a:bodyPr/>
        <a:lstStyle/>
        <a:p>
          <a:endParaRPr lang="en-US"/>
        </a:p>
      </dgm:t>
    </dgm:pt>
    <dgm:pt modelId="{22B0E0BC-7F18-475F-A9DD-CA49429A6260}" type="sibTrans" cxnId="{50B47DC8-DEA6-4A0E-8E59-CE7BE458A6E3}">
      <dgm:prSet/>
      <dgm:spPr/>
      <dgm:t>
        <a:bodyPr/>
        <a:lstStyle/>
        <a:p>
          <a:endParaRPr lang="en-US"/>
        </a:p>
      </dgm:t>
    </dgm:pt>
    <dgm:pt modelId="{693EF79A-53E1-4084-B3E6-3C24D9BEB1A3}">
      <dgm:prSet custT="1"/>
      <dgm:spPr/>
      <dgm:t>
        <a:bodyPr/>
        <a:lstStyle/>
        <a:p>
          <a:pPr>
            <a:defRPr cap="all"/>
          </a:pPr>
          <a:r>
            <a:rPr lang="en-US" sz="1800" b="1" dirty="0"/>
            <a:t>Metadata</a:t>
          </a:r>
          <a:br>
            <a:rPr lang="en-US" sz="1200" dirty="0"/>
          </a:br>
          <a:r>
            <a:rPr lang="en-US" sz="1200" dirty="0"/>
            <a:t>Entirely removed (like LMK_KEY, </a:t>
          </a:r>
          <a:r>
            <a:rPr lang="en-US" sz="1200" dirty="0" err="1"/>
            <a:t>Lodgement</a:t>
          </a:r>
          <a:r>
            <a:rPr lang="en-US" sz="1200" dirty="0"/>
            <a:t> Date etc.)</a:t>
          </a:r>
        </a:p>
      </dgm:t>
    </dgm:pt>
    <dgm:pt modelId="{8A506EB3-B3D3-4EE4-9438-1CDE3BE5C7FB}" type="parTrans" cxnId="{BC36C875-3DE9-41AB-AEB5-F6136BDB5C67}">
      <dgm:prSet/>
      <dgm:spPr/>
      <dgm:t>
        <a:bodyPr/>
        <a:lstStyle/>
        <a:p>
          <a:endParaRPr lang="en-US"/>
        </a:p>
      </dgm:t>
    </dgm:pt>
    <dgm:pt modelId="{6E04636E-6675-47B6-AE18-2AFFD910AC64}" type="sibTrans" cxnId="{BC36C875-3DE9-41AB-AEB5-F6136BDB5C67}">
      <dgm:prSet/>
      <dgm:spPr/>
      <dgm:t>
        <a:bodyPr/>
        <a:lstStyle/>
        <a:p>
          <a:endParaRPr lang="en-US"/>
        </a:p>
      </dgm:t>
    </dgm:pt>
    <dgm:pt modelId="{796F0EE6-2BD1-44F4-9B41-A05F42DA4C4B}">
      <dgm:prSet custT="1"/>
      <dgm:spPr/>
      <dgm:t>
        <a:bodyPr/>
        <a:lstStyle/>
        <a:p>
          <a:pPr>
            <a:defRPr cap="all"/>
          </a:pPr>
          <a:r>
            <a:rPr lang="en-US" sz="1800" b="1" dirty="0"/>
            <a:t>Derived features</a:t>
          </a:r>
          <a:br>
            <a:rPr lang="en-US" sz="1200" dirty="0"/>
          </a:br>
          <a:r>
            <a:rPr lang="en-US" sz="1200" dirty="0"/>
            <a:t>Removed if they have low variation (hence, very little signal) unless highly relevant or multiplicative in practice</a:t>
          </a:r>
        </a:p>
      </dgm:t>
    </dgm:pt>
    <dgm:pt modelId="{BD970DEB-5931-4668-B677-AA785DCD83B1}" type="parTrans" cxnId="{67D3D82E-FACA-4541-89F4-E6ADE0A239AA}">
      <dgm:prSet/>
      <dgm:spPr/>
      <dgm:t>
        <a:bodyPr/>
        <a:lstStyle/>
        <a:p>
          <a:endParaRPr lang="en-US"/>
        </a:p>
      </dgm:t>
    </dgm:pt>
    <dgm:pt modelId="{9243B030-A92D-4DBE-940F-C125FB4E2417}" type="sibTrans" cxnId="{67D3D82E-FACA-4541-89F4-E6ADE0A239AA}">
      <dgm:prSet/>
      <dgm:spPr/>
      <dgm:t>
        <a:bodyPr/>
        <a:lstStyle/>
        <a:p>
          <a:endParaRPr lang="en-US"/>
        </a:p>
      </dgm:t>
    </dgm:pt>
    <dgm:pt modelId="{EB1BCE16-9315-468A-8715-21A5A991E438}" type="pres">
      <dgm:prSet presAssocID="{A42EF83A-52B7-40EE-9652-EC9DF0335128}" presName="root" presStyleCnt="0">
        <dgm:presLayoutVars>
          <dgm:dir/>
          <dgm:resizeHandles val="exact"/>
        </dgm:presLayoutVars>
      </dgm:prSet>
      <dgm:spPr/>
    </dgm:pt>
    <dgm:pt modelId="{FDC82BC1-1021-4489-A6AB-F59F504DDD53}" type="pres">
      <dgm:prSet presAssocID="{26C1F446-0AF7-4235-A82E-1EF661715300}" presName="compNode" presStyleCnt="0"/>
      <dgm:spPr/>
    </dgm:pt>
    <dgm:pt modelId="{D0F08AC6-BBB7-4F29-B458-AFF16ACEED47}" type="pres">
      <dgm:prSet presAssocID="{26C1F446-0AF7-4235-A82E-1EF661715300}" presName="iconBgRect" presStyleLbl="bgShp" presStyleIdx="0" presStyleCnt="3"/>
      <dgm:spPr/>
    </dgm:pt>
    <dgm:pt modelId="{197999AD-2AA5-419B-8C95-CAD7DBECBE11}" type="pres">
      <dgm:prSet presAssocID="{26C1F446-0AF7-4235-A82E-1EF66171530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E5442FF1-AFB0-470E-9B7D-B1D5876466B6}" type="pres">
      <dgm:prSet presAssocID="{26C1F446-0AF7-4235-A82E-1EF661715300}" presName="spaceRect" presStyleCnt="0"/>
      <dgm:spPr/>
    </dgm:pt>
    <dgm:pt modelId="{5309BC79-855F-470F-9810-460EEF7116C4}" type="pres">
      <dgm:prSet presAssocID="{26C1F446-0AF7-4235-A82E-1EF661715300}" presName="textRect" presStyleLbl="revTx" presStyleIdx="0" presStyleCnt="3">
        <dgm:presLayoutVars>
          <dgm:chMax val="1"/>
          <dgm:chPref val="1"/>
        </dgm:presLayoutVars>
      </dgm:prSet>
      <dgm:spPr/>
    </dgm:pt>
    <dgm:pt modelId="{A4DB1FBD-93CB-40E2-BB5D-A80860FFACE4}" type="pres">
      <dgm:prSet presAssocID="{22B0E0BC-7F18-475F-A9DD-CA49429A6260}" presName="sibTrans" presStyleCnt="0"/>
      <dgm:spPr/>
    </dgm:pt>
    <dgm:pt modelId="{19C3FC53-7125-4CB6-892B-A4F7D65E988E}" type="pres">
      <dgm:prSet presAssocID="{693EF79A-53E1-4084-B3E6-3C24D9BEB1A3}" presName="compNode" presStyleCnt="0"/>
      <dgm:spPr/>
    </dgm:pt>
    <dgm:pt modelId="{2711D165-FB45-4345-A45C-3F526F07FF11}" type="pres">
      <dgm:prSet presAssocID="{693EF79A-53E1-4084-B3E6-3C24D9BEB1A3}" presName="iconBgRect" presStyleLbl="bgShp" presStyleIdx="1" presStyleCnt="3"/>
      <dgm:spPr/>
    </dgm:pt>
    <dgm:pt modelId="{63F3CC78-BD1B-4457-A6B8-35733DF119A2}" type="pres">
      <dgm:prSet presAssocID="{693EF79A-53E1-4084-B3E6-3C24D9BEB1A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D8FE7653-E977-4516-B91D-71A0E7AB5273}" type="pres">
      <dgm:prSet presAssocID="{693EF79A-53E1-4084-B3E6-3C24D9BEB1A3}" presName="spaceRect" presStyleCnt="0"/>
      <dgm:spPr/>
    </dgm:pt>
    <dgm:pt modelId="{73E53E10-A5A4-47F1-A565-CBB874328C40}" type="pres">
      <dgm:prSet presAssocID="{693EF79A-53E1-4084-B3E6-3C24D9BEB1A3}" presName="textRect" presStyleLbl="revTx" presStyleIdx="1" presStyleCnt="3">
        <dgm:presLayoutVars>
          <dgm:chMax val="1"/>
          <dgm:chPref val="1"/>
        </dgm:presLayoutVars>
      </dgm:prSet>
      <dgm:spPr/>
    </dgm:pt>
    <dgm:pt modelId="{D3E7E5E5-7067-4F3D-8125-1F4A8258BE1D}" type="pres">
      <dgm:prSet presAssocID="{6E04636E-6675-47B6-AE18-2AFFD910AC64}" presName="sibTrans" presStyleCnt="0"/>
      <dgm:spPr/>
    </dgm:pt>
    <dgm:pt modelId="{DA6BBD84-C681-4FAD-BD4D-772D66110E5E}" type="pres">
      <dgm:prSet presAssocID="{796F0EE6-2BD1-44F4-9B41-A05F42DA4C4B}" presName="compNode" presStyleCnt="0"/>
      <dgm:spPr/>
    </dgm:pt>
    <dgm:pt modelId="{37F8A87F-A887-4539-BE8F-E642184AF804}" type="pres">
      <dgm:prSet presAssocID="{796F0EE6-2BD1-44F4-9B41-A05F42DA4C4B}" presName="iconBgRect" presStyleLbl="bgShp" presStyleIdx="2" presStyleCnt="3"/>
      <dgm:spPr/>
    </dgm:pt>
    <dgm:pt modelId="{9C2F8C71-D78D-4C42-8D1D-AC8D5C557262}" type="pres">
      <dgm:prSet presAssocID="{796F0EE6-2BD1-44F4-9B41-A05F42DA4C4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owchart"/>
        </a:ext>
      </dgm:extLst>
    </dgm:pt>
    <dgm:pt modelId="{CD0E49D3-9989-449C-96F9-F435DA0887AF}" type="pres">
      <dgm:prSet presAssocID="{796F0EE6-2BD1-44F4-9B41-A05F42DA4C4B}" presName="spaceRect" presStyleCnt="0"/>
      <dgm:spPr/>
    </dgm:pt>
    <dgm:pt modelId="{5C8DBE27-11E1-460A-B1A9-72244F408ACC}" type="pres">
      <dgm:prSet presAssocID="{796F0EE6-2BD1-44F4-9B41-A05F42DA4C4B}" presName="textRect" presStyleLbl="revTx" presStyleIdx="2" presStyleCnt="3">
        <dgm:presLayoutVars>
          <dgm:chMax val="1"/>
          <dgm:chPref val="1"/>
        </dgm:presLayoutVars>
      </dgm:prSet>
      <dgm:spPr/>
    </dgm:pt>
  </dgm:ptLst>
  <dgm:cxnLst>
    <dgm:cxn modelId="{67D3D82E-FACA-4541-89F4-E6ADE0A239AA}" srcId="{A42EF83A-52B7-40EE-9652-EC9DF0335128}" destId="{796F0EE6-2BD1-44F4-9B41-A05F42DA4C4B}" srcOrd="2" destOrd="0" parTransId="{BD970DEB-5931-4668-B677-AA785DCD83B1}" sibTransId="{9243B030-A92D-4DBE-940F-C125FB4E2417}"/>
    <dgm:cxn modelId="{97AE363B-09C2-45A0-9A9E-75971295BD22}" type="presOf" srcId="{26C1F446-0AF7-4235-A82E-1EF661715300}" destId="{5309BC79-855F-470F-9810-460EEF7116C4}" srcOrd="0" destOrd="0" presId="urn:microsoft.com/office/officeart/2018/5/layout/IconCircleLabelList"/>
    <dgm:cxn modelId="{3E58DF6D-1F8C-46A1-9522-1734E0B40916}" type="presOf" srcId="{693EF79A-53E1-4084-B3E6-3C24D9BEB1A3}" destId="{73E53E10-A5A4-47F1-A565-CBB874328C40}" srcOrd="0" destOrd="0" presId="urn:microsoft.com/office/officeart/2018/5/layout/IconCircleLabelList"/>
    <dgm:cxn modelId="{BC36C875-3DE9-41AB-AEB5-F6136BDB5C67}" srcId="{A42EF83A-52B7-40EE-9652-EC9DF0335128}" destId="{693EF79A-53E1-4084-B3E6-3C24D9BEB1A3}" srcOrd="1" destOrd="0" parTransId="{8A506EB3-B3D3-4EE4-9438-1CDE3BE5C7FB}" sibTransId="{6E04636E-6675-47B6-AE18-2AFFD910AC64}"/>
    <dgm:cxn modelId="{50B47DC8-DEA6-4A0E-8E59-CE7BE458A6E3}" srcId="{A42EF83A-52B7-40EE-9652-EC9DF0335128}" destId="{26C1F446-0AF7-4235-A82E-1EF661715300}" srcOrd="0" destOrd="0" parTransId="{829A77BA-A89C-4E4D-8FA9-EC5EC4B512CE}" sibTransId="{22B0E0BC-7F18-475F-A9DD-CA49429A6260}"/>
    <dgm:cxn modelId="{E73F5EE6-67B6-4CE5-BB24-A071BCC1E525}" type="presOf" srcId="{A42EF83A-52B7-40EE-9652-EC9DF0335128}" destId="{EB1BCE16-9315-468A-8715-21A5A991E438}" srcOrd="0" destOrd="0" presId="urn:microsoft.com/office/officeart/2018/5/layout/IconCircleLabelList"/>
    <dgm:cxn modelId="{DA7B7FE6-A044-4108-B4D6-563A76250E88}" type="presOf" srcId="{796F0EE6-2BD1-44F4-9B41-A05F42DA4C4B}" destId="{5C8DBE27-11E1-460A-B1A9-72244F408ACC}" srcOrd="0" destOrd="0" presId="urn:microsoft.com/office/officeart/2018/5/layout/IconCircleLabelList"/>
    <dgm:cxn modelId="{C5FFB18A-576E-4E50-89FB-C1E9987B9568}" type="presParOf" srcId="{EB1BCE16-9315-468A-8715-21A5A991E438}" destId="{FDC82BC1-1021-4489-A6AB-F59F504DDD53}" srcOrd="0" destOrd="0" presId="urn:microsoft.com/office/officeart/2018/5/layout/IconCircleLabelList"/>
    <dgm:cxn modelId="{8B41ECF8-C297-4E79-94D9-8E6BF869DF6B}" type="presParOf" srcId="{FDC82BC1-1021-4489-A6AB-F59F504DDD53}" destId="{D0F08AC6-BBB7-4F29-B458-AFF16ACEED47}" srcOrd="0" destOrd="0" presId="urn:microsoft.com/office/officeart/2018/5/layout/IconCircleLabelList"/>
    <dgm:cxn modelId="{B772D7A2-EA28-4B88-9EB2-F7BD2876BB4F}" type="presParOf" srcId="{FDC82BC1-1021-4489-A6AB-F59F504DDD53}" destId="{197999AD-2AA5-419B-8C95-CAD7DBECBE11}" srcOrd="1" destOrd="0" presId="urn:microsoft.com/office/officeart/2018/5/layout/IconCircleLabelList"/>
    <dgm:cxn modelId="{B6CC35DF-138E-4724-90BF-62B7D08EDB9D}" type="presParOf" srcId="{FDC82BC1-1021-4489-A6AB-F59F504DDD53}" destId="{E5442FF1-AFB0-470E-9B7D-B1D5876466B6}" srcOrd="2" destOrd="0" presId="urn:microsoft.com/office/officeart/2018/5/layout/IconCircleLabelList"/>
    <dgm:cxn modelId="{EA6A6AE8-8D7E-4B62-A069-6B4C6EAF6E81}" type="presParOf" srcId="{FDC82BC1-1021-4489-A6AB-F59F504DDD53}" destId="{5309BC79-855F-470F-9810-460EEF7116C4}" srcOrd="3" destOrd="0" presId="urn:microsoft.com/office/officeart/2018/5/layout/IconCircleLabelList"/>
    <dgm:cxn modelId="{CCDA17D5-16F9-45FD-864E-8A8B8942AF5D}" type="presParOf" srcId="{EB1BCE16-9315-468A-8715-21A5A991E438}" destId="{A4DB1FBD-93CB-40E2-BB5D-A80860FFACE4}" srcOrd="1" destOrd="0" presId="urn:microsoft.com/office/officeart/2018/5/layout/IconCircleLabelList"/>
    <dgm:cxn modelId="{9B2EAD7C-7BA0-4848-AF6E-B728EA8267E5}" type="presParOf" srcId="{EB1BCE16-9315-468A-8715-21A5A991E438}" destId="{19C3FC53-7125-4CB6-892B-A4F7D65E988E}" srcOrd="2" destOrd="0" presId="urn:microsoft.com/office/officeart/2018/5/layout/IconCircleLabelList"/>
    <dgm:cxn modelId="{230A3C0E-C452-47DD-888E-D9C411DB4D79}" type="presParOf" srcId="{19C3FC53-7125-4CB6-892B-A4F7D65E988E}" destId="{2711D165-FB45-4345-A45C-3F526F07FF11}" srcOrd="0" destOrd="0" presId="urn:microsoft.com/office/officeart/2018/5/layout/IconCircleLabelList"/>
    <dgm:cxn modelId="{DC77FDD9-AFE7-4313-BC50-30A25F05F62D}" type="presParOf" srcId="{19C3FC53-7125-4CB6-892B-A4F7D65E988E}" destId="{63F3CC78-BD1B-4457-A6B8-35733DF119A2}" srcOrd="1" destOrd="0" presId="urn:microsoft.com/office/officeart/2018/5/layout/IconCircleLabelList"/>
    <dgm:cxn modelId="{0FDE8BBF-7275-43A9-BE03-3A7052465A50}" type="presParOf" srcId="{19C3FC53-7125-4CB6-892B-A4F7D65E988E}" destId="{D8FE7653-E977-4516-B91D-71A0E7AB5273}" srcOrd="2" destOrd="0" presId="urn:microsoft.com/office/officeart/2018/5/layout/IconCircleLabelList"/>
    <dgm:cxn modelId="{ED18B9F6-8C99-4BC2-8676-DCA99A39704F}" type="presParOf" srcId="{19C3FC53-7125-4CB6-892B-A4F7D65E988E}" destId="{73E53E10-A5A4-47F1-A565-CBB874328C40}" srcOrd="3" destOrd="0" presId="urn:microsoft.com/office/officeart/2018/5/layout/IconCircleLabelList"/>
    <dgm:cxn modelId="{639D2077-0192-4C9E-BB46-C903A3DFA78A}" type="presParOf" srcId="{EB1BCE16-9315-468A-8715-21A5A991E438}" destId="{D3E7E5E5-7067-4F3D-8125-1F4A8258BE1D}" srcOrd="3" destOrd="0" presId="urn:microsoft.com/office/officeart/2018/5/layout/IconCircleLabelList"/>
    <dgm:cxn modelId="{BDD7ACA2-6EA4-4850-B5C6-8DFB11D09492}" type="presParOf" srcId="{EB1BCE16-9315-468A-8715-21A5A991E438}" destId="{DA6BBD84-C681-4FAD-BD4D-772D66110E5E}" srcOrd="4" destOrd="0" presId="urn:microsoft.com/office/officeart/2018/5/layout/IconCircleLabelList"/>
    <dgm:cxn modelId="{AB219890-2504-457A-9409-A11BE74E7E51}" type="presParOf" srcId="{DA6BBD84-C681-4FAD-BD4D-772D66110E5E}" destId="{37F8A87F-A887-4539-BE8F-E642184AF804}" srcOrd="0" destOrd="0" presId="urn:microsoft.com/office/officeart/2018/5/layout/IconCircleLabelList"/>
    <dgm:cxn modelId="{B7052077-D4C1-4489-A21D-8359FD34FB9F}" type="presParOf" srcId="{DA6BBD84-C681-4FAD-BD4D-772D66110E5E}" destId="{9C2F8C71-D78D-4C42-8D1D-AC8D5C557262}" srcOrd="1" destOrd="0" presId="urn:microsoft.com/office/officeart/2018/5/layout/IconCircleLabelList"/>
    <dgm:cxn modelId="{ED11CF6E-9698-4D0C-AC14-1999AABAEF3B}" type="presParOf" srcId="{DA6BBD84-C681-4FAD-BD4D-772D66110E5E}" destId="{CD0E49D3-9989-449C-96F9-F435DA0887AF}" srcOrd="2" destOrd="0" presId="urn:microsoft.com/office/officeart/2018/5/layout/IconCircleLabelList"/>
    <dgm:cxn modelId="{96E18CBB-B3A7-4586-9BE0-22A43CFC5C67}" type="presParOf" srcId="{DA6BBD84-C681-4FAD-BD4D-772D66110E5E}" destId="{5C8DBE27-11E1-460A-B1A9-72244F408ACC}"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237BBBF-1A66-6B40-9AB7-0FCB2007DF32}" type="doc">
      <dgm:prSet loTypeId="urn:microsoft.com/office/officeart/2005/8/layout/arrow1" loCatId="" qsTypeId="urn:microsoft.com/office/officeart/2005/8/quickstyle/simple1" qsCatId="simple" csTypeId="urn:microsoft.com/office/officeart/2005/8/colors/accent1_2" csCatId="accent1" phldr="1"/>
      <dgm:spPr/>
      <dgm:t>
        <a:bodyPr/>
        <a:lstStyle/>
        <a:p>
          <a:endParaRPr lang="en-US"/>
        </a:p>
      </dgm:t>
    </dgm:pt>
    <dgm:pt modelId="{867A3A51-E17A-DF46-99A7-B15BA034E914}">
      <dgm:prSet phldrT="[Text]"/>
      <dgm:spPr/>
      <dgm:t>
        <a:bodyPr/>
        <a:lstStyle/>
        <a:p>
          <a:r>
            <a:rPr lang="en-US" dirty="0"/>
            <a:t>Evaluation</a:t>
          </a:r>
        </a:p>
      </dgm:t>
    </dgm:pt>
    <dgm:pt modelId="{8FFE09D7-3438-2A4C-9326-AE566F954735}" type="parTrans" cxnId="{F744BAEB-3D06-AC4D-8FD8-26374030DBBE}">
      <dgm:prSet/>
      <dgm:spPr/>
      <dgm:t>
        <a:bodyPr/>
        <a:lstStyle/>
        <a:p>
          <a:endParaRPr lang="en-US"/>
        </a:p>
      </dgm:t>
    </dgm:pt>
    <dgm:pt modelId="{9BAD2787-FFFA-704C-9885-2BF1BAA15671}" type="sibTrans" cxnId="{F744BAEB-3D06-AC4D-8FD8-26374030DBBE}">
      <dgm:prSet/>
      <dgm:spPr/>
      <dgm:t>
        <a:bodyPr/>
        <a:lstStyle/>
        <a:p>
          <a:endParaRPr lang="en-US"/>
        </a:p>
      </dgm:t>
    </dgm:pt>
    <dgm:pt modelId="{0FAC002A-3409-4A4A-973B-F249242F4050}">
      <dgm:prSet phldrT="[Text]"/>
      <dgm:spPr/>
      <dgm:t>
        <a:bodyPr/>
        <a:lstStyle/>
        <a:p>
          <a:r>
            <a:rPr lang="en-US" dirty="0"/>
            <a:t>Code Snippet</a:t>
          </a:r>
        </a:p>
      </dgm:t>
    </dgm:pt>
    <dgm:pt modelId="{A0B030AC-7F5E-2846-9CF1-6072402656AC}" type="parTrans" cxnId="{6EC5BDAB-CE2E-FD4C-A3D5-A2648684CEC0}">
      <dgm:prSet/>
      <dgm:spPr/>
      <dgm:t>
        <a:bodyPr/>
        <a:lstStyle/>
        <a:p>
          <a:endParaRPr lang="en-US"/>
        </a:p>
      </dgm:t>
    </dgm:pt>
    <dgm:pt modelId="{C443E2CE-C538-F342-A558-093F0E4B9041}" type="sibTrans" cxnId="{6EC5BDAB-CE2E-FD4C-A3D5-A2648684CEC0}">
      <dgm:prSet/>
      <dgm:spPr/>
      <dgm:t>
        <a:bodyPr/>
        <a:lstStyle/>
        <a:p>
          <a:endParaRPr lang="en-US"/>
        </a:p>
      </dgm:t>
    </dgm:pt>
    <dgm:pt modelId="{6DBBB850-7340-3B4B-9BDF-92C83D291EDF}" type="pres">
      <dgm:prSet presAssocID="{A237BBBF-1A66-6B40-9AB7-0FCB2007DF32}" presName="cycle" presStyleCnt="0">
        <dgm:presLayoutVars>
          <dgm:dir/>
          <dgm:resizeHandles val="exact"/>
        </dgm:presLayoutVars>
      </dgm:prSet>
      <dgm:spPr/>
    </dgm:pt>
    <dgm:pt modelId="{219BF23C-C910-0441-8B2D-E7B148B06F9D}" type="pres">
      <dgm:prSet presAssocID="{867A3A51-E17A-DF46-99A7-B15BA034E914}" presName="arrow" presStyleLbl="node1" presStyleIdx="0" presStyleCnt="2">
        <dgm:presLayoutVars>
          <dgm:bulletEnabled val="1"/>
        </dgm:presLayoutVars>
      </dgm:prSet>
      <dgm:spPr/>
    </dgm:pt>
    <dgm:pt modelId="{2AAB57EA-0532-E34D-BD78-9A20A0DFF2F1}" type="pres">
      <dgm:prSet presAssocID="{0FAC002A-3409-4A4A-973B-F249242F4050}" presName="arrow" presStyleLbl="node1" presStyleIdx="1" presStyleCnt="2">
        <dgm:presLayoutVars>
          <dgm:bulletEnabled val="1"/>
        </dgm:presLayoutVars>
      </dgm:prSet>
      <dgm:spPr/>
    </dgm:pt>
  </dgm:ptLst>
  <dgm:cxnLst>
    <dgm:cxn modelId="{39F1AC0A-E2D6-8F42-BCCC-7D6CFE71A9A3}" type="presOf" srcId="{0FAC002A-3409-4A4A-973B-F249242F4050}" destId="{2AAB57EA-0532-E34D-BD78-9A20A0DFF2F1}" srcOrd="0" destOrd="0" presId="urn:microsoft.com/office/officeart/2005/8/layout/arrow1"/>
    <dgm:cxn modelId="{27FB7362-C113-234D-BAB9-B87B592E7624}" type="presOf" srcId="{867A3A51-E17A-DF46-99A7-B15BA034E914}" destId="{219BF23C-C910-0441-8B2D-E7B148B06F9D}" srcOrd="0" destOrd="0" presId="urn:microsoft.com/office/officeart/2005/8/layout/arrow1"/>
    <dgm:cxn modelId="{EAF4B079-BF43-664C-AF0A-DDA5B257AE28}" type="presOf" srcId="{A237BBBF-1A66-6B40-9AB7-0FCB2007DF32}" destId="{6DBBB850-7340-3B4B-9BDF-92C83D291EDF}" srcOrd="0" destOrd="0" presId="urn:microsoft.com/office/officeart/2005/8/layout/arrow1"/>
    <dgm:cxn modelId="{6EC5BDAB-CE2E-FD4C-A3D5-A2648684CEC0}" srcId="{A237BBBF-1A66-6B40-9AB7-0FCB2007DF32}" destId="{0FAC002A-3409-4A4A-973B-F249242F4050}" srcOrd="1" destOrd="0" parTransId="{A0B030AC-7F5E-2846-9CF1-6072402656AC}" sibTransId="{C443E2CE-C538-F342-A558-093F0E4B9041}"/>
    <dgm:cxn modelId="{F744BAEB-3D06-AC4D-8FD8-26374030DBBE}" srcId="{A237BBBF-1A66-6B40-9AB7-0FCB2007DF32}" destId="{867A3A51-E17A-DF46-99A7-B15BA034E914}" srcOrd="0" destOrd="0" parTransId="{8FFE09D7-3438-2A4C-9326-AE566F954735}" sibTransId="{9BAD2787-FFFA-704C-9885-2BF1BAA15671}"/>
    <dgm:cxn modelId="{DFBF128A-DD8F-D949-9133-A56908DFE51E}" type="presParOf" srcId="{6DBBB850-7340-3B4B-9BDF-92C83D291EDF}" destId="{219BF23C-C910-0441-8B2D-E7B148B06F9D}" srcOrd="0" destOrd="0" presId="urn:microsoft.com/office/officeart/2005/8/layout/arrow1"/>
    <dgm:cxn modelId="{1928EAC1-DB11-534F-8AB9-76100C510CB8}" type="presParOf" srcId="{6DBBB850-7340-3B4B-9BDF-92C83D291EDF}" destId="{2AAB57EA-0532-E34D-BD78-9A20A0DFF2F1}" srcOrd="1" destOrd="0" presId="urn:microsoft.com/office/officeart/2005/8/layout/arrow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237BBBF-1A66-6B40-9AB7-0FCB2007DF32}" type="doc">
      <dgm:prSet loTypeId="urn:microsoft.com/office/officeart/2005/8/layout/arrow1" loCatId="" qsTypeId="urn:microsoft.com/office/officeart/2005/8/quickstyle/simple1" qsCatId="simple" csTypeId="urn:microsoft.com/office/officeart/2005/8/colors/accent1_2" csCatId="accent1" phldr="1"/>
      <dgm:spPr/>
      <dgm:t>
        <a:bodyPr/>
        <a:lstStyle/>
        <a:p>
          <a:endParaRPr lang="en-US"/>
        </a:p>
      </dgm:t>
    </dgm:pt>
    <dgm:pt modelId="{867A3A51-E17A-DF46-99A7-B15BA034E914}">
      <dgm:prSet phldrT="[Text]"/>
      <dgm:spPr/>
      <dgm:t>
        <a:bodyPr/>
        <a:lstStyle/>
        <a:p>
          <a:r>
            <a:rPr lang="en-US" dirty="0"/>
            <a:t>Evaluation</a:t>
          </a:r>
        </a:p>
      </dgm:t>
    </dgm:pt>
    <dgm:pt modelId="{8FFE09D7-3438-2A4C-9326-AE566F954735}" type="parTrans" cxnId="{F744BAEB-3D06-AC4D-8FD8-26374030DBBE}">
      <dgm:prSet/>
      <dgm:spPr/>
      <dgm:t>
        <a:bodyPr/>
        <a:lstStyle/>
        <a:p>
          <a:endParaRPr lang="en-US"/>
        </a:p>
      </dgm:t>
    </dgm:pt>
    <dgm:pt modelId="{9BAD2787-FFFA-704C-9885-2BF1BAA15671}" type="sibTrans" cxnId="{F744BAEB-3D06-AC4D-8FD8-26374030DBBE}">
      <dgm:prSet/>
      <dgm:spPr/>
      <dgm:t>
        <a:bodyPr/>
        <a:lstStyle/>
        <a:p>
          <a:endParaRPr lang="en-US"/>
        </a:p>
      </dgm:t>
    </dgm:pt>
    <dgm:pt modelId="{0FAC002A-3409-4A4A-973B-F249242F4050}">
      <dgm:prSet phldrT="[Text]"/>
      <dgm:spPr/>
      <dgm:t>
        <a:bodyPr/>
        <a:lstStyle/>
        <a:p>
          <a:r>
            <a:rPr lang="en-US" dirty="0"/>
            <a:t>Code Snippet</a:t>
          </a:r>
        </a:p>
      </dgm:t>
    </dgm:pt>
    <dgm:pt modelId="{A0B030AC-7F5E-2846-9CF1-6072402656AC}" type="parTrans" cxnId="{6EC5BDAB-CE2E-FD4C-A3D5-A2648684CEC0}">
      <dgm:prSet/>
      <dgm:spPr/>
      <dgm:t>
        <a:bodyPr/>
        <a:lstStyle/>
        <a:p>
          <a:endParaRPr lang="en-US"/>
        </a:p>
      </dgm:t>
    </dgm:pt>
    <dgm:pt modelId="{C443E2CE-C538-F342-A558-093F0E4B9041}" type="sibTrans" cxnId="{6EC5BDAB-CE2E-FD4C-A3D5-A2648684CEC0}">
      <dgm:prSet/>
      <dgm:spPr/>
      <dgm:t>
        <a:bodyPr/>
        <a:lstStyle/>
        <a:p>
          <a:endParaRPr lang="en-US"/>
        </a:p>
      </dgm:t>
    </dgm:pt>
    <dgm:pt modelId="{6DBBB850-7340-3B4B-9BDF-92C83D291EDF}" type="pres">
      <dgm:prSet presAssocID="{A237BBBF-1A66-6B40-9AB7-0FCB2007DF32}" presName="cycle" presStyleCnt="0">
        <dgm:presLayoutVars>
          <dgm:dir/>
          <dgm:resizeHandles val="exact"/>
        </dgm:presLayoutVars>
      </dgm:prSet>
      <dgm:spPr/>
    </dgm:pt>
    <dgm:pt modelId="{219BF23C-C910-0441-8B2D-E7B148B06F9D}" type="pres">
      <dgm:prSet presAssocID="{867A3A51-E17A-DF46-99A7-B15BA034E914}" presName="arrow" presStyleLbl="node1" presStyleIdx="0" presStyleCnt="2">
        <dgm:presLayoutVars>
          <dgm:bulletEnabled val="1"/>
        </dgm:presLayoutVars>
      </dgm:prSet>
      <dgm:spPr/>
    </dgm:pt>
    <dgm:pt modelId="{2AAB57EA-0532-E34D-BD78-9A20A0DFF2F1}" type="pres">
      <dgm:prSet presAssocID="{0FAC002A-3409-4A4A-973B-F249242F4050}" presName="arrow" presStyleLbl="node1" presStyleIdx="1" presStyleCnt="2">
        <dgm:presLayoutVars>
          <dgm:bulletEnabled val="1"/>
        </dgm:presLayoutVars>
      </dgm:prSet>
      <dgm:spPr/>
    </dgm:pt>
  </dgm:ptLst>
  <dgm:cxnLst>
    <dgm:cxn modelId="{39F1AC0A-E2D6-8F42-BCCC-7D6CFE71A9A3}" type="presOf" srcId="{0FAC002A-3409-4A4A-973B-F249242F4050}" destId="{2AAB57EA-0532-E34D-BD78-9A20A0DFF2F1}" srcOrd="0" destOrd="0" presId="urn:microsoft.com/office/officeart/2005/8/layout/arrow1"/>
    <dgm:cxn modelId="{27FB7362-C113-234D-BAB9-B87B592E7624}" type="presOf" srcId="{867A3A51-E17A-DF46-99A7-B15BA034E914}" destId="{219BF23C-C910-0441-8B2D-E7B148B06F9D}" srcOrd="0" destOrd="0" presId="urn:microsoft.com/office/officeart/2005/8/layout/arrow1"/>
    <dgm:cxn modelId="{EAF4B079-BF43-664C-AF0A-DDA5B257AE28}" type="presOf" srcId="{A237BBBF-1A66-6B40-9AB7-0FCB2007DF32}" destId="{6DBBB850-7340-3B4B-9BDF-92C83D291EDF}" srcOrd="0" destOrd="0" presId="urn:microsoft.com/office/officeart/2005/8/layout/arrow1"/>
    <dgm:cxn modelId="{6EC5BDAB-CE2E-FD4C-A3D5-A2648684CEC0}" srcId="{A237BBBF-1A66-6B40-9AB7-0FCB2007DF32}" destId="{0FAC002A-3409-4A4A-973B-F249242F4050}" srcOrd="1" destOrd="0" parTransId="{A0B030AC-7F5E-2846-9CF1-6072402656AC}" sibTransId="{C443E2CE-C538-F342-A558-093F0E4B9041}"/>
    <dgm:cxn modelId="{F744BAEB-3D06-AC4D-8FD8-26374030DBBE}" srcId="{A237BBBF-1A66-6B40-9AB7-0FCB2007DF32}" destId="{867A3A51-E17A-DF46-99A7-B15BA034E914}" srcOrd="0" destOrd="0" parTransId="{8FFE09D7-3438-2A4C-9326-AE566F954735}" sibTransId="{9BAD2787-FFFA-704C-9885-2BF1BAA15671}"/>
    <dgm:cxn modelId="{DFBF128A-DD8F-D949-9133-A56908DFE51E}" type="presParOf" srcId="{6DBBB850-7340-3B4B-9BDF-92C83D291EDF}" destId="{219BF23C-C910-0441-8B2D-E7B148B06F9D}" srcOrd="0" destOrd="0" presId="urn:microsoft.com/office/officeart/2005/8/layout/arrow1"/>
    <dgm:cxn modelId="{1928EAC1-DB11-534F-8AB9-76100C510CB8}" type="presParOf" srcId="{6DBBB850-7340-3B4B-9BDF-92C83D291EDF}" destId="{2AAB57EA-0532-E34D-BD78-9A20A0DFF2F1}" srcOrd="1" destOrd="0" presId="urn:microsoft.com/office/officeart/2005/8/layout/arrow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237BBBF-1A66-6B40-9AB7-0FCB2007DF32}" type="doc">
      <dgm:prSet loTypeId="urn:microsoft.com/office/officeart/2005/8/layout/arrow1" loCatId="" qsTypeId="urn:microsoft.com/office/officeart/2005/8/quickstyle/simple1" qsCatId="simple" csTypeId="urn:microsoft.com/office/officeart/2005/8/colors/accent1_2" csCatId="accent1" phldr="1"/>
      <dgm:spPr/>
      <dgm:t>
        <a:bodyPr/>
        <a:lstStyle/>
        <a:p>
          <a:endParaRPr lang="en-US"/>
        </a:p>
      </dgm:t>
    </dgm:pt>
    <dgm:pt modelId="{867A3A51-E17A-DF46-99A7-B15BA034E914}">
      <dgm:prSet phldrT="[Text]"/>
      <dgm:spPr/>
      <dgm:t>
        <a:bodyPr/>
        <a:lstStyle/>
        <a:p>
          <a:r>
            <a:rPr lang="en-US" dirty="0"/>
            <a:t>Evaluation</a:t>
          </a:r>
        </a:p>
      </dgm:t>
    </dgm:pt>
    <dgm:pt modelId="{8FFE09D7-3438-2A4C-9326-AE566F954735}" type="parTrans" cxnId="{F744BAEB-3D06-AC4D-8FD8-26374030DBBE}">
      <dgm:prSet/>
      <dgm:spPr/>
      <dgm:t>
        <a:bodyPr/>
        <a:lstStyle/>
        <a:p>
          <a:endParaRPr lang="en-US"/>
        </a:p>
      </dgm:t>
    </dgm:pt>
    <dgm:pt modelId="{9BAD2787-FFFA-704C-9885-2BF1BAA15671}" type="sibTrans" cxnId="{F744BAEB-3D06-AC4D-8FD8-26374030DBBE}">
      <dgm:prSet/>
      <dgm:spPr/>
      <dgm:t>
        <a:bodyPr/>
        <a:lstStyle/>
        <a:p>
          <a:endParaRPr lang="en-US"/>
        </a:p>
      </dgm:t>
    </dgm:pt>
    <dgm:pt modelId="{0FAC002A-3409-4A4A-973B-F249242F4050}">
      <dgm:prSet phldrT="[Text]"/>
      <dgm:spPr/>
      <dgm:t>
        <a:bodyPr/>
        <a:lstStyle/>
        <a:p>
          <a:r>
            <a:rPr lang="en-US" dirty="0"/>
            <a:t>Code Snippet</a:t>
          </a:r>
        </a:p>
      </dgm:t>
    </dgm:pt>
    <dgm:pt modelId="{A0B030AC-7F5E-2846-9CF1-6072402656AC}" type="parTrans" cxnId="{6EC5BDAB-CE2E-FD4C-A3D5-A2648684CEC0}">
      <dgm:prSet/>
      <dgm:spPr/>
      <dgm:t>
        <a:bodyPr/>
        <a:lstStyle/>
        <a:p>
          <a:endParaRPr lang="en-US"/>
        </a:p>
      </dgm:t>
    </dgm:pt>
    <dgm:pt modelId="{C443E2CE-C538-F342-A558-093F0E4B9041}" type="sibTrans" cxnId="{6EC5BDAB-CE2E-FD4C-A3D5-A2648684CEC0}">
      <dgm:prSet/>
      <dgm:spPr/>
      <dgm:t>
        <a:bodyPr/>
        <a:lstStyle/>
        <a:p>
          <a:endParaRPr lang="en-US"/>
        </a:p>
      </dgm:t>
    </dgm:pt>
    <dgm:pt modelId="{6DBBB850-7340-3B4B-9BDF-92C83D291EDF}" type="pres">
      <dgm:prSet presAssocID="{A237BBBF-1A66-6B40-9AB7-0FCB2007DF32}" presName="cycle" presStyleCnt="0">
        <dgm:presLayoutVars>
          <dgm:dir/>
          <dgm:resizeHandles val="exact"/>
        </dgm:presLayoutVars>
      </dgm:prSet>
      <dgm:spPr/>
    </dgm:pt>
    <dgm:pt modelId="{219BF23C-C910-0441-8B2D-E7B148B06F9D}" type="pres">
      <dgm:prSet presAssocID="{867A3A51-E17A-DF46-99A7-B15BA034E914}" presName="arrow" presStyleLbl="node1" presStyleIdx="0" presStyleCnt="2">
        <dgm:presLayoutVars>
          <dgm:bulletEnabled val="1"/>
        </dgm:presLayoutVars>
      </dgm:prSet>
      <dgm:spPr/>
    </dgm:pt>
    <dgm:pt modelId="{2AAB57EA-0532-E34D-BD78-9A20A0DFF2F1}" type="pres">
      <dgm:prSet presAssocID="{0FAC002A-3409-4A4A-973B-F249242F4050}" presName="arrow" presStyleLbl="node1" presStyleIdx="1" presStyleCnt="2">
        <dgm:presLayoutVars>
          <dgm:bulletEnabled val="1"/>
        </dgm:presLayoutVars>
      </dgm:prSet>
      <dgm:spPr/>
    </dgm:pt>
  </dgm:ptLst>
  <dgm:cxnLst>
    <dgm:cxn modelId="{39F1AC0A-E2D6-8F42-BCCC-7D6CFE71A9A3}" type="presOf" srcId="{0FAC002A-3409-4A4A-973B-F249242F4050}" destId="{2AAB57EA-0532-E34D-BD78-9A20A0DFF2F1}" srcOrd="0" destOrd="0" presId="urn:microsoft.com/office/officeart/2005/8/layout/arrow1"/>
    <dgm:cxn modelId="{27FB7362-C113-234D-BAB9-B87B592E7624}" type="presOf" srcId="{867A3A51-E17A-DF46-99A7-B15BA034E914}" destId="{219BF23C-C910-0441-8B2D-E7B148B06F9D}" srcOrd="0" destOrd="0" presId="urn:microsoft.com/office/officeart/2005/8/layout/arrow1"/>
    <dgm:cxn modelId="{EAF4B079-BF43-664C-AF0A-DDA5B257AE28}" type="presOf" srcId="{A237BBBF-1A66-6B40-9AB7-0FCB2007DF32}" destId="{6DBBB850-7340-3B4B-9BDF-92C83D291EDF}" srcOrd="0" destOrd="0" presId="urn:microsoft.com/office/officeart/2005/8/layout/arrow1"/>
    <dgm:cxn modelId="{6EC5BDAB-CE2E-FD4C-A3D5-A2648684CEC0}" srcId="{A237BBBF-1A66-6B40-9AB7-0FCB2007DF32}" destId="{0FAC002A-3409-4A4A-973B-F249242F4050}" srcOrd="1" destOrd="0" parTransId="{A0B030AC-7F5E-2846-9CF1-6072402656AC}" sibTransId="{C443E2CE-C538-F342-A558-093F0E4B9041}"/>
    <dgm:cxn modelId="{F744BAEB-3D06-AC4D-8FD8-26374030DBBE}" srcId="{A237BBBF-1A66-6B40-9AB7-0FCB2007DF32}" destId="{867A3A51-E17A-DF46-99A7-B15BA034E914}" srcOrd="0" destOrd="0" parTransId="{8FFE09D7-3438-2A4C-9326-AE566F954735}" sibTransId="{9BAD2787-FFFA-704C-9885-2BF1BAA15671}"/>
    <dgm:cxn modelId="{DFBF128A-DD8F-D949-9133-A56908DFE51E}" type="presParOf" srcId="{6DBBB850-7340-3B4B-9BDF-92C83D291EDF}" destId="{219BF23C-C910-0441-8B2D-E7B148B06F9D}" srcOrd="0" destOrd="0" presId="urn:microsoft.com/office/officeart/2005/8/layout/arrow1"/>
    <dgm:cxn modelId="{1928EAC1-DB11-534F-8AB9-76100C510CB8}" type="presParOf" srcId="{6DBBB850-7340-3B4B-9BDF-92C83D291EDF}" destId="{2AAB57EA-0532-E34D-BD78-9A20A0DFF2F1}" srcOrd="1" destOrd="0" presId="urn:microsoft.com/office/officeart/2005/8/layout/arrow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237BBBF-1A66-6B40-9AB7-0FCB2007DF32}" type="doc">
      <dgm:prSet loTypeId="urn:microsoft.com/office/officeart/2005/8/layout/arrow1" loCatId="" qsTypeId="urn:microsoft.com/office/officeart/2005/8/quickstyle/simple1" qsCatId="simple" csTypeId="urn:microsoft.com/office/officeart/2005/8/colors/accent1_2" csCatId="accent1" phldr="1"/>
      <dgm:spPr/>
      <dgm:t>
        <a:bodyPr/>
        <a:lstStyle/>
        <a:p>
          <a:endParaRPr lang="en-US"/>
        </a:p>
      </dgm:t>
    </dgm:pt>
    <dgm:pt modelId="{867A3A51-E17A-DF46-99A7-B15BA034E914}">
      <dgm:prSet phldrT="[Text]"/>
      <dgm:spPr/>
      <dgm:t>
        <a:bodyPr/>
        <a:lstStyle/>
        <a:p>
          <a:r>
            <a:rPr lang="en-US" dirty="0"/>
            <a:t>Evaluation</a:t>
          </a:r>
        </a:p>
      </dgm:t>
    </dgm:pt>
    <dgm:pt modelId="{8FFE09D7-3438-2A4C-9326-AE566F954735}" type="parTrans" cxnId="{F744BAEB-3D06-AC4D-8FD8-26374030DBBE}">
      <dgm:prSet/>
      <dgm:spPr/>
      <dgm:t>
        <a:bodyPr/>
        <a:lstStyle/>
        <a:p>
          <a:endParaRPr lang="en-US"/>
        </a:p>
      </dgm:t>
    </dgm:pt>
    <dgm:pt modelId="{9BAD2787-FFFA-704C-9885-2BF1BAA15671}" type="sibTrans" cxnId="{F744BAEB-3D06-AC4D-8FD8-26374030DBBE}">
      <dgm:prSet/>
      <dgm:spPr/>
      <dgm:t>
        <a:bodyPr/>
        <a:lstStyle/>
        <a:p>
          <a:endParaRPr lang="en-US"/>
        </a:p>
      </dgm:t>
    </dgm:pt>
    <dgm:pt modelId="{0FAC002A-3409-4A4A-973B-F249242F4050}">
      <dgm:prSet phldrT="[Text]"/>
      <dgm:spPr/>
      <dgm:t>
        <a:bodyPr/>
        <a:lstStyle/>
        <a:p>
          <a:r>
            <a:rPr lang="en-US" dirty="0"/>
            <a:t>Code Snippet</a:t>
          </a:r>
        </a:p>
      </dgm:t>
    </dgm:pt>
    <dgm:pt modelId="{A0B030AC-7F5E-2846-9CF1-6072402656AC}" type="parTrans" cxnId="{6EC5BDAB-CE2E-FD4C-A3D5-A2648684CEC0}">
      <dgm:prSet/>
      <dgm:spPr/>
      <dgm:t>
        <a:bodyPr/>
        <a:lstStyle/>
        <a:p>
          <a:endParaRPr lang="en-US"/>
        </a:p>
      </dgm:t>
    </dgm:pt>
    <dgm:pt modelId="{C443E2CE-C538-F342-A558-093F0E4B9041}" type="sibTrans" cxnId="{6EC5BDAB-CE2E-FD4C-A3D5-A2648684CEC0}">
      <dgm:prSet/>
      <dgm:spPr/>
      <dgm:t>
        <a:bodyPr/>
        <a:lstStyle/>
        <a:p>
          <a:endParaRPr lang="en-US"/>
        </a:p>
      </dgm:t>
    </dgm:pt>
    <dgm:pt modelId="{6DBBB850-7340-3B4B-9BDF-92C83D291EDF}" type="pres">
      <dgm:prSet presAssocID="{A237BBBF-1A66-6B40-9AB7-0FCB2007DF32}" presName="cycle" presStyleCnt="0">
        <dgm:presLayoutVars>
          <dgm:dir/>
          <dgm:resizeHandles val="exact"/>
        </dgm:presLayoutVars>
      </dgm:prSet>
      <dgm:spPr/>
    </dgm:pt>
    <dgm:pt modelId="{219BF23C-C910-0441-8B2D-E7B148B06F9D}" type="pres">
      <dgm:prSet presAssocID="{867A3A51-E17A-DF46-99A7-B15BA034E914}" presName="arrow" presStyleLbl="node1" presStyleIdx="0" presStyleCnt="2">
        <dgm:presLayoutVars>
          <dgm:bulletEnabled val="1"/>
        </dgm:presLayoutVars>
      </dgm:prSet>
      <dgm:spPr/>
    </dgm:pt>
    <dgm:pt modelId="{2AAB57EA-0532-E34D-BD78-9A20A0DFF2F1}" type="pres">
      <dgm:prSet presAssocID="{0FAC002A-3409-4A4A-973B-F249242F4050}" presName="arrow" presStyleLbl="node1" presStyleIdx="1" presStyleCnt="2">
        <dgm:presLayoutVars>
          <dgm:bulletEnabled val="1"/>
        </dgm:presLayoutVars>
      </dgm:prSet>
      <dgm:spPr/>
    </dgm:pt>
  </dgm:ptLst>
  <dgm:cxnLst>
    <dgm:cxn modelId="{39F1AC0A-E2D6-8F42-BCCC-7D6CFE71A9A3}" type="presOf" srcId="{0FAC002A-3409-4A4A-973B-F249242F4050}" destId="{2AAB57EA-0532-E34D-BD78-9A20A0DFF2F1}" srcOrd="0" destOrd="0" presId="urn:microsoft.com/office/officeart/2005/8/layout/arrow1"/>
    <dgm:cxn modelId="{27FB7362-C113-234D-BAB9-B87B592E7624}" type="presOf" srcId="{867A3A51-E17A-DF46-99A7-B15BA034E914}" destId="{219BF23C-C910-0441-8B2D-E7B148B06F9D}" srcOrd="0" destOrd="0" presId="urn:microsoft.com/office/officeart/2005/8/layout/arrow1"/>
    <dgm:cxn modelId="{EAF4B079-BF43-664C-AF0A-DDA5B257AE28}" type="presOf" srcId="{A237BBBF-1A66-6B40-9AB7-0FCB2007DF32}" destId="{6DBBB850-7340-3B4B-9BDF-92C83D291EDF}" srcOrd="0" destOrd="0" presId="urn:microsoft.com/office/officeart/2005/8/layout/arrow1"/>
    <dgm:cxn modelId="{6EC5BDAB-CE2E-FD4C-A3D5-A2648684CEC0}" srcId="{A237BBBF-1A66-6B40-9AB7-0FCB2007DF32}" destId="{0FAC002A-3409-4A4A-973B-F249242F4050}" srcOrd="1" destOrd="0" parTransId="{A0B030AC-7F5E-2846-9CF1-6072402656AC}" sibTransId="{C443E2CE-C538-F342-A558-093F0E4B9041}"/>
    <dgm:cxn modelId="{F744BAEB-3D06-AC4D-8FD8-26374030DBBE}" srcId="{A237BBBF-1A66-6B40-9AB7-0FCB2007DF32}" destId="{867A3A51-E17A-DF46-99A7-B15BA034E914}" srcOrd="0" destOrd="0" parTransId="{8FFE09D7-3438-2A4C-9326-AE566F954735}" sibTransId="{9BAD2787-FFFA-704C-9885-2BF1BAA15671}"/>
    <dgm:cxn modelId="{DFBF128A-DD8F-D949-9133-A56908DFE51E}" type="presParOf" srcId="{6DBBB850-7340-3B4B-9BDF-92C83D291EDF}" destId="{219BF23C-C910-0441-8B2D-E7B148B06F9D}" srcOrd="0" destOrd="0" presId="urn:microsoft.com/office/officeart/2005/8/layout/arrow1"/>
    <dgm:cxn modelId="{1928EAC1-DB11-534F-8AB9-76100C510CB8}" type="presParOf" srcId="{6DBBB850-7340-3B4B-9BDF-92C83D291EDF}" destId="{2AAB57EA-0532-E34D-BD78-9A20A0DFF2F1}" srcOrd="1" destOrd="0" presId="urn:microsoft.com/office/officeart/2005/8/layout/arrow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14C0F6-B3F9-433C-84AE-74ED191B64E7}">
      <dsp:nvSpPr>
        <dsp:cNvPr id="0" name=""/>
        <dsp:cNvSpPr/>
      </dsp:nvSpPr>
      <dsp:spPr>
        <a:xfrm>
          <a:off x="8223" y="114542"/>
          <a:ext cx="1144693" cy="11446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A1B12B-783B-47C1-96AC-A687C5AF49B5}">
      <dsp:nvSpPr>
        <dsp:cNvPr id="0" name=""/>
        <dsp:cNvSpPr/>
      </dsp:nvSpPr>
      <dsp:spPr>
        <a:xfrm>
          <a:off x="8223" y="1387771"/>
          <a:ext cx="3270552" cy="49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US" sz="2100" kern="1200"/>
            <a:t>Macro Instability</a:t>
          </a:r>
        </a:p>
      </dsp:txBody>
      <dsp:txXfrm>
        <a:off x="8223" y="1387771"/>
        <a:ext cx="3270552" cy="490582"/>
      </dsp:txXfrm>
    </dsp:sp>
    <dsp:sp modelId="{0F0A2CE0-524C-400E-865C-E06219D2D888}">
      <dsp:nvSpPr>
        <dsp:cNvPr id="0" name=""/>
        <dsp:cNvSpPr/>
      </dsp:nvSpPr>
      <dsp:spPr>
        <a:xfrm>
          <a:off x="8223" y="1938138"/>
          <a:ext cx="3270552" cy="1165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 COVID</a:t>
          </a:r>
        </a:p>
        <a:p>
          <a:pPr marL="0" lvl="0" indent="0" algn="l" defTabSz="711200">
            <a:lnSpc>
              <a:spcPct val="100000"/>
            </a:lnSpc>
            <a:spcBef>
              <a:spcPct val="0"/>
            </a:spcBef>
            <a:spcAft>
              <a:spcPct val="35000"/>
            </a:spcAft>
            <a:buNone/>
          </a:pPr>
          <a:r>
            <a:rPr lang="en-US" sz="1600" kern="1200" dirty="0"/>
            <a:t>- Russia’s Invasion of Ukraine</a:t>
          </a:r>
        </a:p>
        <a:p>
          <a:pPr marL="0" lvl="0" indent="0" algn="l" defTabSz="711200">
            <a:lnSpc>
              <a:spcPct val="100000"/>
            </a:lnSpc>
            <a:spcBef>
              <a:spcPct val="0"/>
            </a:spcBef>
            <a:spcAft>
              <a:spcPct val="35000"/>
            </a:spcAft>
            <a:buNone/>
          </a:pPr>
          <a:r>
            <a:rPr lang="en-US" sz="1600" kern="1200" dirty="0"/>
            <a:t>Subsequent sanctions</a:t>
          </a:r>
        </a:p>
      </dsp:txBody>
      <dsp:txXfrm>
        <a:off x="8223" y="1938138"/>
        <a:ext cx="3270552" cy="1165606"/>
      </dsp:txXfrm>
    </dsp:sp>
    <dsp:sp modelId="{8F537BC5-0BCE-4C2B-BA1D-EA248AD1BAB9}">
      <dsp:nvSpPr>
        <dsp:cNvPr id="0" name=""/>
        <dsp:cNvSpPr/>
      </dsp:nvSpPr>
      <dsp:spPr>
        <a:xfrm>
          <a:off x="3851123" y="114542"/>
          <a:ext cx="1144693" cy="11446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4068FD-16AA-4DE0-A54B-29734365BAA7}">
      <dsp:nvSpPr>
        <dsp:cNvPr id="0" name=""/>
        <dsp:cNvSpPr/>
      </dsp:nvSpPr>
      <dsp:spPr>
        <a:xfrm>
          <a:off x="3851123" y="1387771"/>
          <a:ext cx="3270552" cy="49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US" sz="2100" kern="1200"/>
            <a:t>Increasing Fuel Poverty</a:t>
          </a:r>
        </a:p>
      </dsp:txBody>
      <dsp:txXfrm>
        <a:off x="3851123" y="1387771"/>
        <a:ext cx="3270552" cy="490582"/>
      </dsp:txXfrm>
    </dsp:sp>
    <dsp:sp modelId="{DFD85B15-DF83-43FB-8E24-E2A07D7C743C}">
      <dsp:nvSpPr>
        <dsp:cNvPr id="0" name=""/>
        <dsp:cNvSpPr/>
      </dsp:nvSpPr>
      <dsp:spPr>
        <a:xfrm>
          <a:off x="3851123" y="1938138"/>
          <a:ext cx="3270552" cy="1165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 Energy market volatility</a:t>
          </a:r>
        </a:p>
        <a:p>
          <a:pPr marL="0" lvl="0" indent="0" algn="l" defTabSz="711200">
            <a:lnSpc>
              <a:spcPct val="100000"/>
            </a:lnSpc>
            <a:spcBef>
              <a:spcPct val="0"/>
            </a:spcBef>
            <a:spcAft>
              <a:spcPct val="35000"/>
            </a:spcAft>
            <a:buNone/>
          </a:pPr>
          <a:r>
            <a:rPr lang="en-US" sz="1600" kern="1200" dirty="0"/>
            <a:t>- Vulnerability of households to Fuel Poverty</a:t>
          </a:r>
        </a:p>
      </dsp:txBody>
      <dsp:txXfrm>
        <a:off x="3851123" y="1938138"/>
        <a:ext cx="3270552" cy="1165606"/>
      </dsp:txXfrm>
    </dsp:sp>
    <dsp:sp modelId="{8D237A1A-5F98-480C-8D12-B0600EBE786A}">
      <dsp:nvSpPr>
        <dsp:cNvPr id="0" name=""/>
        <dsp:cNvSpPr/>
      </dsp:nvSpPr>
      <dsp:spPr>
        <a:xfrm>
          <a:off x="7694023" y="114542"/>
          <a:ext cx="1144693" cy="11446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4CE20C-9893-4D68-8384-53F4D0BFE54E}">
      <dsp:nvSpPr>
        <dsp:cNvPr id="0" name=""/>
        <dsp:cNvSpPr/>
      </dsp:nvSpPr>
      <dsp:spPr>
        <a:xfrm>
          <a:off x="7694023" y="1387771"/>
          <a:ext cx="3270552" cy="49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US" sz="2100" kern="1200"/>
            <a:t>Flexible Pricing Strategy</a:t>
          </a:r>
        </a:p>
      </dsp:txBody>
      <dsp:txXfrm>
        <a:off x="7694023" y="1387771"/>
        <a:ext cx="3270552" cy="490582"/>
      </dsp:txXfrm>
    </dsp:sp>
    <dsp:sp modelId="{4B35B3FB-01D7-4357-B244-43E85CDA18A7}">
      <dsp:nvSpPr>
        <dsp:cNvPr id="0" name=""/>
        <dsp:cNvSpPr/>
      </dsp:nvSpPr>
      <dsp:spPr>
        <a:xfrm>
          <a:off x="7694023" y="1938138"/>
          <a:ext cx="3270552" cy="1165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 </a:t>
          </a:r>
          <a:r>
            <a:rPr lang="en-US" sz="1600" kern="1200" dirty="0" err="1"/>
            <a:t>KrakenFlex</a:t>
          </a:r>
          <a:endParaRPr lang="en-US" sz="1600" kern="1200" dirty="0"/>
        </a:p>
        <a:p>
          <a:pPr marL="0" lvl="0" indent="0" algn="l" defTabSz="711200">
            <a:lnSpc>
              <a:spcPct val="100000"/>
            </a:lnSpc>
            <a:spcBef>
              <a:spcPct val="0"/>
            </a:spcBef>
            <a:spcAft>
              <a:spcPct val="35000"/>
            </a:spcAft>
            <a:buNone/>
          </a:pPr>
          <a:r>
            <a:rPr lang="en-US" sz="1600" kern="1200" dirty="0"/>
            <a:t>- E7 pricing for off-peak usage</a:t>
          </a:r>
        </a:p>
        <a:p>
          <a:pPr marL="0" lvl="0" indent="0" algn="l" defTabSz="711200">
            <a:lnSpc>
              <a:spcPct val="100000"/>
            </a:lnSpc>
            <a:spcBef>
              <a:spcPct val="0"/>
            </a:spcBef>
            <a:spcAft>
              <a:spcPct val="35000"/>
            </a:spcAft>
            <a:buNone/>
          </a:pPr>
          <a:r>
            <a:rPr lang="en-US" sz="1600" kern="1200" dirty="0"/>
            <a:t>- Winter Fuel Payment by Government</a:t>
          </a:r>
        </a:p>
      </dsp:txBody>
      <dsp:txXfrm>
        <a:off x="7694023" y="1938138"/>
        <a:ext cx="3270552" cy="11656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2D80AA-AA5A-0049-BF0C-B281A0C1EF4B}">
      <dsp:nvSpPr>
        <dsp:cNvPr id="0" name=""/>
        <dsp:cNvSpPr/>
      </dsp:nvSpPr>
      <dsp:spPr>
        <a:xfrm>
          <a:off x="942083" y="1029033"/>
          <a:ext cx="2397405" cy="197735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t" anchorCtr="0">
          <a:noAutofit/>
        </a:bodyPr>
        <a:lstStyle/>
        <a:p>
          <a:pPr marL="171450" lvl="1" indent="-171450" algn="l" defTabSz="711200">
            <a:lnSpc>
              <a:spcPct val="90000"/>
            </a:lnSpc>
            <a:spcBef>
              <a:spcPct val="0"/>
            </a:spcBef>
            <a:spcAft>
              <a:spcPct val="15000"/>
            </a:spcAft>
            <a:buChar char="•"/>
          </a:pPr>
          <a:r>
            <a:rPr lang="en-US" sz="1600" kern="1200" dirty="0"/>
            <a:t>Low-Income Low Energy Efficiency (LILEE)</a:t>
          </a:r>
        </a:p>
        <a:p>
          <a:pPr marL="171450" lvl="1" indent="-171450" algn="l" defTabSz="711200">
            <a:lnSpc>
              <a:spcPct val="90000"/>
            </a:lnSpc>
            <a:spcBef>
              <a:spcPct val="0"/>
            </a:spcBef>
            <a:spcAft>
              <a:spcPct val="15000"/>
            </a:spcAft>
            <a:buChar char="•"/>
          </a:pPr>
          <a:r>
            <a:rPr lang="en-US" sz="1600" kern="1200" dirty="0"/>
            <a:t>Characteristic-based aggregate probability</a:t>
          </a:r>
        </a:p>
      </dsp:txBody>
      <dsp:txXfrm>
        <a:off x="987588" y="1074538"/>
        <a:ext cx="2306395" cy="1462628"/>
      </dsp:txXfrm>
    </dsp:sp>
    <dsp:sp modelId="{D969E11A-B813-264D-9FD7-C3A4F4ACAE05}">
      <dsp:nvSpPr>
        <dsp:cNvPr id="0" name=""/>
        <dsp:cNvSpPr/>
      </dsp:nvSpPr>
      <dsp:spPr>
        <a:xfrm>
          <a:off x="2243532" y="1335374"/>
          <a:ext cx="2887062" cy="2887062"/>
        </a:xfrm>
        <a:prstGeom prst="leftCircularArrow">
          <a:avLst>
            <a:gd name="adj1" fmla="val 3991"/>
            <a:gd name="adj2" fmla="val 501029"/>
            <a:gd name="adj3" fmla="val 2276540"/>
            <a:gd name="adj4" fmla="val 9024489"/>
            <a:gd name="adj5" fmla="val 4656"/>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4DE495A-8BC2-C549-8FF8-7EF588430363}">
      <dsp:nvSpPr>
        <dsp:cNvPr id="0" name=""/>
        <dsp:cNvSpPr/>
      </dsp:nvSpPr>
      <dsp:spPr>
        <a:xfrm>
          <a:off x="1474840" y="2582672"/>
          <a:ext cx="2131027" cy="84743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Broader Aggregate Level Data</a:t>
          </a:r>
        </a:p>
      </dsp:txBody>
      <dsp:txXfrm>
        <a:off x="1499661" y="2607493"/>
        <a:ext cx="2081385" cy="797797"/>
      </dsp:txXfrm>
    </dsp:sp>
    <dsp:sp modelId="{09F28510-5106-1C4A-A149-4987D6C03976}">
      <dsp:nvSpPr>
        <dsp:cNvPr id="0" name=""/>
        <dsp:cNvSpPr/>
      </dsp:nvSpPr>
      <dsp:spPr>
        <a:xfrm>
          <a:off x="4154507" y="1029033"/>
          <a:ext cx="2397405" cy="197735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t" anchorCtr="0">
          <a:noAutofit/>
        </a:bodyPr>
        <a:lstStyle/>
        <a:p>
          <a:pPr marL="171450" lvl="1" indent="-171450" algn="l" defTabSz="711200">
            <a:lnSpc>
              <a:spcPct val="90000"/>
            </a:lnSpc>
            <a:spcBef>
              <a:spcPct val="0"/>
            </a:spcBef>
            <a:spcAft>
              <a:spcPct val="15000"/>
            </a:spcAft>
            <a:buChar char="•"/>
          </a:pPr>
          <a:r>
            <a:rPr lang="en-US" sz="1600" kern="1200" dirty="0"/>
            <a:t>Energy Efficiency Certificates (EPC datasets)</a:t>
          </a:r>
        </a:p>
      </dsp:txBody>
      <dsp:txXfrm>
        <a:off x="4200012" y="1498257"/>
        <a:ext cx="2306395" cy="1462628"/>
      </dsp:txXfrm>
    </dsp:sp>
    <dsp:sp modelId="{47739DAD-955B-DC41-98A8-152AD3016D0C}">
      <dsp:nvSpPr>
        <dsp:cNvPr id="0" name=""/>
        <dsp:cNvSpPr/>
      </dsp:nvSpPr>
      <dsp:spPr>
        <a:xfrm>
          <a:off x="5435978" y="-264542"/>
          <a:ext cx="3193397" cy="3193397"/>
        </a:xfrm>
        <a:prstGeom prst="circularArrow">
          <a:avLst>
            <a:gd name="adj1" fmla="val 3608"/>
            <a:gd name="adj2" fmla="val 448812"/>
            <a:gd name="adj3" fmla="val 19375677"/>
            <a:gd name="adj4" fmla="val 12575511"/>
            <a:gd name="adj5" fmla="val 4209"/>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4869577-6D6D-0D4E-A9ED-5F543D385A3A}">
      <dsp:nvSpPr>
        <dsp:cNvPr id="0" name=""/>
        <dsp:cNvSpPr/>
      </dsp:nvSpPr>
      <dsp:spPr>
        <a:xfrm>
          <a:off x="4687264" y="605313"/>
          <a:ext cx="2131027" cy="84743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Household Level Data</a:t>
          </a:r>
        </a:p>
      </dsp:txBody>
      <dsp:txXfrm>
        <a:off x="4712085" y="630134"/>
        <a:ext cx="2081385" cy="797797"/>
      </dsp:txXfrm>
    </dsp:sp>
    <dsp:sp modelId="{54FAB89B-8C28-3C49-984C-875B5A2339FB}">
      <dsp:nvSpPr>
        <dsp:cNvPr id="0" name=""/>
        <dsp:cNvSpPr/>
      </dsp:nvSpPr>
      <dsp:spPr>
        <a:xfrm>
          <a:off x="7366932" y="1029033"/>
          <a:ext cx="2397405" cy="197735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Weather</a:t>
          </a:r>
        </a:p>
        <a:p>
          <a:pPr marL="171450" lvl="1" indent="-171450" algn="l" defTabSz="711200">
            <a:lnSpc>
              <a:spcPct val="90000"/>
            </a:lnSpc>
            <a:spcBef>
              <a:spcPct val="0"/>
            </a:spcBef>
            <a:spcAft>
              <a:spcPct val="15000"/>
            </a:spcAft>
            <a:buChar char="•"/>
          </a:pPr>
          <a:r>
            <a:rPr lang="en-US" sz="1600" kern="1200" dirty="0"/>
            <a:t>Income Projections</a:t>
          </a:r>
        </a:p>
        <a:p>
          <a:pPr marL="171450" lvl="1" indent="-171450" algn="l" defTabSz="711200">
            <a:lnSpc>
              <a:spcPct val="90000"/>
            </a:lnSpc>
            <a:spcBef>
              <a:spcPct val="0"/>
            </a:spcBef>
            <a:spcAft>
              <a:spcPct val="15000"/>
            </a:spcAft>
            <a:buChar char="•"/>
          </a:pPr>
          <a:r>
            <a:rPr lang="en-US" sz="1600" kern="1200" dirty="0"/>
            <a:t>Energy Price and Consumptions</a:t>
          </a:r>
        </a:p>
      </dsp:txBody>
      <dsp:txXfrm>
        <a:off x="7412437" y="1074538"/>
        <a:ext cx="2306395" cy="1462628"/>
      </dsp:txXfrm>
    </dsp:sp>
    <dsp:sp modelId="{4796769F-6ACB-BD4D-B462-D9808329D495}">
      <dsp:nvSpPr>
        <dsp:cNvPr id="0" name=""/>
        <dsp:cNvSpPr/>
      </dsp:nvSpPr>
      <dsp:spPr>
        <a:xfrm>
          <a:off x="7899688" y="2582672"/>
          <a:ext cx="2131027" cy="84743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Narrower Aggregate Level Data</a:t>
          </a:r>
        </a:p>
      </dsp:txBody>
      <dsp:txXfrm>
        <a:off x="7924509" y="2607493"/>
        <a:ext cx="2081385" cy="7977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B56A96-6C8D-D04E-9BF7-732972021BD3}">
      <dsp:nvSpPr>
        <dsp:cNvPr id="0" name=""/>
        <dsp:cNvSpPr/>
      </dsp:nvSpPr>
      <dsp:spPr>
        <a:xfrm>
          <a:off x="931769" y="388252"/>
          <a:ext cx="2010700" cy="80428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EPC Data </a:t>
          </a:r>
          <a:r>
            <a:rPr lang="en-US" sz="1100" kern="1200" dirty="0"/>
            <a:t>(Household Level)</a:t>
          </a:r>
        </a:p>
      </dsp:txBody>
      <dsp:txXfrm>
        <a:off x="931769" y="388252"/>
        <a:ext cx="2010700" cy="804280"/>
      </dsp:txXfrm>
    </dsp:sp>
    <dsp:sp modelId="{44B5F438-B81C-D848-9C2D-2034F86DA259}">
      <dsp:nvSpPr>
        <dsp:cNvPr id="0" name=""/>
        <dsp:cNvSpPr/>
      </dsp:nvSpPr>
      <dsp:spPr>
        <a:xfrm>
          <a:off x="942024" y="1526534"/>
          <a:ext cx="2010700" cy="397624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t> LMK Key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Current Energy Rating</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Current Energy Efficiency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Energy Consumption (Current)</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CO₂ Emissions (Current)</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Roof Energy Efficiency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Walls Energy Efficiency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Main Fuel</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Property Type</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Built Form</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Total Floor Area</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Number of Habitable Rooms</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Tenure</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Construction Age Band</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Local Authority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Postcode</a:t>
          </a:r>
        </a:p>
        <a:p>
          <a:pPr marL="114300" lvl="1" indent="-114300" algn="l" defTabSz="533400">
            <a:lnSpc>
              <a:spcPct val="90000"/>
            </a:lnSpc>
            <a:spcBef>
              <a:spcPct val="0"/>
            </a:spcBef>
            <a:spcAft>
              <a:spcPct val="15000"/>
            </a:spcAft>
            <a:buChar char="•"/>
          </a:pPr>
          <a:r>
            <a:rPr lang="en-US" sz="1200" kern="1200" dirty="0" err="1"/>
            <a:t>Lodgement</a:t>
          </a:r>
          <a:r>
            <a:rPr lang="en-US" sz="1200" kern="1200" dirty="0"/>
            <a:t> Date</a:t>
          </a:r>
        </a:p>
      </dsp:txBody>
      <dsp:txXfrm>
        <a:off x="942024" y="1526534"/>
        <a:ext cx="2010700" cy="3976240"/>
      </dsp:txXfrm>
    </dsp:sp>
    <dsp:sp modelId="{44A9ECC8-93BD-C94C-BBF7-75CBF7F272D9}">
      <dsp:nvSpPr>
        <dsp:cNvPr id="0" name=""/>
        <dsp:cNvSpPr/>
      </dsp:nvSpPr>
      <dsp:spPr>
        <a:xfrm>
          <a:off x="3659143" y="255182"/>
          <a:ext cx="2010700" cy="1105072"/>
        </a:xfrm>
        <a:prstGeom prst="rect">
          <a:avLst/>
        </a:prstGeom>
        <a:solidFill>
          <a:schemeClr val="accent2">
            <a:hueOff val="2572099"/>
            <a:satOff val="-1572"/>
            <a:lumOff val="-8676"/>
            <a:alphaOff val="0"/>
          </a:schemeClr>
        </a:solidFill>
        <a:ln w="12700" cap="flat" cmpd="sng" algn="ctr">
          <a:solidFill>
            <a:schemeClr val="accent2">
              <a:hueOff val="2572099"/>
              <a:satOff val="-1572"/>
              <a:lumOff val="-86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rPr>
            <a:t>Energy Prices and Payment Data </a:t>
          </a:r>
          <a:r>
            <a:rPr lang="en-US" sz="1100" kern="1200" dirty="0">
              <a:solidFill>
                <a:schemeClr val="tx1"/>
              </a:solidFill>
            </a:rPr>
            <a:t>(Derived using Local Average Pricing and Household Level Consumption from EPC)</a:t>
          </a:r>
        </a:p>
      </dsp:txBody>
      <dsp:txXfrm>
        <a:off x="3659143" y="255182"/>
        <a:ext cx="2010700" cy="1105072"/>
      </dsp:txXfrm>
    </dsp:sp>
    <dsp:sp modelId="{C16A65E6-E70B-9145-80C8-AEC1D0B725F2}">
      <dsp:nvSpPr>
        <dsp:cNvPr id="0" name=""/>
        <dsp:cNvSpPr/>
      </dsp:nvSpPr>
      <dsp:spPr>
        <a:xfrm>
          <a:off x="3659143" y="1396919"/>
          <a:ext cx="2010700" cy="3802435"/>
        </a:xfrm>
        <a:prstGeom prst="rect">
          <a:avLst/>
        </a:prstGeom>
        <a:solidFill>
          <a:schemeClr val="accent2">
            <a:tint val="40000"/>
            <a:alpha val="90000"/>
            <a:hueOff val="2466242"/>
            <a:satOff val="-12958"/>
            <a:lumOff val="-1606"/>
            <a:alphaOff val="0"/>
          </a:schemeClr>
        </a:solidFill>
        <a:ln w="12700" cap="flat" cmpd="sng" algn="ctr">
          <a:solidFill>
            <a:schemeClr val="accent2">
              <a:tint val="40000"/>
              <a:alpha val="90000"/>
              <a:hueOff val="2466242"/>
              <a:satOff val="-12958"/>
              <a:lumOff val="-16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t>Electricity – Average Variable Price per kWh</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Electricity – Average Annual Fixed Cost</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Gas – Average Variable Price per kWh</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Gas – Average Annual Fixed Cost</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Average Annual Fuel Bill (Individual Estimate) </a:t>
          </a:r>
          <a:r>
            <a:rPr lang="en-US" sz="1200" i="1" kern="1200" dirty="0"/>
            <a:t>(Derived)</a:t>
          </a: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Local Authority – Average Electricity Consumption</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Local Authority – Average Gas Consumption</a:t>
          </a:r>
        </a:p>
        <a:p>
          <a:pPr marL="114300" lvl="1" indent="-114300" algn="l" defTabSz="533400">
            <a:lnSpc>
              <a:spcPct val="90000"/>
            </a:lnSpc>
            <a:spcBef>
              <a:spcPct val="0"/>
            </a:spcBef>
            <a:spcAft>
              <a:spcPct val="15000"/>
            </a:spcAft>
            <a:buChar char="•"/>
          </a:pPr>
          <a:r>
            <a:rPr lang="en-US" sz="1200" kern="1200" dirty="0"/>
            <a:t>Households Receiving Winter Fuel Payment (2023)</a:t>
          </a:r>
        </a:p>
      </dsp:txBody>
      <dsp:txXfrm>
        <a:off x="3659143" y="1396919"/>
        <a:ext cx="2010700" cy="3802435"/>
      </dsp:txXfrm>
    </dsp:sp>
    <dsp:sp modelId="{8AB6FFB9-7528-DC4E-A358-25098926AC24}">
      <dsp:nvSpPr>
        <dsp:cNvPr id="0" name=""/>
        <dsp:cNvSpPr/>
      </dsp:nvSpPr>
      <dsp:spPr>
        <a:xfrm>
          <a:off x="6422731" y="468540"/>
          <a:ext cx="2321916" cy="804280"/>
        </a:xfrm>
        <a:prstGeom prst="rect">
          <a:avLst/>
        </a:prstGeom>
        <a:solidFill>
          <a:schemeClr val="accent2">
            <a:hueOff val="5144199"/>
            <a:satOff val="-3143"/>
            <a:lumOff val="-17351"/>
            <a:alphaOff val="0"/>
          </a:schemeClr>
        </a:solidFill>
        <a:ln w="12700" cap="flat" cmpd="sng" algn="ctr">
          <a:solidFill>
            <a:schemeClr val="accent2">
              <a:hueOff val="5144199"/>
              <a:satOff val="-3143"/>
              <a:lumOff val="-173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rPr>
            <a:t>Income Data </a:t>
          </a:r>
          <a:r>
            <a:rPr lang="en-US" sz="1100" b="0" kern="1200" dirty="0">
              <a:solidFill>
                <a:schemeClr val="tx1"/>
              </a:solidFill>
            </a:rPr>
            <a:t>(Local Authority Level)</a:t>
          </a:r>
        </a:p>
      </dsp:txBody>
      <dsp:txXfrm>
        <a:off x="6422731" y="468540"/>
        <a:ext cx="2321916" cy="804280"/>
      </dsp:txXfrm>
    </dsp:sp>
    <dsp:sp modelId="{E3755F1D-4A57-7F49-89CB-EEAC7B89ED7A}">
      <dsp:nvSpPr>
        <dsp:cNvPr id="0" name=""/>
        <dsp:cNvSpPr/>
      </dsp:nvSpPr>
      <dsp:spPr>
        <a:xfrm>
          <a:off x="6377409" y="1549975"/>
          <a:ext cx="2433832" cy="3952800"/>
        </a:xfrm>
        <a:prstGeom prst="rect">
          <a:avLst/>
        </a:prstGeom>
        <a:solidFill>
          <a:schemeClr val="accent2">
            <a:tint val="40000"/>
            <a:alpha val="90000"/>
            <a:hueOff val="4932485"/>
            <a:satOff val="-25915"/>
            <a:lumOff val="-3212"/>
            <a:alphaOff val="0"/>
          </a:schemeClr>
        </a:solidFill>
        <a:ln w="12700" cap="flat" cmpd="sng" algn="ctr">
          <a:solidFill>
            <a:schemeClr val="accent2">
              <a:tint val="40000"/>
              <a:alpha val="90000"/>
              <a:hueOff val="4932485"/>
              <a:satOff val="-25915"/>
              <a:lumOff val="-321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t>Net Income 2024 (adjusted from 2020 data for local authority average)</a:t>
          </a:r>
        </a:p>
        <a:p>
          <a:pPr marL="114300" lvl="1" indent="-114300" algn="l" defTabSz="533400">
            <a:lnSpc>
              <a:spcPct val="90000"/>
            </a:lnSpc>
            <a:spcBef>
              <a:spcPct val="0"/>
            </a:spcBef>
            <a:spcAft>
              <a:spcPct val="15000"/>
            </a:spcAft>
            <a:buChar char="•"/>
          </a:pPr>
          <a:r>
            <a:rPr lang="en-US" sz="1200" kern="1200" dirty="0"/>
            <a:t>Net Income before housing costs</a:t>
          </a:r>
        </a:p>
        <a:p>
          <a:pPr marL="114300" lvl="1" indent="-114300" algn="l" defTabSz="533400">
            <a:lnSpc>
              <a:spcPct val="90000"/>
            </a:lnSpc>
            <a:spcBef>
              <a:spcPct val="0"/>
            </a:spcBef>
            <a:spcAft>
              <a:spcPct val="15000"/>
            </a:spcAft>
            <a:buChar char="•"/>
          </a:pPr>
          <a:r>
            <a:rPr lang="en-US" sz="1200" kern="1200" dirty="0"/>
            <a:t>Net Income after housing costs</a:t>
          </a:r>
        </a:p>
        <a:p>
          <a:pPr marL="114300" lvl="1" indent="-114300" algn="l" defTabSz="533400">
            <a:lnSpc>
              <a:spcPct val="90000"/>
            </a:lnSpc>
            <a:spcBef>
              <a:spcPct val="0"/>
            </a:spcBef>
            <a:spcAft>
              <a:spcPct val="15000"/>
            </a:spcAft>
            <a:buChar char="•"/>
          </a:pPr>
          <a:r>
            <a:rPr lang="en-US" sz="1200" kern="1200" dirty="0"/>
            <a:t>Number of Low Income Households (Estimated based on 60% of national median income)</a:t>
          </a:r>
        </a:p>
        <a:p>
          <a:pPr marL="114300" lvl="1" indent="-114300" algn="l" defTabSz="533400">
            <a:lnSpc>
              <a:spcPct val="90000"/>
            </a:lnSpc>
            <a:spcBef>
              <a:spcPct val="0"/>
            </a:spcBef>
            <a:spcAft>
              <a:spcPct val="15000"/>
            </a:spcAft>
            <a:buChar char="•"/>
          </a:pPr>
          <a:r>
            <a:rPr lang="en-US" sz="1200" kern="1200" dirty="0"/>
            <a:t>Percentage of Low-Income Households</a:t>
          </a:r>
        </a:p>
        <a:p>
          <a:pPr marL="114300" lvl="1" indent="-114300" algn="l" defTabSz="533400">
            <a:lnSpc>
              <a:spcPct val="90000"/>
            </a:lnSpc>
            <a:spcBef>
              <a:spcPct val="0"/>
            </a:spcBef>
            <a:spcAft>
              <a:spcPct val="15000"/>
            </a:spcAft>
            <a:buChar char="•"/>
          </a:pPr>
          <a:r>
            <a:rPr lang="en-US" sz="1200" kern="1200" dirty="0"/>
            <a:t>Unemployment Rate in Local Authority</a:t>
          </a:r>
        </a:p>
        <a:p>
          <a:pPr marL="114300" lvl="1" indent="-114300" algn="l" defTabSz="533400">
            <a:lnSpc>
              <a:spcPct val="90000"/>
            </a:lnSpc>
            <a:spcBef>
              <a:spcPct val="0"/>
            </a:spcBef>
            <a:spcAft>
              <a:spcPct val="15000"/>
            </a:spcAft>
            <a:buChar char="•"/>
          </a:pPr>
          <a:r>
            <a:rPr lang="en-US" sz="1200" kern="1200" dirty="0"/>
            <a:t>Urban/Rural Classification</a:t>
          </a:r>
        </a:p>
      </dsp:txBody>
      <dsp:txXfrm>
        <a:off x="6377409" y="1549975"/>
        <a:ext cx="2433832" cy="3952800"/>
      </dsp:txXfrm>
    </dsp:sp>
    <dsp:sp modelId="{CEB3D0F8-77D9-7B4A-B4D9-23570BE1E377}">
      <dsp:nvSpPr>
        <dsp:cNvPr id="0" name=""/>
        <dsp:cNvSpPr/>
      </dsp:nvSpPr>
      <dsp:spPr>
        <a:xfrm>
          <a:off x="9497976" y="409711"/>
          <a:ext cx="2010700" cy="804280"/>
        </a:xfrm>
        <a:prstGeom prst="rect">
          <a:avLst/>
        </a:prstGeom>
        <a:solidFill>
          <a:schemeClr val="accent2">
            <a:hueOff val="7716299"/>
            <a:satOff val="-4715"/>
            <a:lumOff val="-26026"/>
            <a:alphaOff val="0"/>
          </a:schemeClr>
        </a:solidFill>
        <a:ln w="12700" cap="flat" cmpd="sng" algn="ctr">
          <a:solidFill>
            <a:schemeClr val="accent2">
              <a:hueOff val="7716299"/>
              <a:satOff val="-4715"/>
              <a:lumOff val="-260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rPr>
            <a:t>Weather Data </a:t>
          </a:r>
          <a:r>
            <a:rPr lang="en-US" sz="1100" kern="1200" dirty="0">
              <a:solidFill>
                <a:schemeClr val="tx1"/>
              </a:solidFill>
            </a:rPr>
            <a:t>(Local Authority Level)</a:t>
          </a:r>
        </a:p>
      </dsp:txBody>
      <dsp:txXfrm>
        <a:off x="9497976" y="409711"/>
        <a:ext cx="2010700" cy="804280"/>
      </dsp:txXfrm>
    </dsp:sp>
    <dsp:sp modelId="{D4882C59-E859-7A43-8792-DE1BEFAB4CD6}">
      <dsp:nvSpPr>
        <dsp:cNvPr id="0" name=""/>
        <dsp:cNvSpPr/>
      </dsp:nvSpPr>
      <dsp:spPr>
        <a:xfrm>
          <a:off x="9564068" y="1240935"/>
          <a:ext cx="2010700" cy="1217976"/>
        </a:xfrm>
        <a:prstGeom prst="rect">
          <a:avLst/>
        </a:prstGeom>
        <a:solidFill>
          <a:schemeClr val="accent2">
            <a:tint val="40000"/>
            <a:alpha val="90000"/>
            <a:hueOff val="7398727"/>
            <a:satOff val="-38873"/>
            <a:lumOff val="-4819"/>
            <a:alphaOff val="0"/>
          </a:schemeClr>
        </a:solidFill>
        <a:ln w="12700" cap="flat" cmpd="sng" algn="ctr">
          <a:solidFill>
            <a:schemeClr val="accent2">
              <a:tint val="40000"/>
              <a:alpha val="90000"/>
              <a:hueOff val="7398727"/>
              <a:satOff val="-38873"/>
              <a:lumOff val="-48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t>Higher Degree Days</a:t>
          </a:r>
        </a:p>
        <a:p>
          <a:pPr marL="114300" lvl="1" indent="-114300" algn="l" defTabSz="533400">
            <a:lnSpc>
              <a:spcPct val="90000"/>
            </a:lnSpc>
            <a:spcBef>
              <a:spcPct val="0"/>
            </a:spcBef>
            <a:spcAft>
              <a:spcPct val="15000"/>
            </a:spcAft>
            <a:buChar char="•"/>
          </a:pPr>
          <a:r>
            <a:rPr lang="en-US" sz="1200" kern="1200" dirty="0"/>
            <a:t>Temperature At Surface (Under different Global Warming Assumptions)</a:t>
          </a:r>
        </a:p>
        <a:p>
          <a:pPr marL="114300" lvl="1" indent="-114300" algn="l" defTabSz="533400">
            <a:lnSpc>
              <a:spcPct val="90000"/>
            </a:lnSpc>
            <a:spcBef>
              <a:spcPct val="0"/>
            </a:spcBef>
            <a:spcAft>
              <a:spcPct val="15000"/>
            </a:spcAft>
            <a:buChar char="•"/>
          </a:pPr>
          <a:r>
            <a:rPr lang="en-US" sz="1200" kern="1200" dirty="0"/>
            <a:t>Minimum Temperature</a:t>
          </a:r>
        </a:p>
      </dsp:txBody>
      <dsp:txXfrm>
        <a:off x="9564068" y="1240935"/>
        <a:ext cx="2010700" cy="1217976"/>
      </dsp:txXfrm>
    </dsp:sp>
    <dsp:sp modelId="{273EF8C9-8FF1-F046-98D6-4A96A27659F6}">
      <dsp:nvSpPr>
        <dsp:cNvPr id="0" name=""/>
        <dsp:cNvSpPr/>
      </dsp:nvSpPr>
      <dsp:spPr>
        <a:xfrm>
          <a:off x="9505336" y="2910326"/>
          <a:ext cx="2010700" cy="804280"/>
        </a:xfrm>
        <a:prstGeom prst="rect">
          <a:avLst/>
        </a:prstGeom>
        <a:solidFill>
          <a:schemeClr val="accent2">
            <a:hueOff val="10288398"/>
            <a:satOff val="-6286"/>
            <a:lumOff val="-34702"/>
            <a:alphaOff val="0"/>
          </a:schemeClr>
        </a:solidFill>
        <a:ln w="12700" cap="flat" cmpd="sng" algn="ctr">
          <a:solidFill>
            <a:schemeClr val="accent2">
              <a:hueOff val="10288398"/>
              <a:satOff val="-6286"/>
              <a:lumOff val="-347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rPr>
            <a:t>Population Data </a:t>
          </a:r>
          <a:r>
            <a:rPr lang="en-US" sz="1100" kern="1200" dirty="0">
              <a:solidFill>
                <a:schemeClr val="tx1"/>
              </a:solidFill>
            </a:rPr>
            <a:t>(Local Authority Level)</a:t>
          </a:r>
        </a:p>
      </dsp:txBody>
      <dsp:txXfrm>
        <a:off x="9505336" y="2910326"/>
        <a:ext cx="2010700" cy="804280"/>
      </dsp:txXfrm>
    </dsp:sp>
    <dsp:sp modelId="{55891657-9D4B-F142-A802-811E784886D5}">
      <dsp:nvSpPr>
        <dsp:cNvPr id="0" name=""/>
        <dsp:cNvSpPr/>
      </dsp:nvSpPr>
      <dsp:spPr>
        <a:xfrm>
          <a:off x="9515168" y="4289028"/>
          <a:ext cx="2010700" cy="1213746"/>
        </a:xfrm>
        <a:prstGeom prst="rect">
          <a:avLst/>
        </a:prstGeom>
        <a:solidFill>
          <a:schemeClr val="accent2">
            <a:tint val="40000"/>
            <a:alpha val="90000"/>
            <a:hueOff val="9864969"/>
            <a:satOff val="-51830"/>
            <a:lumOff val="-6425"/>
            <a:alphaOff val="0"/>
          </a:schemeClr>
        </a:solidFill>
        <a:ln w="12700" cap="flat" cmpd="sng" algn="ctr">
          <a:solidFill>
            <a:schemeClr val="accent2">
              <a:tint val="40000"/>
              <a:alpha val="90000"/>
              <a:hueOff val="9864969"/>
              <a:satOff val="-51830"/>
              <a:lumOff val="-64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t>Senior Population </a:t>
          </a:r>
        </a:p>
        <a:p>
          <a:pPr marL="114300" lvl="1" indent="-114300" algn="l" defTabSz="533400">
            <a:lnSpc>
              <a:spcPct val="90000"/>
            </a:lnSpc>
            <a:spcBef>
              <a:spcPct val="0"/>
            </a:spcBef>
            <a:spcAft>
              <a:spcPct val="15000"/>
            </a:spcAft>
            <a:buChar char="•"/>
          </a:pPr>
          <a:r>
            <a:rPr lang="en-US" sz="1200" kern="1200" dirty="0"/>
            <a:t>Child Population</a:t>
          </a:r>
        </a:p>
        <a:p>
          <a:pPr marL="114300" lvl="1" indent="-114300" algn="l" defTabSz="533400">
            <a:lnSpc>
              <a:spcPct val="90000"/>
            </a:lnSpc>
            <a:spcBef>
              <a:spcPct val="0"/>
            </a:spcBef>
            <a:spcAft>
              <a:spcPct val="15000"/>
            </a:spcAft>
            <a:buChar char="•"/>
          </a:pPr>
          <a:r>
            <a:rPr lang="en-US" sz="1200" kern="1200" dirty="0"/>
            <a:t>Working Age Population</a:t>
          </a:r>
        </a:p>
        <a:p>
          <a:pPr marL="114300" lvl="1" indent="-114300" algn="l" defTabSz="533400">
            <a:lnSpc>
              <a:spcPct val="90000"/>
            </a:lnSpc>
            <a:spcBef>
              <a:spcPct val="0"/>
            </a:spcBef>
            <a:spcAft>
              <a:spcPct val="15000"/>
            </a:spcAft>
            <a:buChar char="•"/>
          </a:pPr>
          <a:r>
            <a:rPr lang="en-US" sz="1200" kern="1200" dirty="0"/>
            <a:t>Age Dependency Ratio</a:t>
          </a:r>
        </a:p>
        <a:p>
          <a:pPr marL="114300" lvl="1" indent="-114300" algn="l" defTabSz="533400">
            <a:lnSpc>
              <a:spcPct val="90000"/>
            </a:lnSpc>
            <a:spcBef>
              <a:spcPct val="0"/>
            </a:spcBef>
            <a:spcAft>
              <a:spcPct val="15000"/>
            </a:spcAft>
            <a:buChar char="•"/>
          </a:pPr>
          <a:r>
            <a:rPr lang="en-US" sz="1200" kern="1200" dirty="0"/>
            <a:t>Average Household Size</a:t>
          </a:r>
        </a:p>
      </dsp:txBody>
      <dsp:txXfrm>
        <a:off x="9515168" y="4289028"/>
        <a:ext cx="2010700" cy="12137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5F7258-08FA-1040-A74E-D0C04C8688B4}">
      <dsp:nvSpPr>
        <dsp:cNvPr id="0" name=""/>
        <dsp:cNvSpPr/>
      </dsp:nvSpPr>
      <dsp:spPr>
        <a:xfrm>
          <a:off x="779426" y="901"/>
          <a:ext cx="1470836" cy="147083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LILEE - Aggregate Level Probability as Priors</a:t>
          </a:r>
        </a:p>
      </dsp:txBody>
      <dsp:txXfrm>
        <a:off x="994825" y="216300"/>
        <a:ext cx="1040038" cy="1040038"/>
      </dsp:txXfrm>
    </dsp:sp>
    <dsp:sp modelId="{185BE288-8DE2-2941-B586-1DAED122519B}">
      <dsp:nvSpPr>
        <dsp:cNvPr id="0" name=""/>
        <dsp:cNvSpPr/>
      </dsp:nvSpPr>
      <dsp:spPr>
        <a:xfrm>
          <a:off x="1088301" y="1591169"/>
          <a:ext cx="853085" cy="853085"/>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201377" y="1917389"/>
        <a:ext cx="626933" cy="200645"/>
      </dsp:txXfrm>
    </dsp:sp>
    <dsp:sp modelId="{AD15737E-2C26-EC44-A2D6-57B0B258D6DD}">
      <dsp:nvSpPr>
        <dsp:cNvPr id="0" name=""/>
        <dsp:cNvSpPr/>
      </dsp:nvSpPr>
      <dsp:spPr>
        <a:xfrm>
          <a:off x="779426" y="2563687"/>
          <a:ext cx="1470836" cy="147083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Bayesian Regression using Markov-chain Monte Carlo Simulation</a:t>
          </a:r>
        </a:p>
      </dsp:txBody>
      <dsp:txXfrm>
        <a:off x="994825" y="2779086"/>
        <a:ext cx="1040038" cy="1040038"/>
      </dsp:txXfrm>
    </dsp:sp>
    <dsp:sp modelId="{8F78CA2B-CC72-5048-B31F-4E8DCD777F5D}">
      <dsp:nvSpPr>
        <dsp:cNvPr id="0" name=""/>
        <dsp:cNvSpPr/>
      </dsp:nvSpPr>
      <dsp:spPr>
        <a:xfrm>
          <a:off x="2470888" y="1744136"/>
          <a:ext cx="467726" cy="54715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2470888" y="1853566"/>
        <a:ext cx="327408" cy="328291"/>
      </dsp:txXfrm>
    </dsp:sp>
    <dsp:sp modelId="{47D8662F-00E3-934E-9854-E8AF67628D3F}">
      <dsp:nvSpPr>
        <dsp:cNvPr id="0" name=""/>
        <dsp:cNvSpPr/>
      </dsp:nvSpPr>
      <dsp:spPr>
        <a:xfrm>
          <a:off x="3132764" y="546875"/>
          <a:ext cx="2941673" cy="294167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Generating Fuel Poverty Risk Band (Less Likely to Highly Likely)</a:t>
          </a:r>
        </a:p>
      </dsp:txBody>
      <dsp:txXfrm>
        <a:off x="3563562" y="977673"/>
        <a:ext cx="2080077" cy="208007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46B8DE-1060-E74B-BAB9-D12169FFA6DB}">
      <dsp:nvSpPr>
        <dsp:cNvPr id="0" name=""/>
        <dsp:cNvSpPr/>
      </dsp:nvSpPr>
      <dsp:spPr>
        <a:xfrm>
          <a:off x="333968" y="805505"/>
          <a:ext cx="3228363" cy="1668398"/>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EC79EF-84BA-3242-AC33-CD9CBA5BEB64}">
      <dsp:nvSpPr>
        <dsp:cNvPr id="0" name=""/>
        <dsp:cNvSpPr/>
      </dsp:nvSpPr>
      <dsp:spPr>
        <a:xfrm>
          <a:off x="430448" y="1000626"/>
          <a:ext cx="1499148" cy="14272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5" tIns="28575" rIns="28575" bIns="28575" numCol="1" spcCol="1270" anchor="t" anchorCtr="0">
          <a:noAutofit/>
        </a:bodyPr>
        <a:lstStyle/>
        <a:p>
          <a:pPr marL="0" lvl="0" indent="0" algn="l" defTabSz="666750">
            <a:lnSpc>
              <a:spcPct val="90000"/>
            </a:lnSpc>
            <a:spcBef>
              <a:spcPct val="0"/>
            </a:spcBef>
            <a:spcAft>
              <a:spcPct val="35000"/>
            </a:spcAft>
            <a:buNone/>
          </a:pPr>
          <a:r>
            <a:rPr lang="en-US" sz="1500" kern="1200" dirty="0"/>
            <a:t>Simulation Reached Convergence after 1000 iterations</a:t>
          </a:r>
        </a:p>
      </dsp:txBody>
      <dsp:txXfrm>
        <a:off x="430448" y="1000626"/>
        <a:ext cx="1499148" cy="1427294"/>
      </dsp:txXfrm>
    </dsp:sp>
    <dsp:sp modelId="{4E0775CC-EE68-1C43-8C1E-2F899E2EAD4D}">
      <dsp:nvSpPr>
        <dsp:cNvPr id="0" name=""/>
        <dsp:cNvSpPr/>
      </dsp:nvSpPr>
      <dsp:spPr>
        <a:xfrm>
          <a:off x="1962993" y="1000626"/>
          <a:ext cx="1499148" cy="14272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5" tIns="28575" rIns="28575" bIns="28575" numCol="1" spcCol="1270" anchor="t" anchorCtr="0">
          <a:noAutofit/>
        </a:bodyPr>
        <a:lstStyle/>
        <a:p>
          <a:pPr marL="0" lvl="0" indent="0" algn="l" defTabSz="666750">
            <a:lnSpc>
              <a:spcPct val="90000"/>
            </a:lnSpc>
            <a:spcBef>
              <a:spcPct val="0"/>
            </a:spcBef>
            <a:spcAft>
              <a:spcPct val="35000"/>
            </a:spcAft>
            <a:buNone/>
          </a:pPr>
          <a:r>
            <a:rPr lang="en-US" sz="1500" kern="1200" dirty="0"/>
            <a:t>Computationally Hungry, hence 2.6M rows had to be reduced to 10K only.</a:t>
          </a:r>
        </a:p>
      </dsp:txBody>
      <dsp:txXfrm>
        <a:off x="1962993" y="1000626"/>
        <a:ext cx="1499148" cy="1427294"/>
      </dsp:txXfrm>
    </dsp:sp>
    <dsp:sp modelId="{6C9EF804-7A6E-9F4E-8705-AEC754F6CBFA}">
      <dsp:nvSpPr>
        <dsp:cNvPr id="0" name=""/>
        <dsp:cNvSpPr/>
      </dsp:nvSpPr>
      <dsp:spPr>
        <a:xfrm>
          <a:off x="0" y="471622"/>
          <a:ext cx="630829" cy="630829"/>
        </a:xfrm>
        <a:prstGeom prst="plus">
          <a:avLst>
            <a:gd name="adj" fmla="val 328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0BA597-8476-DE48-80AC-81941C08224E}">
      <dsp:nvSpPr>
        <dsp:cNvPr id="0" name=""/>
        <dsp:cNvSpPr/>
      </dsp:nvSpPr>
      <dsp:spPr>
        <a:xfrm>
          <a:off x="3117040" y="698484"/>
          <a:ext cx="593722" cy="20346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D96B67-8A9A-F34B-A123-2A029C019AA4}">
      <dsp:nvSpPr>
        <dsp:cNvPr id="0" name=""/>
        <dsp:cNvSpPr/>
      </dsp:nvSpPr>
      <dsp:spPr>
        <a:xfrm>
          <a:off x="1948150" y="1003678"/>
          <a:ext cx="371" cy="1363203"/>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F08AC6-BBB7-4F29-B458-AFF16ACEED47}">
      <dsp:nvSpPr>
        <dsp:cNvPr id="0" name=""/>
        <dsp:cNvSpPr/>
      </dsp:nvSpPr>
      <dsp:spPr>
        <a:xfrm>
          <a:off x="657900" y="254802"/>
          <a:ext cx="1990125" cy="199012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7999AD-2AA5-419B-8C95-CAD7DBECBE11}">
      <dsp:nvSpPr>
        <dsp:cNvPr id="0" name=""/>
        <dsp:cNvSpPr/>
      </dsp:nvSpPr>
      <dsp:spPr>
        <a:xfrm>
          <a:off x="1082025" y="678927"/>
          <a:ext cx="1141874" cy="11418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09BC79-855F-470F-9810-460EEF7116C4}">
      <dsp:nvSpPr>
        <dsp:cNvPr id="0" name=""/>
        <dsp:cNvSpPr/>
      </dsp:nvSpPr>
      <dsp:spPr>
        <a:xfrm>
          <a:off x="21712" y="2864802"/>
          <a:ext cx="3262500" cy="915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b="1" kern="1200" dirty="0"/>
            <a:t>Data with outliers</a:t>
          </a:r>
          <a:br>
            <a:rPr lang="en-US" sz="1100" kern="1200" dirty="0"/>
          </a:br>
          <a:r>
            <a:rPr lang="en-US" sz="1100" kern="1200" dirty="0"/>
            <a:t>Capped at 99</a:t>
          </a:r>
          <a:r>
            <a:rPr lang="en-US" sz="1100" kern="1200" baseline="30000" dirty="0"/>
            <a:t>th</a:t>
          </a:r>
          <a:r>
            <a:rPr lang="en-US" sz="1100" kern="1200" dirty="0"/>
            <a:t> percentile, rows with outliers removed.</a:t>
          </a:r>
          <a:br>
            <a:rPr lang="en-US" sz="1100" kern="1200" dirty="0"/>
          </a:br>
          <a:r>
            <a:rPr lang="en-US" sz="1100" kern="1200" dirty="0"/>
            <a:t>Imputation may introduce bias, since target is already synthetic</a:t>
          </a:r>
        </a:p>
      </dsp:txBody>
      <dsp:txXfrm>
        <a:off x="21712" y="2864802"/>
        <a:ext cx="3262500" cy="915820"/>
      </dsp:txXfrm>
    </dsp:sp>
    <dsp:sp modelId="{2711D165-FB45-4345-A45C-3F526F07FF11}">
      <dsp:nvSpPr>
        <dsp:cNvPr id="0" name=""/>
        <dsp:cNvSpPr/>
      </dsp:nvSpPr>
      <dsp:spPr>
        <a:xfrm>
          <a:off x="4491337" y="254802"/>
          <a:ext cx="1990125" cy="199012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F3CC78-BD1B-4457-A6B8-35733DF119A2}">
      <dsp:nvSpPr>
        <dsp:cNvPr id="0" name=""/>
        <dsp:cNvSpPr/>
      </dsp:nvSpPr>
      <dsp:spPr>
        <a:xfrm>
          <a:off x="4915462" y="678927"/>
          <a:ext cx="1141874" cy="11418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E53E10-A5A4-47F1-A565-CBB874328C40}">
      <dsp:nvSpPr>
        <dsp:cNvPr id="0" name=""/>
        <dsp:cNvSpPr/>
      </dsp:nvSpPr>
      <dsp:spPr>
        <a:xfrm>
          <a:off x="3855150" y="2864802"/>
          <a:ext cx="3262500" cy="915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1" kern="1200" dirty="0"/>
            <a:t>Metadata</a:t>
          </a:r>
          <a:br>
            <a:rPr lang="en-US" sz="1200" kern="1200" dirty="0"/>
          </a:br>
          <a:r>
            <a:rPr lang="en-US" sz="1200" kern="1200" dirty="0"/>
            <a:t>Entirely removed (like LMK_KEY, </a:t>
          </a:r>
          <a:r>
            <a:rPr lang="en-US" sz="1200" kern="1200" dirty="0" err="1"/>
            <a:t>Lodgement</a:t>
          </a:r>
          <a:r>
            <a:rPr lang="en-US" sz="1200" kern="1200" dirty="0"/>
            <a:t> Date etc.)</a:t>
          </a:r>
        </a:p>
      </dsp:txBody>
      <dsp:txXfrm>
        <a:off x="3855150" y="2864802"/>
        <a:ext cx="3262500" cy="915820"/>
      </dsp:txXfrm>
    </dsp:sp>
    <dsp:sp modelId="{37F8A87F-A887-4539-BE8F-E642184AF804}">
      <dsp:nvSpPr>
        <dsp:cNvPr id="0" name=""/>
        <dsp:cNvSpPr/>
      </dsp:nvSpPr>
      <dsp:spPr>
        <a:xfrm>
          <a:off x="8324775" y="254802"/>
          <a:ext cx="1990125" cy="199012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2F8C71-D78D-4C42-8D1D-AC8D5C557262}">
      <dsp:nvSpPr>
        <dsp:cNvPr id="0" name=""/>
        <dsp:cNvSpPr/>
      </dsp:nvSpPr>
      <dsp:spPr>
        <a:xfrm>
          <a:off x="8748900" y="678927"/>
          <a:ext cx="1141874" cy="11418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8DBE27-11E1-460A-B1A9-72244F408ACC}">
      <dsp:nvSpPr>
        <dsp:cNvPr id="0" name=""/>
        <dsp:cNvSpPr/>
      </dsp:nvSpPr>
      <dsp:spPr>
        <a:xfrm>
          <a:off x="7688587" y="2864802"/>
          <a:ext cx="3262500" cy="915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1" kern="1200" dirty="0"/>
            <a:t>Derived features</a:t>
          </a:r>
          <a:br>
            <a:rPr lang="en-US" sz="1200" kern="1200" dirty="0"/>
          </a:br>
          <a:r>
            <a:rPr lang="en-US" sz="1200" kern="1200" dirty="0"/>
            <a:t>Removed if they have low variation (hence, very little signal) unless highly relevant or multiplicative in practice</a:t>
          </a:r>
        </a:p>
      </dsp:txBody>
      <dsp:txXfrm>
        <a:off x="7688587" y="2864802"/>
        <a:ext cx="3262500" cy="9158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9BF23C-C910-0441-8B2D-E7B148B06F9D}">
      <dsp:nvSpPr>
        <dsp:cNvPr id="0" name=""/>
        <dsp:cNvSpPr/>
      </dsp:nvSpPr>
      <dsp:spPr>
        <a:xfrm rot="16200000">
          <a:off x="132" y="837116"/>
          <a:ext cx="1514165" cy="1514165"/>
        </a:xfrm>
        <a:prstGeom prst="up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Evaluation</a:t>
          </a:r>
        </a:p>
      </dsp:txBody>
      <dsp:txXfrm rot="5400000">
        <a:off x="265112" y="1215657"/>
        <a:ext cx="1249186" cy="757083"/>
      </dsp:txXfrm>
    </dsp:sp>
    <dsp:sp modelId="{2AAB57EA-0532-E34D-BD78-9A20A0DFF2F1}">
      <dsp:nvSpPr>
        <dsp:cNvPr id="0" name=""/>
        <dsp:cNvSpPr/>
      </dsp:nvSpPr>
      <dsp:spPr>
        <a:xfrm rot="5400000">
          <a:off x="1666225" y="837116"/>
          <a:ext cx="1514165" cy="1514165"/>
        </a:xfrm>
        <a:prstGeom prst="up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Code Snippet</a:t>
          </a:r>
        </a:p>
      </dsp:txBody>
      <dsp:txXfrm rot="-5400000">
        <a:off x="1666226" y="1215657"/>
        <a:ext cx="1249186" cy="7570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9BF23C-C910-0441-8B2D-E7B148B06F9D}">
      <dsp:nvSpPr>
        <dsp:cNvPr id="0" name=""/>
        <dsp:cNvSpPr/>
      </dsp:nvSpPr>
      <dsp:spPr>
        <a:xfrm rot="16200000">
          <a:off x="132" y="837116"/>
          <a:ext cx="1514165" cy="1514165"/>
        </a:xfrm>
        <a:prstGeom prst="up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Evaluation</a:t>
          </a:r>
        </a:p>
      </dsp:txBody>
      <dsp:txXfrm rot="5400000">
        <a:off x="265112" y="1215657"/>
        <a:ext cx="1249186" cy="757083"/>
      </dsp:txXfrm>
    </dsp:sp>
    <dsp:sp modelId="{2AAB57EA-0532-E34D-BD78-9A20A0DFF2F1}">
      <dsp:nvSpPr>
        <dsp:cNvPr id="0" name=""/>
        <dsp:cNvSpPr/>
      </dsp:nvSpPr>
      <dsp:spPr>
        <a:xfrm rot="5400000">
          <a:off x="1666225" y="837116"/>
          <a:ext cx="1514165" cy="1514165"/>
        </a:xfrm>
        <a:prstGeom prst="up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Code Snippet</a:t>
          </a:r>
        </a:p>
      </dsp:txBody>
      <dsp:txXfrm rot="-5400000">
        <a:off x="1666226" y="1215657"/>
        <a:ext cx="1249186" cy="75708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9BF23C-C910-0441-8B2D-E7B148B06F9D}">
      <dsp:nvSpPr>
        <dsp:cNvPr id="0" name=""/>
        <dsp:cNvSpPr/>
      </dsp:nvSpPr>
      <dsp:spPr>
        <a:xfrm rot="16200000">
          <a:off x="132" y="837116"/>
          <a:ext cx="1514165" cy="1514165"/>
        </a:xfrm>
        <a:prstGeom prst="up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Evaluation</a:t>
          </a:r>
        </a:p>
      </dsp:txBody>
      <dsp:txXfrm rot="5400000">
        <a:off x="265112" y="1215657"/>
        <a:ext cx="1249186" cy="757083"/>
      </dsp:txXfrm>
    </dsp:sp>
    <dsp:sp modelId="{2AAB57EA-0532-E34D-BD78-9A20A0DFF2F1}">
      <dsp:nvSpPr>
        <dsp:cNvPr id="0" name=""/>
        <dsp:cNvSpPr/>
      </dsp:nvSpPr>
      <dsp:spPr>
        <a:xfrm rot="5400000">
          <a:off x="1666225" y="837116"/>
          <a:ext cx="1514165" cy="1514165"/>
        </a:xfrm>
        <a:prstGeom prst="up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Code Snippet</a:t>
          </a:r>
        </a:p>
      </dsp:txBody>
      <dsp:txXfrm rot="-5400000">
        <a:off x="1666226" y="1215657"/>
        <a:ext cx="1249186" cy="7570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9BF23C-C910-0441-8B2D-E7B148B06F9D}">
      <dsp:nvSpPr>
        <dsp:cNvPr id="0" name=""/>
        <dsp:cNvSpPr/>
      </dsp:nvSpPr>
      <dsp:spPr>
        <a:xfrm rot="16200000">
          <a:off x="132" y="837116"/>
          <a:ext cx="1514165" cy="1514165"/>
        </a:xfrm>
        <a:prstGeom prst="up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Evaluation</a:t>
          </a:r>
        </a:p>
      </dsp:txBody>
      <dsp:txXfrm rot="5400000">
        <a:off x="265112" y="1215657"/>
        <a:ext cx="1249186" cy="757083"/>
      </dsp:txXfrm>
    </dsp:sp>
    <dsp:sp modelId="{2AAB57EA-0532-E34D-BD78-9A20A0DFF2F1}">
      <dsp:nvSpPr>
        <dsp:cNvPr id="0" name=""/>
        <dsp:cNvSpPr/>
      </dsp:nvSpPr>
      <dsp:spPr>
        <a:xfrm rot="5400000">
          <a:off x="1666225" y="837116"/>
          <a:ext cx="1514165" cy="1514165"/>
        </a:xfrm>
        <a:prstGeom prst="up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Code Snippet</a:t>
          </a:r>
        </a:p>
      </dsp:txBody>
      <dsp:txXfrm rot="-5400000">
        <a:off x="1666226" y="1215657"/>
        <a:ext cx="1249186" cy="75708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5.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31B9AF-A732-1A4B-B9EC-CC4CCBDEDC7E}" type="datetimeFigureOut">
              <a:rPr lang="en-US" smtClean="0"/>
              <a:t>7/6/26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F4A5F5-8ED7-6342-AD83-3808A00F6407}" type="slidenum">
              <a:rPr lang="en-US" smtClean="0"/>
              <a:t>‹#›</a:t>
            </a:fld>
            <a:endParaRPr lang="en-US"/>
          </a:p>
        </p:txBody>
      </p:sp>
    </p:spTree>
    <p:extLst>
      <p:ext uri="{BB962C8B-B14F-4D97-AF65-F5344CB8AC3E}">
        <p14:creationId xmlns:p14="http://schemas.microsoft.com/office/powerpoint/2010/main" val="785995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F4A5F5-8ED7-6342-AD83-3808A00F6407}" type="slidenum">
              <a:rPr lang="en-US" smtClean="0"/>
              <a:t>4</a:t>
            </a:fld>
            <a:endParaRPr lang="en-US"/>
          </a:p>
        </p:txBody>
      </p:sp>
    </p:spTree>
    <p:extLst>
      <p:ext uri="{BB962C8B-B14F-4D97-AF65-F5344CB8AC3E}">
        <p14:creationId xmlns:p14="http://schemas.microsoft.com/office/powerpoint/2010/main" val="110904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612648" y="557783"/>
            <a:ext cx="10969752" cy="313080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612648" y="3902206"/>
            <a:ext cx="10969752" cy="224052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9C5A860-F335-4252-AA00-24FB67ED2982}" type="datetime1">
              <a:rPr lang="en-US" smtClean="0"/>
              <a:t>7/6/26</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33659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D04BC802-30E3-4658-9CCA-F873646FEC67}" type="datetime1">
              <a:rPr lang="en-US" smtClean="0"/>
              <a:t>7/6/26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248971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612648" y="557784"/>
            <a:ext cx="10969752" cy="31464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612648" y="3902207"/>
            <a:ext cx="10969752" cy="2187443"/>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AB227A3-19CE-4153-81CE-64EB7AB094B3}" type="datetime1">
              <a:rPr lang="en-US" smtClean="0"/>
              <a:t>7/6/26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634430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609600"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2"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B819A100-10F6-477E-8847-29D479EF1C92}" type="datetime1">
              <a:rPr lang="en-US" smtClean="0"/>
              <a:t>7/6/26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212555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609600" y="365125"/>
            <a:ext cx="1074578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609600" y="1895096"/>
            <a:ext cx="5387975"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609600" y="2842211"/>
            <a:ext cx="5387975"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67890" y="1895096"/>
            <a:ext cx="541451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67890" y="2842211"/>
            <a:ext cx="5414510"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5DF128AB-198A-495F-8475-FDB360C9873F}" type="datetime1">
              <a:rPr lang="en-US" smtClean="0"/>
              <a:t>7/6/26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902506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21A235E-F8FD-479F-9FC7-18BE84110877}" type="datetime1">
              <a:rPr lang="en-US" smtClean="0"/>
              <a:t>7/6/26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396350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E890F09B-68DA-462E-9DB4-4C9ADAB8CBCC}" type="datetime1">
              <a:rPr lang="en-US" smtClean="0"/>
              <a:t>7/6/26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68694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612649" y="457199"/>
            <a:ext cx="4970822" cy="2660205"/>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6096000" y="457200"/>
            <a:ext cx="5483352" cy="574400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612649" y="3329989"/>
            <a:ext cx="4970822" cy="287121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17AC4E36-FABE-47EB-AA7F-C19A93824617}" type="datetime1">
              <a:rPr lang="en-US" smtClean="0"/>
              <a:t>7/6/26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352979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612649" y="457199"/>
            <a:ext cx="4970822" cy="26674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6096000" y="457199"/>
            <a:ext cx="5483352"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612649" y="3322708"/>
            <a:ext cx="4970822" cy="254628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F199CE6B-5DE6-4A2D-B72E-5E8969F9F56F}" type="datetime1">
              <a:rPr lang="en-US" smtClean="0"/>
              <a:t>7/6/26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6207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46AB1048-0047-48CA-88BA-D69B470942CF}" type="datetime1">
              <a:rPr lang="en-US" smtClean="0"/>
              <a:t>7/6/26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806723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557784"/>
            <a:ext cx="2854452" cy="564342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612648" y="557784"/>
            <a:ext cx="7734300" cy="56434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5BD83879-648C-49A9-81A2-0EF5946532D0}" type="datetime1">
              <a:rPr lang="en-US" smtClean="0"/>
              <a:t>7/6/26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583176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7/6/26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2438691468"/>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50" r:id="rId6"/>
    <p:sldLayoutId id="2147483745" r:id="rId7"/>
    <p:sldLayoutId id="2147483746" r:id="rId8"/>
    <p:sldLayoutId id="2147483747" r:id="rId9"/>
    <p:sldLayoutId id="2147483749" r:id="rId10"/>
    <p:sldLayoutId id="2147483748"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12" Type="http://schemas.openxmlformats.org/officeDocument/2006/relationships/image" Target="../media/image5.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18.png"/><Relationship Id="rId7" Type="http://schemas.openxmlformats.org/officeDocument/2006/relationships/diagramQuickStyle" Target="../diagrams/quickStyle7.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19.png"/><Relationship Id="rId9" Type="http://schemas.microsoft.com/office/2007/relationships/diagramDrawing" Target="../diagrams/drawing7.xml"/></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Layout" Target="../diagrams/layout8.xml"/><Relationship Id="rId7" Type="http://schemas.openxmlformats.org/officeDocument/2006/relationships/image" Target="../media/image20.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 Id="rId9"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Layout" Target="../diagrams/layout9.xml"/><Relationship Id="rId7" Type="http://schemas.openxmlformats.org/officeDocument/2006/relationships/image" Target="../media/image23.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Layout" Target="../diagrams/layout10.xml"/><Relationship Id="rId7" Type="http://schemas.openxmlformats.org/officeDocument/2006/relationships/image" Target="../media/image23.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42E603F-28B7-4831-BF23-65FBAB13D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0">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8"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6ADA084-C86B-4F3C-8077-6A8999CC4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B6898CB3-ECE9-A387-3A5C-6074D3A88335}"/>
              </a:ext>
            </a:extLst>
          </p:cNvPr>
          <p:cNvSpPr>
            <a:spLocks noGrp="1"/>
          </p:cNvSpPr>
          <p:nvPr>
            <p:ph type="ctrTitle"/>
          </p:nvPr>
        </p:nvSpPr>
        <p:spPr>
          <a:xfrm>
            <a:off x="6433074" y="552782"/>
            <a:ext cx="5149326" cy="1643663"/>
          </a:xfrm>
        </p:spPr>
        <p:txBody>
          <a:bodyPr vert="horz" lIns="91440" tIns="45720" rIns="91440" bIns="45720" rtlCol="0" anchor="b">
            <a:normAutofit/>
          </a:bodyPr>
          <a:lstStyle/>
          <a:p>
            <a:pPr>
              <a:lnSpc>
                <a:spcPct val="90000"/>
              </a:lnSpc>
            </a:pPr>
            <a:r>
              <a:rPr lang="en-US" sz="2800" kern="1200" dirty="0">
                <a:solidFill>
                  <a:schemeClr val="tx1"/>
                </a:solidFill>
                <a:latin typeface="+mj-lt"/>
                <a:ea typeface="+mj-ea"/>
                <a:cs typeface="+mj-cs"/>
              </a:rPr>
              <a:t>Predicting Household Fuel Poverty from Aggregate Statistics Using Machine Learning Approaches</a:t>
            </a:r>
          </a:p>
        </p:txBody>
      </p:sp>
      <p:pic>
        <p:nvPicPr>
          <p:cNvPr id="19" name="Picture 18">
            <a:extLst>
              <a:ext uri="{FF2B5EF4-FFF2-40B4-BE49-F238E27FC236}">
                <a16:creationId xmlns:a16="http://schemas.microsoft.com/office/drawing/2014/main" id="{607FAC7D-AD1A-3BC2-8C8C-8A04C42F6D22}"/>
              </a:ext>
            </a:extLst>
          </p:cNvPr>
          <p:cNvPicPr>
            <a:picLocks noChangeAspect="1"/>
          </p:cNvPicPr>
          <p:nvPr/>
        </p:nvPicPr>
        <p:blipFill>
          <a:blip r:embed="rId2"/>
          <a:srcRect l="10817" r="-3" b="-3"/>
          <a:stretch>
            <a:fillRect/>
          </a:stretch>
        </p:blipFill>
        <p:spPr>
          <a:xfrm>
            <a:off x="2" y="10"/>
            <a:ext cx="6164130" cy="5529421"/>
          </a:xfrm>
          <a:custGeom>
            <a:avLst/>
            <a:gdLst/>
            <a:ahLst/>
            <a:cxnLst/>
            <a:rect l="l" t="t" r="r" b="b"/>
            <a:pathLst>
              <a:path w="6972657" h="6356349">
                <a:moveTo>
                  <a:pt x="4162425" y="4810724"/>
                </a:moveTo>
                <a:cubicBezTo>
                  <a:pt x="4508954" y="4810724"/>
                  <a:pt x="4789872" y="5103559"/>
                  <a:pt x="4789872" y="5464789"/>
                </a:cubicBezTo>
                <a:cubicBezTo>
                  <a:pt x="4789872" y="5826019"/>
                  <a:pt x="4508954" y="6118855"/>
                  <a:pt x="4162425" y="6118855"/>
                </a:cubicBezTo>
                <a:cubicBezTo>
                  <a:pt x="3815896" y="6118855"/>
                  <a:pt x="3534978" y="5826019"/>
                  <a:pt x="3534978" y="5464789"/>
                </a:cubicBezTo>
                <a:cubicBezTo>
                  <a:pt x="3534978" y="5103559"/>
                  <a:pt x="3815896" y="4810724"/>
                  <a:pt x="4162425" y="4810724"/>
                </a:cubicBezTo>
                <a:close/>
                <a:moveTo>
                  <a:pt x="92101" y="4731176"/>
                </a:moveTo>
                <a:cubicBezTo>
                  <a:pt x="540880" y="4731176"/>
                  <a:pt x="904688" y="5094984"/>
                  <a:pt x="904688" y="5543763"/>
                </a:cubicBezTo>
                <a:cubicBezTo>
                  <a:pt x="904688" y="5964494"/>
                  <a:pt x="584935" y="6310542"/>
                  <a:pt x="175183" y="6352155"/>
                </a:cubicBezTo>
                <a:lnTo>
                  <a:pt x="92121" y="6356349"/>
                </a:lnTo>
                <a:lnTo>
                  <a:pt x="92081" y="6356349"/>
                </a:lnTo>
                <a:lnTo>
                  <a:pt x="9019" y="6352155"/>
                </a:lnTo>
                <a:lnTo>
                  <a:pt x="4079" y="6351401"/>
                </a:lnTo>
                <a:lnTo>
                  <a:pt x="0" y="6352492"/>
                </a:lnTo>
                <a:lnTo>
                  <a:pt x="0" y="4736748"/>
                </a:lnTo>
                <a:lnTo>
                  <a:pt x="9019" y="4735372"/>
                </a:lnTo>
                <a:cubicBezTo>
                  <a:pt x="36336" y="4732597"/>
                  <a:pt x="64052" y="4731176"/>
                  <a:pt x="92101" y="4731176"/>
                </a:cubicBezTo>
                <a:close/>
                <a:moveTo>
                  <a:pt x="6385770" y="2098604"/>
                </a:moveTo>
                <a:cubicBezTo>
                  <a:pt x="6543907" y="2107100"/>
                  <a:pt x="6698935" y="2178483"/>
                  <a:pt x="6813407" y="2310776"/>
                </a:cubicBezTo>
                <a:cubicBezTo>
                  <a:pt x="7042252" y="2575278"/>
                  <a:pt x="7022052" y="2983098"/>
                  <a:pt x="6768322" y="3221698"/>
                </a:cubicBezTo>
                <a:cubicBezTo>
                  <a:pt x="6718815" y="3268040"/>
                  <a:pt x="6662527" y="3305861"/>
                  <a:pt x="6601629" y="3333787"/>
                </a:cubicBezTo>
                <a:cubicBezTo>
                  <a:pt x="6357584" y="3444872"/>
                  <a:pt x="6072796" y="3380857"/>
                  <a:pt x="5894479" y="3174765"/>
                </a:cubicBezTo>
                <a:cubicBezTo>
                  <a:pt x="5665537" y="2910180"/>
                  <a:pt x="5685739" y="2502359"/>
                  <a:pt x="5939476" y="2263752"/>
                </a:cubicBezTo>
                <a:cubicBezTo>
                  <a:pt x="6066385" y="2144498"/>
                  <a:pt x="6227633" y="2090107"/>
                  <a:pt x="6385770" y="2098604"/>
                </a:cubicBezTo>
                <a:close/>
                <a:moveTo>
                  <a:pt x="0" y="0"/>
                </a:moveTo>
                <a:lnTo>
                  <a:pt x="5609109" y="0"/>
                </a:lnTo>
                <a:lnTo>
                  <a:pt x="5710855" y="100163"/>
                </a:lnTo>
                <a:cubicBezTo>
                  <a:pt x="5940043" y="363896"/>
                  <a:pt x="6060564" y="781193"/>
                  <a:pt x="5983550" y="1133306"/>
                </a:cubicBezTo>
                <a:cubicBezTo>
                  <a:pt x="5820740" y="1874471"/>
                  <a:pt x="4868226" y="1916819"/>
                  <a:pt x="4807924" y="2551785"/>
                </a:cubicBezTo>
                <a:cubicBezTo>
                  <a:pt x="4772098" y="2931077"/>
                  <a:pt x="5073952" y="3310271"/>
                  <a:pt x="5323480" y="3486493"/>
                </a:cubicBezTo>
                <a:cubicBezTo>
                  <a:pt x="5798207" y="3822498"/>
                  <a:pt x="6190925" y="3545085"/>
                  <a:pt x="6484693" y="3873055"/>
                </a:cubicBezTo>
                <a:cubicBezTo>
                  <a:pt x="6702769" y="4116667"/>
                  <a:pt x="6749067" y="4564067"/>
                  <a:pt x="6564699" y="4869471"/>
                </a:cubicBezTo>
                <a:cubicBezTo>
                  <a:pt x="6538929" y="4912110"/>
                  <a:pt x="6508772" y="4951720"/>
                  <a:pt x="6474766" y="4987555"/>
                </a:cubicBezTo>
                <a:lnTo>
                  <a:pt x="6475634" y="4987552"/>
                </a:lnTo>
                <a:cubicBezTo>
                  <a:pt x="6246183" y="5229347"/>
                  <a:pt x="5896158" y="5245005"/>
                  <a:pt x="5787911" y="5249784"/>
                </a:cubicBezTo>
                <a:cubicBezTo>
                  <a:pt x="5276208" y="5272608"/>
                  <a:pt x="5181583" y="4739335"/>
                  <a:pt x="4594647" y="4582595"/>
                </a:cubicBezTo>
                <a:cubicBezTo>
                  <a:pt x="4553401" y="4571414"/>
                  <a:pt x="4047262" y="4444111"/>
                  <a:pt x="3576692" y="4689896"/>
                </a:cubicBezTo>
                <a:cubicBezTo>
                  <a:pt x="2903508" y="5041365"/>
                  <a:pt x="3035835" y="5772616"/>
                  <a:pt x="2439534" y="6019748"/>
                </a:cubicBezTo>
                <a:cubicBezTo>
                  <a:pt x="2062607" y="6175963"/>
                  <a:pt x="1545662" y="6076257"/>
                  <a:pt x="1262869" y="5786450"/>
                </a:cubicBezTo>
                <a:cubicBezTo>
                  <a:pt x="864056" y="5377550"/>
                  <a:pt x="1125562" y="4799418"/>
                  <a:pt x="734842" y="4526254"/>
                </a:cubicBezTo>
                <a:cubicBezTo>
                  <a:pt x="506361" y="4366061"/>
                  <a:pt x="192715" y="4446641"/>
                  <a:pt x="19856" y="4511293"/>
                </a:cubicBezTo>
                <a:lnTo>
                  <a:pt x="0" y="4519330"/>
                </a:lnTo>
                <a:close/>
              </a:path>
            </a:pathLst>
          </a:custGeom>
        </p:spPr>
      </p:pic>
      <p:sp>
        <p:nvSpPr>
          <p:cNvPr id="5" name="Subtitle 4">
            <a:extLst>
              <a:ext uri="{FF2B5EF4-FFF2-40B4-BE49-F238E27FC236}">
                <a16:creationId xmlns:a16="http://schemas.microsoft.com/office/drawing/2014/main" id="{765578E7-3265-D0AB-F317-8E8FA5E894D3}"/>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652580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A46C5F3-4EAC-473B-BD72-1219E833DB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12231725-D083-4E0F-9428-1C2635189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2140699"/>
            <a:ext cx="12192000" cy="4717301"/>
          </a:xfrm>
          <a:custGeom>
            <a:avLst/>
            <a:gdLst>
              <a:gd name="connsiteX0" fmla="*/ 8930642 w 12192000"/>
              <a:gd name="connsiteY0" fmla="*/ 4273734 h 4717301"/>
              <a:gd name="connsiteX1" fmla="*/ 9143134 w 12192000"/>
              <a:gd name="connsiteY1" fmla="*/ 4396362 h 4717301"/>
              <a:gd name="connsiteX2" fmla="*/ 9043549 w 12192000"/>
              <a:gd name="connsiteY2" fmla="*/ 4693978 h 4717301"/>
              <a:gd name="connsiteX3" fmla="*/ 8745984 w 12192000"/>
              <a:gd name="connsiteY3" fmla="*/ 4594249 h 4717301"/>
              <a:gd name="connsiteX4" fmla="*/ 8845568 w 12192000"/>
              <a:gd name="connsiteY4" fmla="*/ 4296634 h 4717301"/>
              <a:gd name="connsiteX5" fmla="*/ 8930642 w 12192000"/>
              <a:gd name="connsiteY5" fmla="*/ 4273734 h 4717301"/>
              <a:gd name="connsiteX6" fmla="*/ 9842642 w 12192000"/>
              <a:gd name="connsiteY6" fmla="*/ 3718743 h 4717301"/>
              <a:gd name="connsiteX7" fmla="*/ 10272210 w 12192000"/>
              <a:gd name="connsiteY7" fmla="*/ 3966645 h 4717301"/>
              <a:gd name="connsiteX8" fmla="*/ 10070896 w 12192000"/>
              <a:gd name="connsiteY8" fmla="*/ 4568292 h 4717301"/>
              <a:gd name="connsiteX9" fmla="*/ 9469346 w 12192000"/>
              <a:gd name="connsiteY9" fmla="*/ 4366686 h 4717301"/>
              <a:gd name="connsiteX10" fmla="*/ 9670660 w 12192000"/>
              <a:gd name="connsiteY10" fmla="*/ 3765038 h 4717301"/>
              <a:gd name="connsiteX11" fmla="*/ 9842642 w 12192000"/>
              <a:gd name="connsiteY11" fmla="*/ 3718743 h 4717301"/>
              <a:gd name="connsiteX12" fmla="*/ 0 w 12192000"/>
              <a:gd name="connsiteY12" fmla="*/ 0 h 4717301"/>
              <a:gd name="connsiteX13" fmla="*/ 12192000 w 12192000"/>
              <a:gd name="connsiteY13" fmla="*/ 0 h 4717301"/>
              <a:gd name="connsiteX14" fmla="*/ 12192000 w 12192000"/>
              <a:gd name="connsiteY14" fmla="*/ 3369891 h 4717301"/>
              <a:gd name="connsiteX15" fmla="*/ 12124015 w 12192000"/>
              <a:gd name="connsiteY15" fmla="*/ 3410713 h 4717301"/>
              <a:gd name="connsiteX16" fmla="*/ 11077457 w 12192000"/>
              <a:gd name="connsiteY16" fmla="*/ 3501725 h 4717301"/>
              <a:gd name="connsiteX17" fmla="*/ 9867246 w 12192000"/>
              <a:gd name="connsiteY17" fmla="*/ 3351592 h 4717301"/>
              <a:gd name="connsiteX18" fmla="*/ 8994802 w 12192000"/>
              <a:gd name="connsiteY18" fmla="*/ 3878378 h 4717301"/>
              <a:gd name="connsiteX19" fmla="*/ 6994655 w 12192000"/>
              <a:gd name="connsiteY19" fmla="*/ 4335637 h 4717301"/>
              <a:gd name="connsiteX20" fmla="*/ 6287534 w 12192000"/>
              <a:gd name="connsiteY20" fmla="*/ 3714199 h 4717301"/>
              <a:gd name="connsiteX21" fmla="*/ 4392596 w 12192000"/>
              <a:gd name="connsiteY21" fmla="*/ 3392344 h 4717301"/>
              <a:gd name="connsiteX22" fmla="*/ 3014500 w 12192000"/>
              <a:gd name="connsiteY22" fmla="*/ 4100222 h 4717301"/>
              <a:gd name="connsiteX23" fmla="*/ 86414 w 12192000"/>
              <a:gd name="connsiteY23" fmla="*/ 3903305 h 4717301"/>
              <a:gd name="connsiteX24" fmla="*/ 0 w 12192000"/>
              <a:gd name="connsiteY24" fmla="*/ 3840566 h 471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4717301">
                <a:moveTo>
                  <a:pt x="8930642" y="4273734"/>
                </a:moveTo>
                <a:cubicBezTo>
                  <a:pt x="9016941" y="4268381"/>
                  <a:pt x="9102130" y="4314070"/>
                  <a:pt x="9143134" y="4396362"/>
                </a:cubicBezTo>
                <a:cubicBezTo>
                  <a:pt x="9197806" y="4506087"/>
                  <a:pt x="9153221" y="4639333"/>
                  <a:pt x="9043549" y="4693978"/>
                </a:cubicBezTo>
                <a:cubicBezTo>
                  <a:pt x="8933879" y="4748622"/>
                  <a:pt x="8800655" y="4703973"/>
                  <a:pt x="8745984" y="4594249"/>
                </a:cubicBezTo>
                <a:cubicBezTo>
                  <a:pt x="8691311" y="4484525"/>
                  <a:pt x="8735897" y="4351279"/>
                  <a:pt x="8845568" y="4296634"/>
                </a:cubicBezTo>
                <a:cubicBezTo>
                  <a:pt x="8872986" y="4282973"/>
                  <a:pt x="8901875" y="4275517"/>
                  <a:pt x="8930642" y="4273734"/>
                </a:cubicBezTo>
                <a:close/>
                <a:moveTo>
                  <a:pt x="9842642" y="3718743"/>
                </a:moveTo>
                <a:cubicBezTo>
                  <a:pt x="10017101" y="3707923"/>
                  <a:pt x="10189318" y="3800286"/>
                  <a:pt x="10272210" y="3966645"/>
                </a:cubicBezTo>
                <a:cubicBezTo>
                  <a:pt x="10382732" y="4188458"/>
                  <a:pt x="10292600" y="4457825"/>
                  <a:pt x="10070896" y="4568292"/>
                </a:cubicBezTo>
                <a:cubicBezTo>
                  <a:pt x="9849191" y="4678760"/>
                  <a:pt x="9579867" y="4588498"/>
                  <a:pt x="9469346" y="4366686"/>
                </a:cubicBezTo>
                <a:cubicBezTo>
                  <a:pt x="9358824" y="4144873"/>
                  <a:pt x="9448956" y="3875506"/>
                  <a:pt x="9670660" y="3765038"/>
                </a:cubicBezTo>
                <a:cubicBezTo>
                  <a:pt x="9726087" y="3737421"/>
                  <a:pt x="9784490" y="3722349"/>
                  <a:pt x="9842642" y="3718743"/>
                </a:cubicBezTo>
                <a:close/>
                <a:moveTo>
                  <a:pt x="0" y="0"/>
                </a:moveTo>
                <a:lnTo>
                  <a:pt x="12192000" y="0"/>
                </a:lnTo>
                <a:lnTo>
                  <a:pt x="12192000" y="3369891"/>
                </a:lnTo>
                <a:lnTo>
                  <a:pt x="12124015" y="3410713"/>
                </a:lnTo>
                <a:cubicBezTo>
                  <a:pt x="11792041" y="3581538"/>
                  <a:pt x="11443617" y="3577252"/>
                  <a:pt x="11077457" y="3501725"/>
                </a:cubicBezTo>
                <a:cubicBezTo>
                  <a:pt x="10679189" y="3419860"/>
                  <a:pt x="10271734" y="3358281"/>
                  <a:pt x="9867246" y="3351592"/>
                </a:cubicBezTo>
                <a:cubicBezTo>
                  <a:pt x="9492336" y="3345611"/>
                  <a:pt x="9239136" y="3626329"/>
                  <a:pt x="8994802" y="3878378"/>
                </a:cubicBezTo>
                <a:cubicBezTo>
                  <a:pt x="8385954" y="4506678"/>
                  <a:pt x="7695268" y="4690742"/>
                  <a:pt x="6994655" y="4335637"/>
                </a:cubicBezTo>
                <a:cubicBezTo>
                  <a:pt x="6722938" y="4197922"/>
                  <a:pt x="6494843" y="3948626"/>
                  <a:pt x="6287534" y="3714199"/>
                </a:cubicBezTo>
                <a:cubicBezTo>
                  <a:pt x="5731733" y="3085491"/>
                  <a:pt x="5043559" y="3067499"/>
                  <a:pt x="4392596" y="3392344"/>
                </a:cubicBezTo>
                <a:cubicBezTo>
                  <a:pt x="3930423" y="3623867"/>
                  <a:pt x="3492022" y="3908604"/>
                  <a:pt x="3014500" y="4100222"/>
                </a:cubicBezTo>
                <a:cubicBezTo>
                  <a:pt x="1977820" y="4518409"/>
                  <a:pt x="973242" y="4499486"/>
                  <a:pt x="86414" y="3903305"/>
                </a:cubicBezTo>
                <a:lnTo>
                  <a:pt x="0" y="384056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D7DA19-FA25-A478-7F96-7FFE952B7A9D}"/>
              </a:ext>
            </a:extLst>
          </p:cNvPr>
          <p:cNvSpPr>
            <a:spLocks noGrp="1"/>
          </p:cNvSpPr>
          <p:nvPr>
            <p:ph type="title"/>
          </p:nvPr>
        </p:nvSpPr>
        <p:spPr>
          <a:xfrm>
            <a:off x="609600" y="557784"/>
            <a:ext cx="10972800" cy="866953"/>
          </a:xfrm>
        </p:spPr>
        <p:txBody>
          <a:bodyPr>
            <a:normAutofit/>
          </a:bodyPr>
          <a:lstStyle/>
          <a:p>
            <a:r>
              <a:rPr lang="en-US" dirty="0"/>
              <a:t>Business Understanding</a:t>
            </a:r>
          </a:p>
        </p:txBody>
      </p:sp>
      <p:graphicFrame>
        <p:nvGraphicFramePr>
          <p:cNvPr id="7" name="Content Placeholder 6">
            <a:extLst>
              <a:ext uri="{FF2B5EF4-FFF2-40B4-BE49-F238E27FC236}">
                <a16:creationId xmlns:a16="http://schemas.microsoft.com/office/drawing/2014/main" id="{2080AE20-5666-3ADB-CB27-B13A497AD6BA}"/>
              </a:ext>
            </a:extLst>
          </p:cNvPr>
          <p:cNvGraphicFramePr>
            <a:graphicFrameLocks noGrp="1"/>
          </p:cNvGraphicFramePr>
          <p:nvPr>
            <p:ph idx="1"/>
            <p:extLst>
              <p:ext uri="{D42A27DB-BD31-4B8C-83A1-F6EECF244321}">
                <p14:modId xmlns:p14="http://schemas.microsoft.com/office/powerpoint/2010/main" val="3423998201"/>
              </p:ext>
            </p:extLst>
          </p:nvPr>
        </p:nvGraphicFramePr>
        <p:xfrm>
          <a:off x="609600" y="2923750"/>
          <a:ext cx="10972800" cy="3218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8046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FF975DA-2F73-4697-B7A9-A2E834712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AF35A2-DCD2-9972-EBCB-F5A992D606F7}"/>
              </a:ext>
            </a:extLst>
          </p:cNvPr>
          <p:cNvSpPr>
            <a:spLocks noGrp="1"/>
          </p:cNvSpPr>
          <p:nvPr>
            <p:ph type="title"/>
          </p:nvPr>
        </p:nvSpPr>
        <p:spPr>
          <a:xfrm>
            <a:off x="609600" y="557784"/>
            <a:ext cx="10972800" cy="1325563"/>
          </a:xfrm>
        </p:spPr>
        <p:txBody>
          <a:bodyPr>
            <a:normAutofit/>
          </a:bodyPr>
          <a:lstStyle/>
          <a:p>
            <a:r>
              <a:rPr lang="en-US" dirty="0"/>
              <a:t>Data Understanding</a:t>
            </a:r>
          </a:p>
        </p:txBody>
      </p:sp>
      <p:graphicFrame>
        <p:nvGraphicFramePr>
          <p:cNvPr id="4" name="Content Placeholder 3">
            <a:extLst>
              <a:ext uri="{FF2B5EF4-FFF2-40B4-BE49-F238E27FC236}">
                <a16:creationId xmlns:a16="http://schemas.microsoft.com/office/drawing/2014/main" id="{0C79E42D-C125-1C3E-F4FB-CD6A3F17B2EE}"/>
              </a:ext>
            </a:extLst>
          </p:cNvPr>
          <p:cNvGraphicFramePr>
            <a:graphicFrameLocks noGrp="1"/>
          </p:cNvGraphicFramePr>
          <p:nvPr>
            <p:ph idx="1"/>
            <p:extLst>
              <p:ext uri="{D42A27DB-BD31-4B8C-83A1-F6EECF244321}">
                <p14:modId xmlns:p14="http://schemas.microsoft.com/office/powerpoint/2010/main" val="4263289318"/>
              </p:ext>
            </p:extLst>
          </p:nvPr>
        </p:nvGraphicFramePr>
        <p:xfrm>
          <a:off x="609600" y="2106613"/>
          <a:ext cx="10972800" cy="4035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8894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5"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FF975DA-2F73-4697-B7A9-A2E834712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1084DD9-6BE5-087A-5C8D-DFA79F5EFAF2}"/>
              </a:ext>
            </a:extLst>
          </p:cNvPr>
          <p:cNvSpPr>
            <a:spLocks noGrp="1"/>
          </p:cNvSpPr>
          <p:nvPr>
            <p:ph type="title"/>
          </p:nvPr>
        </p:nvSpPr>
        <p:spPr>
          <a:xfrm>
            <a:off x="608076" y="143114"/>
            <a:ext cx="10972800" cy="803183"/>
          </a:xfrm>
        </p:spPr>
        <p:txBody>
          <a:bodyPr>
            <a:normAutofit/>
          </a:bodyPr>
          <a:lstStyle/>
          <a:p>
            <a:r>
              <a:rPr lang="en-US" dirty="0"/>
              <a:t>Data Preparation</a:t>
            </a:r>
          </a:p>
        </p:txBody>
      </p:sp>
      <p:graphicFrame>
        <p:nvGraphicFramePr>
          <p:cNvPr id="13" name="Content Placeholder 12">
            <a:extLst>
              <a:ext uri="{FF2B5EF4-FFF2-40B4-BE49-F238E27FC236}">
                <a16:creationId xmlns:a16="http://schemas.microsoft.com/office/drawing/2014/main" id="{D46D5C9C-DEDC-A115-B08B-A1604BDA3330}"/>
              </a:ext>
            </a:extLst>
          </p:cNvPr>
          <p:cNvGraphicFramePr>
            <a:graphicFrameLocks noGrp="1"/>
          </p:cNvGraphicFramePr>
          <p:nvPr>
            <p:ph idx="1"/>
            <p:extLst>
              <p:ext uri="{D42A27DB-BD31-4B8C-83A1-F6EECF244321}">
                <p14:modId xmlns:p14="http://schemas.microsoft.com/office/powerpoint/2010/main" val="4094480037"/>
              </p:ext>
            </p:extLst>
          </p:nvPr>
        </p:nvGraphicFramePr>
        <p:xfrm>
          <a:off x="286416" y="834230"/>
          <a:ext cx="11616120" cy="5502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a:extLst>
              <a:ext uri="{FF2B5EF4-FFF2-40B4-BE49-F238E27FC236}">
                <a16:creationId xmlns:a16="http://schemas.microsoft.com/office/drawing/2014/main" id="{B6E5C29E-BAF3-5049-4FCA-4EA3A3DEA1B5}"/>
              </a:ext>
            </a:extLst>
          </p:cNvPr>
          <p:cNvSpPr txBox="1"/>
          <p:nvPr/>
        </p:nvSpPr>
        <p:spPr>
          <a:xfrm>
            <a:off x="1765005" y="6211669"/>
            <a:ext cx="9090837" cy="523220"/>
          </a:xfrm>
          <a:prstGeom prst="rect">
            <a:avLst/>
          </a:prstGeom>
          <a:noFill/>
        </p:spPr>
        <p:txBody>
          <a:bodyPr wrap="square" rtlCol="0">
            <a:spAutoFit/>
          </a:bodyPr>
          <a:lstStyle/>
          <a:p>
            <a:pPr algn="ctr"/>
            <a:r>
              <a:rPr lang="en-US" sz="1400" dirty="0"/>
              <a:t>Add data collected from different </a:t>
            </a:r>
            <a:r>
              <a:rPr lang="en-US" sz="1400" dirty="0" err="1"/>
              <a:t>gov.uk</a:t>
            </a:r>
            <a:r>
              <a:rPr lang="en-US" sz="1400" dirty="0"/>
              <a:t> websites, including but not limited to Stat-Xplore, ONS, NOMIS, Climate Data Portal etc.</a:t>
            </a:r>
          </a:p>
        </p:txBody>
      </p:sp>
    </p:spTree>
    <p:extLst>
      <p:ext uri="{BB962C8B-B14F-4D97-AF65-F5344CB8AC3E}">
        <p14:creationId xmlns:p14="http://schemas.microsoft.com/office/powerpoint/2010/main" val="1330161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E3CF8-DE11-494C-EAFF-00206F1BF733}"/>
              </a:ext>
            </a:extLst>
          </p:cNvPr>
          <p:cNvSpPr>
            <a:spLocks noGrp="1"/>
          </p:cNvSpPr>
          <p:nvPr>
            <p:ph type="title"/>
          </p:nvPr>
        </p:nvSpPr>
        <p:spPr>
          <a:xfrm>
            <a:off x="683813" y="0"/>
            <a:ext cx="10972800" cy="856346"/>
          </a:xfrm>
        </p:spPr>
        <p:txBody>
          <a:bodyPr>
            <a:normAutofit fontScale="90000"/>
          </a:bodyPr>
          <a:lstStyle/>
          <a:p>
            <a:r>
              <a:rPr lang="en-US" dirty="0"/>
              <a:t>Feature Split for Synthetic Target Generation</a:t>
            </a:r>
          </a:p>
        </p:txBody>
      </p:sp>
      <p:graphicFrame>
        <p:nvGraphicFramePr>
          <p:cNvPr id="4" name="Content Placeholder 3">
            <a:extLst>
              <a:ext uri="{FF2B5EF4-FFF2-40B4-BE49-F238E27FC236}">
                <a16:creationId xmlns:a16="http://schemas.microsoft.com/office/drawing/2014/main" id="{6E875C1C-48ED-D488-EAD9-CC82C12FCA15}"/>
              </a:ext>
            </a:extLst>
          </p:cNvPr>
          <p:cNvGraphicFramePr>
            <a:graphicFrameLocks noGrp="1"/>
          </p:cNvGraphicFramePr>
          <p:nvPr>
            <p:ph idx="1"/>
            <p:extLst>
              <p:ext uri="{D42A27DB-BD31-4B8C-83A1-F6EECF244321}">
                <p14:modId xmlns:p14="http://schemas.microsoft.com/office/powerpoint/2010/main" val="1914882542"/>
              </p:ext>
            </p:extLst>
          </p:nvPr>
        </p:nvGraphicFramePr>
        <p:xfrm>
          <a:off x="842838" y="856346"/>
          <a:ext cx="10614992" cy="5735283"/>
        </p:xfrm>
        <a:graphic>
          <a:graphicData uri="http://schemas.openxmlformats.org/drawingml/2006/table">
            <a:tbl>
              <a:tblPr/>
              <a:tblGrid>
                <a:gridCol w="2653748">
                  <a:extLst>
                    <a:ext uri="{9D8B030D-6E8A-4147-A177-3AD203B41FA5}">
                      <a16:colId xmlns:a16="http://schemas.microsoft.com/office/drawing/2014/main" val="780465469"/>
                    </a:ext>
                  </a:extLst>
                </a:gridCol>
                <a:gridCol w="2653748">
                  <a:extLst>
                    <a:ext uri="{9D8B030D-6E8A-4147-A177-3AD203B41FA5}">
                      <a16:colId xmlns:a16="http://schemas.microsoft.com/office/drawing/2014/main" val="2922365103"/>
                    </a:ext>
                  </a:extLst>
                </a:gridCol>
                <a:gridCol w="2653748">
                  <a:extLst>
                    <a:ext uri="{9D8B030D-6E8A-4147-A177-3AD203B41FA5}">
                      <a16:colId xmlns:a16="http://schemas.microsoft.com/office/drawing/2014/main" val="2847020355"/>
                    </a:ext>
                  </a:extLst>
                </a:gridCol>
                <a:gridCol w="2653748">
                  <a:extLst>
                    <a:ext uri="{9D8B030D-6E8A-4147-A177-3AD203B41FA5}">
                      <a16:colId xmlns:a16="http://schemas.microsoft.com/office/drawing/2014/main" val="3411291871"/>
                    </a:ext>
                  </a:extLst>
                </a:gridCol>
              </a:tblGrid>
              <a:tr h="253905">
                <a:tc>
                  <a:txBody>
                    <a:bodyPr/>
                    <a:lstStyle/>
                    <a:p>
                      <a:r>
                        <a:rPr lang="en-US" sz="1100" b="1" dirty="0"/>
                        <a:t>MCMC Variables</a:t>
                      </a:r>
                      <a:endParaRPr lang="en-US" sz="1100" dirty="0"/>
                    </a:p>
                  </a:txBody>
                  <a:tcPr marL="22194" marR="22194" marT="11097" marB="11097" anchor="ctr">
                    <a:lnL>
                      <a:noFill/>
                    </a:lnL>
                    <a:lnR>
                      <a:noFill/>
                    </a:lnR>
                    <a:lnT>
                      <a:noFill/>
                    </a:lnT>
                    <a:lnB>
                      <a:noFill/>
                    </a:lnB>
                    <a:noFill/>
                  </a:tcPr>
                </a:tc>
                <a:tc>
                  <a:txBody>
                    <a:bodyPr/>
                    <a:lstStyle/>
                    <a:p>
                      <a:r>
                        <a:rPr lang="en-US" sz="1100" b="1" dirty="0"/>
                        <a:t>ML Modeling Variables</a:t>
                      </a:r>
                      <a:endParaRPr lang="en-US" sz="1100" dirty="0"/>
                    </a:p>
                  </a:txBody>
                  <a:tcPr marL="22194" marR="22194" marT="11097" marB="11097" anchor="ctr">
                    <a:lnL>
                      <a:noFill/>
                    </a:lnL>
                    <a:lnR>
                      <a:noFill/>
                    </a:lnR>
                    <a:lnT>
                      <a:noFill/>
                    </a:lnT>
                    <a:lnB>
                      <a:noFill/>
                    </a:lnB>
                    <a:noFill/>
                  </a:tcPr>
                </a:tc>
                <a:tc>
                  <a:txBody>
                    <a:bodyPr/>
                    <a:lstStyle/>
                    <a:p>
                      <a:endParaRPr lang="en-US" sz="1100"/>
                    </a:p>
                  </a:txBody>
                  <a:tcPr marL="22194" marR="22194" marT="11097" marB="11097" anchor="ctr">
                    <a:lnL>
                      <a:noFill/>
                    </a:lnL>
                    <a:lnR>
                      <a:noFill/>
                    </a:lnR>
                    <a:lnT>
                      <a:noFill/>
                    </a:lnT>
                    <a:lnB>
                      <a:noFill/>
                    </a:lnB>
                    <a:noFill/>
                  </a:tcPr>
                </a:tc>
                <a:tc>
                  <a:txBody>
                    <a:bodyPr/>
                    <a:lstStyle/>
                    <a:p>
                      <a:endParaRPr lang="en-US" sz="1100"/>
                    </a:p>
                  </a:txBody>
                  <a:tcPr marL="22194" marR="22194" marT="11097" marB="11097" anchor="ctr">
                    <a:lnL>
                      <a:noFill/>
                    </a:lnL>
                    <a:lnR>
                      <a:noFill/>
                    </a:lnR>
                    <a:lnT>
                      <a:noFill/>
                    </a:lnT>
                    <a:lnB>
                      <a:noFill/>
                    </a:lnB>
                    <a:noFill/>
                  </a:tcPr>
                </a:tc>
                <a:extLst>
                  <a:ext uri="{0D108BD9-81ED-4DB2-BD59-A6C34878D82A}">
                    <a16:rowId xmlns:a16="http://schemas.microsoft.com/office/drawing/2014/main" val="4856995"/>
                  </a:ext>
                </a:extLst>
              </a:tr>
              <a:tr h="253905">
                <a:tc>
                  <a:txBody>
                    <a:bodyPr/>
                    <a:lstStyle/>
                    <a:p>
                      <a:r>
                        <a:rPr lang="en-US" sz="1100"/>
                        <a:t>LMK Key</a:t>
                      </a:r>
                    </a:p>
                  </a:txBody>
                  <a:tcPr marL="22194" marR="22194" marT="11097" marB="11097" anchor="ctr">
                    <a:lnL>
                      <a:noFill/>
                    </a:lnL>
                    <a:lnR>
                      <a:noFill/>
                    </a:lnR>
                    <a:lnT>
                      <a:noFill/>
                    </a:lnT>
                    <a:lnB>
                      <a:noFill/>
                    </a:lnB>
                    <a:noFill/>
                  </a:tcPr>
                </a:tc>
                <a:tc>
                  <a:txBody>
                    <a:bodyPr/>
                    <a:lstStyle/>
                    <a:p>
                      <a:r>
                        <a:rPr lang="en-US" sz="1100"/>
                        <a:t>LMK Key</a:t>
                      </a:r>
                    </a:p>
                  </a:txBody>
                  <a:tcPr marL="22194" marR="22194" marT="11097" marB="11097" anchor="ctr">
                    <a:lnL>
                      <a:noFill/>
                    </a:lnL>
                    <a:lnR>
                      <a:noFill/>
                    </a:lnR>
                    <a:lnT>
                      <a:noFill/>
                    </a:lnT>
                    <a:lnB>
                      <a:noFill/>
                    </a:lnB>
                    <a:noFill/>
                  </a:tcPr>
                </a:tc>
                <a:tc>
                  <a:txBody>
                    <a:bodyPr/>
                    <a:lstStyle/>
                    <a:p>
                      <a:r>
                        <a:rPr lang="en-US" sz="1100" dirty="0"/>
                        <a:t>Winter Avg Temp (Median, 2001–2020)</a:t>
                      </a:r>
                    </a:p>
                  </a:txBody>
                  <a:tcPr marL="22194" marR="22194" marT="11097" marB="11097" anchor="ctr">
                    <a:lnL>
                      <a:noFill/>
                    </a:lnL>
                    <a:lnR>
                      <a:noFill/>
                    </a:lnR>
                    <a:lnT>
                      <a:noFill/>
                    </a:lnT>
                    <a:lnB>
                      <a:noFill/>
                    </a:lnB>
                    <a:noFill/>
                  </a:tcPr>
                </a:tc>
                <a:tc>
                  <a:txBody>
                    <a:bodyPr/>
                    <a:lstStyle/>
                    <a:p>
                      <a:r>
                        <a:rPr lang="en-US" sz="1100" dirty="0"/>
                        <a:t>Electricity – Avg Variable Price per kWh</a:t>
                      </a:r>
                    </a:p>
                  </a:txBody>
                  <a:tcPr marL="22194" marR="22194" marT="11097" marB="11097" anchor="ctr">
                    <a:lnL>
                      <a:noFill/>
                    </a:lnL>
                    <a:lnR>
                      <a:noFill/>
                    </a:lnR>
                    <a:lnT>
                      <a:noFill/>
                    </a:lnT>
                    <a:lnB>
                      <a:noFill/>
                    </a:lnB>
                    <a:noFill/>
                  </a:tcPr>
                </a:tc>
                <a:extLst>
                  <a:ext uri="{0D108BD9-81ED-4DB2-BD59-A6C34878D82A}">
                    <a16:rowId xmlns:a16="http://schemas.microsoft.com/office/drawing/2014/main" val="1657061781"/>
                  </a:ext>
                </a:extLst>
              </a:tr>
              <a:tr h="253905">
                <a:tc>
                  <a:txBody>
                    <a:bodyPr/>
                    <a:lstStyle/>
                    <a:p>
                      <a:r>
                        <a:rPr lang="en-US" sz="1100">
                          <a:highlight>
                            <a:srgbClr val="C0C0C0"/>
                          </a:highlight>
                        </a:rPr>
                        <a:t>EPC Rating (Numeric)</a:t>
                      </a:r>
                    </a:p>
                  </a:txBody>
                  <a:tcPr marL="22194" marR="22194" marT="11097" marB="11097" anchor="ctr">
                    <a:lnL>
                      <a:noFill/>
                    </a:lnL>
                    <a:lnR>
                      <a:noFill/>
                    </a:lnR>
                    <a:lnT>
                      <a:noFill/>
                    </a:lnT>
                    <a:lnB>
                      <a:noFill/>
                    </a:lnB>
                    <a:noFill/>
                  </a:tcPr>
                </a:tc>
                <a:tc>
                  <a:txBody>
                    <a:bodyPr/>
                    <a:lstStyle/>
                    <a:p>
                      <a:r>
                        <a:rPr lang="en-US" sz="1100" dirty="0">
                          <a:highlight>
                            <a:srgbClr val="C0C0C0"/>
                          </a:highlight>
                        </a:rPr>
                        <a:t>Current Energy Efficiency</a:t>
                      </a:r>
                    </a:p>
                  </a:txBody>
                  <a:tcPr marL="22194" marR="22194" marT="11097" marB="11097" anchor="ctr">
                    <a:lnL>
                      <a:noFill/>
                    </a:lnL>
                    <a:lnR>
                      <a:noFill/>
                    </a:lnR>
                    <a:lnT>
                      <a:noFill/>
                    </a:lnT>
                    <a:lnB>
                      <a:noFill/>
                    </a:lnB>
                    <a:noFill/>
                  </a:tcPr>
                </a:tc>
                <a:tc>
                  <a:txBody>
                    <a:bodyPr/>
                    <a:lstStyle/>
                    <a:p>
                      <a:r>
                        <a:rPr lang="en-US" sz="1100" dirty="0"/>
                        <a:t>Winter Avg Temp (1.5°C Threshold)</a:t>
                      </a:r>
                    </a:p>
                  </a:txBody>
                  <a:tcPr marL="22194" marR="22194" marT="11097" marB="11097" anchor="ctr">
                    <a:lnL>
                      <a:noFill/>
                    </a:lnL>
                    <a:lnR>
                      <a:noFill/>
                    </a:lnR>
                    <a:lnT>
                      <a:noFill/>
                    </a:lnT>
                    <a:lnB>
                      <a:noFill/>
                    </a:lnB>
                    <a:noFill/>
                  </a:tcPr>
                </a:tc>
                <a:tc>
                  <a:txBody>
                    <a:bodyPr/>
                    <a:lstStyle/>
                    <a:p>
                      <a:r>
                        <a:rPr lang="en-US" sz="1100" dirty="0"/>
                        <a:t>Electricity – Avg Annual Fixed Cost</a:t>
                      </a:r>
                    </a:p>
                  </a:txBody>
                  <a:tcPr marL="22194" marR="22194" marT="11097" marB="11097" anchor="ctr">
                    <a:lnL>
                      <a:noFill/>
                    </a:lnL>
                    <a:lnR>
                      <a:noFill/>
                    </a:lnR>
                    <a:lnT>
                      <a:noFill/>
                    </a:lnT>
                    <a:lnB>
                      <a:noFill/>
                    </a:lnB>
                    <a:noFill/>
                  </a:tcPr>
                </a:tc>
                <a:extLst>
                  <a:ext uri="{0D108BD9-81ED-4DB2-BD59-A6C34878D82A}">
                    <a16:rowId xmlns:a16="http://schemas.microsoft.com/office/drawing/2014/main" val="2339506530"/>
                  </a:ext>
                </a:extLst>
              </a:tr>
              <a:tr h="253905">
                <a:tc>
                  <a:txBody>
                    <a:bodyPr/>
                    <a:lstStyle/>
                    <a:p>
                      <a:r>
                        <a:rPr lang="en-US" sz="1100" dirty="0"/>
                        <a:t>Urban or Rural Classification</a:t>
                      </a:r>
                    </a:p>
                  </a:txBody>
                  <a:tcPr marL="22194" marR="22194" marT="11097" marB="11097" anchor="ctr">
                    <a:lnL>
                      <a:noFill/>
                    </a:lnL>
                    <a:lnR>
                      <a:noFill/>
                    </a:lnR>
                    <a:lnT>
                      <a:noFill/>
                    </a:lnT>
                    <a:lnB>
                      <a:noFill/>
                    </a:lnB>
                    <a:noFill/>
                  </a:tcPr>
                </a:tc>
                <a:tc>
                  <a:txBody>
                    <a:bodyPr/>
                    <a:lstStyle/>
                    <a:p>
                      <a:r>
                        <a:rPr lang="en-US" sz="1100"/>
                        <a:t>Energy Consumption (Current)</a:t>
                      </a:r>
                    </a:p>
                  </a:txBody>
                  <a:tcPr marL="22194" marR="22194" marT="11097" marB="11097" anchor="ctr">
                    <a:lnL>
                      <a:noFill/>
                    </a:lnL>
                    <a:lnR>
                      <a:noFill/>
                    </a:lnR>
                    <a:lnT>
                      <a:noFill/>
                    </a:lnT>
                    <a:lnB>
                      <a:noFill/>
                    </a:lnB>
                    <a:noFill/>
                  </a:tcPr>
                </a:tc>
                <a:tc>
                  <a:txBody>
                    <a:bodyPr/>
                    <a:lstStyle/>
                    <a:p>
                      <a:r>
                        <a:rPr lang="en-US" sz="1100" dirty="0"/>
                        <a:t>Winter Avg Temp (2.0°C Threshold)</a:t>
                      </a:r>
                    </a:p>
                  </a:txBody>
                  <a:tcPr marL="22194" marR="22194" marT="11097" marB="11097" anchor="ctr">
                    <a:lnL>
                      <a:noFill/>
                    </a:lnL>
                    <a:lnR>
                      <a:noFill/>
                    </a:lnR>
                    <a:lnT>
                      <a:noFill/>
                    </a:lnT>
                    <a:lnB>
                      <a:noFill/>
                    </a:lnB>
                    <a:noFill/>
                  </a:tcPr>
                </a:tc>
                <a:tc>
                  <a:txBody>
                    <a:bodyPr/>
                    <a:lstStyle/>
                    <a:p>
                      <a:r>
                        <a:rPr lang="en-US" sz="1100" dirty="0"/>
                        <a:t>Gas – Avg Variable Price per kWh</a:t>
                      </a:r>
                    </a:p>
                  </a:txBody>
                  <a:tcPr marL="22194" marR="22194" marT="11097" marB="11097" anchor="ctr">
                    <a:lnL>
                      <a:noFill/>
                    </a:lnL>
                    <a:lnR>
                      <a:noFill/>
                    </a:lnR>
                    <a:lnT>
                      <a:noFill/>
                    </a:lnT>
                    <a:lnB>
                      <a:noFill/>
                    </a:lnB>
                    <a:noFill/>
                  </a:tcPr>
                </a:tc>
                <a:extLst>
                  <a:ext uri="{0D108BD9-81ED-4DB2-BD59-A6C34878D82A}">
                    <a16:rowId xmlns:a16="http://schemas.microsoft.com/office/drawing/2014/main" val="4184629990"/>
                  </a:ext>
                </a:extLst>
              </a:tr>
              <a:tr h="253905">
                <a:tc>
                  <a:txBody>
                    <a:bodyPr/>
                    <a:lstStyle/>
                    <a:p>
                      <a:r>
                        <a:rPr lang="en-US" sz="1100"/>
                        <a:t>Region Name</a:t>
                      </a:r>
                    </a:p>
                  </a:txBody>
                  <a:tcPr marL="22194" marR="22194" marT="11097" marB="11097" anchor="ctr">
                    <a:lnL>
                      <a:noFill/>
                    </a:lnL>
                    <a:lnR>
                      <a:noFill/>
                    </a:lnR>
                    <a:lnT>
                      <a:noFill/>
                    </a:lnT>
                    <a:lnB>
                      <a:noFill/>
                    </a:lnB>
                    <a:noFill/>
                  </a:tcPr>
                </a:tc>
                <a:tc>
                  <a:txBody>
                    <a:bodyPr/>
                    <a:lstStyle/>
                    <a:p>
                      <a:r>
                        <a:rPr lang="en-US" sz="1100"/>
                        <a:t>CO₂ Emissions (Current)</a:t>
                      </a:r>
                    </a:p>
                  </a:txBody>
                  <a:tcPr marL="22194" marR="22194" marT="11097" marB="11097" anchor="ctr">
                    <a:lnL>
                      <a:noFill/>
                    </a:lnL>
                    <a:lnR>
                      <a:noFill/>
                    </a:lnR>
                    <a:lnT>
                      <a:noFill/>
                    </a:lnT>
                    <a:lnB>
                      <a:noFill/>
                    </a:lnB>
                    <a:noFill/>
                  </a:tcPr>
                </a:tc>
                <a:tc>
                  <a:txBody>
                    <a:bodyPr/>
                    <a:lstStyle/>
                    <a:p>
                      <a:r>
                        <a:rPr lang="en-US" sz="1100" dirty="0"/>
                        <a:t>Winter Avg Temp (2.5°C Threshold)</a:t>
                      </a:r>
                    </a:p>
                  </a:txBody>
                  <a:tcPr marL="22194" marR="22194" marT="11097" marB="11097" anchor="ctr">
                    <a:lnL>
                      <a:noFill/>
                    </a:lnL>
                    <a:lnR>
                      <a:noFill/>
                    </a:lnR>
                    <a:lnT>
                      <a:noFill/>
                    </a:lnT>
                    <a:lnB>
                      <a:noFill/>
                    </a:lnB>
                    <a:noFill/>
                  </a:tcPr>
                </a:tc>
                <a:tc>
                  <a:txBody>
                    <a:bodyPr/>
                    <a:lstStyle/>
                    <a:p>
                      <a:r>
                        <a:rPr lang="en-US" sz="1100" dirty="0"/>
                        <a:t>Gas – Avg Annual Fixed Cost</a:t>
                      </a:r>
                    </a:p>
                  </a:txBody>
                  <a:tcPr marL="22194" marR="22194" marT="11097" marB="11097" anchor="ctr">
                    <a:lnL>
                      <a:noFill/>
                    </a:lnL>
                    <a:lnR>
                      <a:noFill/>
                    </a:lnR>
                    <a:lnT>
                      <a:noFill/>
                    </a:lnT>
                    <a:lnB>
                      <a:noFill/>
                    </a:lnB>
                    <a:noFill/>
                  </a:tcPr>
                </a:tc>
                <a:extLst>
                  <a:ext uri="{0D108BD9-81ED-4DB2-BD59-A6C34878D82A}">
                    <a16:rowId xmlns:a16="http://schemas.microsoft.com/office/drawing/2014/main" val="4146148533"/>
                  </a:ext>
                </a:extLst>
              </a:tr>
              <a:tr h="405753">
                <a:tc>
                  <a:txBody>
                    <a:bodyPr/>
                    <a:lstStyle/>
                    <a:p>
                      <a:r>
                        <a:rPr lang="en-US" sz="1100"/>
                        <a:t>Property Type</a:t>
                      </a:r>
                    </a:p>
                  </a:txBody>
                  <a:tcPr marL="22194" marR="22194" marT="11097" marB="11097" anchor="ctr">
                    <a:lnL>
                      <a:noFill/>
                    </a:lnL>
                    <a:lnR>
                      <a:noFill/>
                    </a:lnR>
                    <a:lnT>
                      <a:noFill/>
                    </a:lnT>
                    <a:lnB>
                      <a:noFill/>
                    </a:lnB>
                    <a:noFill/>
                  </a:tcPr>
                </a:tc>
                <a:tc>
                  <a:txBody>
                    <a:bodyPr/>
                    <a:lstStyle/>
                    <a:p>
                      <a:r>
                        <a:rPr lang="en-US" sz="1100"/>
                        <a:t>Built Form</a:t>
                      </a:r>
                    </a:p>
                  </a:txBody>
                  <a:tcPr marL="22194" marR="22194" marT="11097" marB="11097" anchor="ctr">
                    <a:lnL>
                      <a:noFill/>
                    </a:lnL>
                    <a:lnR>
                      <a:noFill/>
                    </a:lnR>
                    <a:lnT>
                      <a:noFill/>
                    </a:lnT>
                    <a:lnB>
                      <a:noFill/>
                    </a:lnB>
                    <a:noFill/>
                  </a:tcPr>
                </a:tc>
                <a:tc>
                  <a:txBody>
                    <a:bodyPr/>
                    <a:lstStyle/>
                    <a:p>
                      <a:r>
                        <a:rPr lang="en-US" sz="1100" dirty="0"/>
                        <a:t>Winter Avg Temp (5.5°C Threshold)</a:t>
                      </a:r>
                    </a:p>
                  </a:txBody>
                  <a:tcPr marL="22194" marR="22194" marT="11097" marB="11097" anchor="ctr">
                    <a:lnL>
                      <a:noFill/>
                    </a:lnL>
                    <a:lnR>
                      <a:noFill/>
                    </a:lnR>
                    <a:lnT>
                      <a:noFill/>
                    </a:lnT>
                    <a:lnB>
                      <a:noFill/>
                    </a:lnB>
                    <a:noFill/>
                  </a:tcPr>
                </a:tc>
                <a:tc>
                  <a:txBody>
                    <a:bodyPr/>
                    <a:lstStyle/>
                    <a:p>
                      <a:r>
                        <a:rPr lang="en-US" sz="1100" dirty="0"/>
                        <a:t>Households Receiving Winter Fuel Payment (2023)</a:t>
                      </a:r>
                    </a:p>
                  </a:txBody>
                  <a:tcPr marL="22194" marR="22194" marT="11097" marB="11097" anchor="ctr">
                    <a:lnL>
                      <a:noFill/>
                    </a:lnL>
                    <a:lnR>
                      <a:noFill/>
                    </a:lnR>
                    <a:lnT>
                      <a:noFill/>
                    </a:lnT>
                    <a:lnB>
                      <a:noFill/>
                    </a:lnB>
                    <a:noFill/>
                  </a:tcPr>
                </a:tc>
                <a:extLst>
                  <a:ext uri="{0D108BD9-81ED-4DB2-BD59-A6C34878D82A}">
                    <a16:rowId xmlns:a16="http://schemas.microsoft.com/office/drawing/2014/main" val="2573376025"/>
                  </a:ext>
                </a:extLst>
              </a:tr>
              <a:tr h="405753">
                <a:tc>
                  <a:txBody>
                    <a:bodyPr/>
                    <a:lstStyle/>
                    <a:p>
                      <a:r>
                        <a:rPr lang="en-US" sz="1100"/>
                        <a:t>Construction Age Band</a:t>
                      </a:r>
                    </a:p>
                  </a:txBody>
                  <a:tcPr marL="22194" marR="22194" marT="11097" marB="11097" anchor="ctr">
                    <a:lnL>
                      <a:noFill/>
                    </a:lnL>
                    <a:lnR>
                      <a:noFill/>
                    </a:lnR>
                    <a:lnT>
                      <a:noFill/>
                    </a:lnT>
                    <a:lnB>
                      <a:noFill/>
                    </a:lnB>
                    <a:noFill/>
                  </a:tcPr>
                </a:tc>
                <a:tc>
                  <a:txBody>
                    <a:bodyPr/>
                    <a:lstStyle/>
                    <a:p>
                      <a:r>
                        <a:rPr lang="en-US" sz="1100"/>
                        <a:t>Local Authority Code</a:t>
                      </a:r>
                    </a:p>
                  </a:txBody>
                  <a:tcPr marL="22194" marR="22194" marT="11097" marB="11097" anchor="ctr">
                    <a:lnL>
                      <a:noFill/>
                    </a:lnL>
                    <a:lnR>
                      <a:noFill/>
                    </a:lnR>
                    <a:lnT>
                      <a:noFill/>
                    </a:lnT>
                    <a:lnB>
                      <a:noFill/>
                    </a:lnB>
                    <a:noFill/>
                  </a:tcPr>
                </a:tc>
                <a:tc>
                  <a:txBody>
                    <a:bodyPr/>
                    <a:lstStyle/>
                    <a:p>
                      <a:r>
                        <a:rPr lang="en-US" sz="1100" dirty="0"/>
                        <a:t>Winter Avg Temp (3.5°C Threshold)</a:t>
                      </a:r>
                    </a:p>
                  </a:txBody>
                  <a:tcPr marL="22194" marR="22194" marT="11097" marB="11097" anchor="ctr">
                    <a:lnL>
                      <a:noFill/>
                    </a:lnL>
                    <a:lnR>
                      <a:noFill/>
                    </a:lnR>
                    <a:lnT>
                      <a:noFill/>
                    </a:lnT>
                    <a:lnB>
                      <a:noFill/>
                    </a:lnB>
                    <a:noFill/>
                  </a:tcPr>
                </a:tc>
                <a:tc>
                  <a:txBody>
                    <a:bodyPr/>
                    <a:lstStyle/>
                    <a:p>
                      <a:r>
                        <a:rPr lang="en-US" sz="1100" dirty="0"/>
                        <a:t>Average Annual Fuel Bill (Individual Estimate)</a:t>
                      </a:r>
                    </a:p>
                  </a:txBody>
                  <a:tcPr marL="22194" marR="22194" marT="11097" marB="11097" anchor="ctr">
                    <a:lnL>
                      <a:noFill/>
                    </a:lnL>
                    <a:lnR>
                      <a:noFill/>
                    </a:lnR>
                    <a:lnT>
                      <a:noFill/>
                    </a:lnT>
                    <a:lnB>
                      <a:noFill/>
                    </a:lnB>
                    <a:noFill/>
                  </a:tcPr>
                </a:tc>
                <a:extLst>
                  <a:ext uri="{0D108BD9-81ED-4DB2-BD59-A6C34878D82A}">
                    <a16:rowId xmlns:a16="http://schemas.microsoft.com/office/drawing/2014/main" val="3497490849"/>
                  </a:ext>
                </a:extLst>
              </a:tr>
              <a:tr h="405753">
                <a:tc>
                  <a:txBody>
                    <a:bodyPr/>
                    <a:lstStyle/>
                    <a:p>
                      <a:r>
                        <a:rPr lang="en-US" sz="1100"/>
                        <a:t>Total Floor Area</a:t>
                      </a:r>
                    </a:p>
                  </a:txBody>
                  <a:tcPr marL="22194" marR="22194" marT="11097" marB="11097" anchor="ctr">
                    <a:lnL>
                      <a:noFill/>
                    </a:lnL>
                    <a:lnR>
                      <a:noFill/>
                    </a:lnR>
                    <a:lnT>
                      <a:noFill/>
                    </a:lnT>
                    <a:lnB>
                      <a:noFill/>
                    </a:lnB>
                    <a:noFill/>
                  </a:tcPr>
                </a:tc>
                <a:tc>
                  <a:txBody>
                    <a:bodyPr/>
                    <a:lstStyle/>
                    <a:p>
                      <a:r>
                        <a:rPr lang="en-US" sz="1100" dirty="0" err="1"/>
                        <a:t>Lodgement</a:t>
                      </a:r>
                      <a:r>
                        <a:rPr lang="en-US" sz="1100" dirty="0"/>
                        <a:t> Date</a:t>
                      </a:r>
                    </a:p>
                  </a:txBody>
                  <a:tcPr marL="22194" marR="22194" marT="11097" marB="11097" anchor="ctr">
                    <a:lnL>
                      <a:noFill/>
                    </a:lnL>
                    <a:lnR>
                      <a:noFill/>
                    </a:lnR>
                    <a:lnT>
                      <a:noFill/>
                    </a:lnT>
                    <a:lnB>
                      <a:noFill/>
                    </a:lnB>
                    <a:noFill/>
                  </a:tcPr>
                </a:tc>
                <a:tc>
                  <a:txBody>
                    <a:bodyPr/>
                    <a:lstStyle/>
                    <a:p>
                      <a:r>
                        <a:rPr lang="en-US" sz="1100" dirty="0"/>
                        <a:t>Winter Avg Temp (4.0°C Threshold)</a:t>
                      </a:r>
                    </a:p>
                  </a:txBody>
                  <a:tcPr marL="22194" marR="22194" marT="11097" marB="11097" anchor="ctr">
                    <a:lnL>
                      <a:noFill/>
                    </a:lnL>
                    <a:lnR>
                      <a:noFill/>
                    </a:lnR>
                    <a:lnT>
                      <a:noFill/>
                    </a:lnT>
                    <a:lnB>
                      <a:noFill/>
                    </a:lnB>
                    <a:noFill/>
                  </a:tcPr>
                </a:tc>
                <a:tc>
                  <a:txBody>
                    <a:bodyPr/>
                    <a:lstStyle/>
                    <a:p>
                      <a:r>
                        <a:rPr lang="en-US" sz="1100" dirty="0"/>
                        <a:t>Avg Electricity Consumption per Household (Local Authority)</a:t>
                      </a:r>
                    </a:p>
                  </a:txBody>
                  <a:tcPr marL="22194" marR="22194" marT="11097" marB="11097" anchor="ctr">
                    <a:lnL>
                      <a:noFill/>
                    </a:lnL>
                    <a:lnR>
                      <a:noFill/>
                    </a:lnR>
                    <a:lnT>
                      <a:noFill/>
                    </a:lnT>
                    <a:lnB>
                      <a:noFill/>
                    </a:lnB>
                    <a:noFill/>
                  </a:tcPr>
                </a:tc>
                <a:extLst>
                  <a:ext uri="{0D108BD9-81ED-4DB2-BD59-A6C34878D82A}">
                    <a16:rowId xmlns:a16="http://schemas.microsoft.com/office/drawing/2014/main" val="1817113154"/>
                  </a:ext>
                </a:extLst>
              </a:tr>
              <a:tr h="405753">
                <a:tc>
                  <a:txBody>
                    <a:bodyPr/>
                    <a:lstStyle/>
                    <a:p>
                      <a:r>
                        <a:rPr lang="en-US" sz="1100"/>
                        <a:t>Fuel Category</a:t>
                      </a:r>
                    </a:p>
                  </a:txBody>
                  <a:tcPr marL="22194" marR="22194" marT="11097" marB="11097" anchor="ctr">
                    <a:lnL>
                      <a:noFill/>
                    </a:lnL>
                    <a:lnR>
                      <a:noFill/>
                    </a:lnR>
                    <a:lnT>
                      <a:noFill/>
                    </a:lnT>
                    <a:lnB>
                      <a:noFill/>
                    </a:lnB>
                    <a:noFill/>
                  </a:tcPr>
                </a:tc>
                <a:tc>
                  <a:txBody>
                    <a:bodyPr/>
                    <a:lstStyle/>
                    <a:p>
                      <a:r>
                        <a:rPr lang="en-US" sz="1100"/>
                        <a:t>Postcode District</a:t>
                      </a:r>
                    </a:p>
                  </a:txBody>
                  <a:tcPr marL="22194" marR="22194" marT="11097" marB="11097" anchor="ctr">
                    <a:lnL>
                      <a:noFill/>
                    </a:lnL>
                    <a:lnR>
                      <a:noFill/>
                    </a:lnR>
                    <a:lnT>
                      <a:noFill/>
                    </a:lnT>
                    <a:lnB>
                      <a:noFill/>
                    </a:lnB>
                    <a:noFill/>
                  </a:tcPr>
                </a:tc>
                <a:tc>
                  <a:txBody>
                    <a:bodyPr/>
                    <a:lstStyle/>
                    <a:p>
                      <a:r>
                        <a:rPr lang="en-US" sz="1100" dirty="0"/>
                        <a:t>Minimum Winter Temp (2001–2020 Median)</a:t>
                      </a:r>
                    </a:p>
                  </a:txBody>
                  <a:tcPr marL="22194" marR="22194" marT="11097" marB="11097" anchor="ctr">
                    <a:lnL>
                      <a:noFill/>
                    </a:lnL>
                    <a:lnR>
                      <a:noFill/>
                    </a:lnR>
                    <a:lnT>
                      <a:noFill/>
                    </a:lnT>
                    <a:lnB>
                      <a:noFill/>
                    </a:lnB>
                    <a:noFill/>
                  </a:tcPr>
                </a:tc>
                <a:tc>
                  <a:txBody>
                    <a:bodyPr/>
                    <a:lstStyle/>
                    <a:p>
                      <a:r>
                        <a:rPr lang="en-US" sz="1100" dirty="0"/>
                        <a:t>Avg Gas Consumption per Meter (Local Authority)</a:t>
                      </a:r>
                    </a:p>
                  </a:txBody>
                  <a:tcPr marL="22194" marR="22194" marT="11097" marB="11097" anchor="ctr">
                    <a:lnL>
                      <a:noFill/>
                    </a:lnL>
                    <a:lnR>
                      <a:noFill/>
                    </a:lnR>
                    <a:lnT>
                      <a:noFill/>
                    </a:lnT>
                    <a:lnB>
                      <a:noFill/>
                    </a:lnB>
                    <a:noFill/>
                  </a:tcPr>
                </a:tc>
                <a:extLst>
                  <a:ext uri="{0D108BD9-81ED-4DB2-BD59-A6C34878D82A}">
                    <a16:rowId xmlns:a16="http://schemas.microsoft.com/office/drawing/2014/main" val="3136274587"/>
                  </a:ext>
                </a:extLst>
              </a:tr>
              <a:tr h="405753">
                <a:tc>
                  <a:txBody>
                    <a:bodyPr/>
                    <a:lstStyle/>
                    <a:p>
                      <a:r>
                        <a:rPr lang="en-US" sz="1100"/>
                        <a:t>Walls Energy Efficiency</a:t>
                      </a:r>
                    </a:p>
                  </a:txBody>
                  <a:tcPr marL="22194" marR="22194" marT="11097" marB="11097" anchor="ctr">
                    <a:lnL>
                      <a:noFill/>
                    </a:lnL>
                    <a:lnR>
                      <a:noFill/>
                    </a:lnR>
                    <a:lnT>
                      <a:noFill/>
                    </a:lnT>
                    <a:lnB>
                      <a:noFill/>
                    </a:lnB>
                    <a:noFill/>
                  </a:tcPr>
                </a:tc>
                <a:tc>
                  <a:txBody>
                    <a:bodyPr/>
                    <a:lstStyle/>
                    <a:p>
                      <a:r>
                        <a:rPr lang="en-US" sz="1100" dirty="0"/>
                        <a:t>Insulation Score</a:t>
                      </a:r>
                    </a:p>
                  </a:txBody>
                  <a:tcPr marL="22194" marR="22194" marT="11097" marB="11097" anchor="ctr">
                    <a:lnL>
                      <a:noFill/>
                    </a:lnL>
                    <a:lnR>
                      <a:noFill/>
                    </a:lnR>
                    <a:lnT>
                      <a:noFill/>
                    </a:lnT>
                    <a:lnB>
                      <a:noFill/>
                    </a:lnB>
                    <a:noFill/>
                  </a:tcPr>
                </a:tc>
                <a:tc>
                  <a:txBody>
                    <a:bodyPr/>
                    <a:lstStyle/>
                    <a:p>
                      <a:r>
                        <a:rPr lang="en-US" sz="1100" dirty="0"/>
                        <a:t>Population (2024)</a:t>
                      </a:r>
                    </a:p>
                  </a:txBody>
                  <a:tcPr marL="22194" marR="22194" marT="11097" marB="11097" anchor="ctr">
                    <a:lnL>
                      <a:noFill/>
                    </a:lnL>
                    <a:lnR>
                      <a:noFill/>
                    </a:lnR>
                    <a:lnT>
                      <a:noFill/>
                    </a:lnT>
                    <a:lnB>
                      <a:noFill/>
                    </a:lnB>
                    <a:noFill/>
                  </a:tcPr>
                </a:tc>
                <a:tc>
                  <a:txBody>
                    <a:bodyPr/>
                    <a:lstStyle/>
                    <a:p>
                      <a:r>
                        <a:rPr lang="en-US" sz="1100" dirty="0"/>
                        <a:t>Average Annual Fuel Bill (Local Average Estimate)</a:t>
                      </a:r>
                    </a:p>
                  </a:txBody>
                  <a:tcPr marL="22194" marR="22194" marT="11097" marB="11097" anchor="ctr">
                    <a:lnL>
                      <a:noFill/>
                    </a:lnL>
                    <a:lnR>
                      <a:noFill/>
                    </a:lnR>
                    <a:lnT>
                      <a:noFill/>
                    </a:lnT>
                    <a:lnB>
                      <a:noFill/>
                    </a:lnB>
                    <a:noFill/>
                  </a:tcPr>
                </a:tc>
                <a:extLst>
                  <a:ext uri="{0D108BD9-81ED-4DB2-BD59-A6C34878D82A}">
                    <a16:rowId xmlns:a16="http://schemas.microsoft.com/office/drawing/2014/main" val="4126600476"/>
                  </a:ext>
                </a:extLst>
              </a:tr>
              <a:tr h="253905">
                <a:tc>
                  <a:txBody>
                    <a:bodyPr/>
                    <a:lstStyle/>
                    <a:p>
                      <a:r>
                        <a:rPr lang="en-US" sz="1100"/>
                        <a:t>Tenure</a:t>
                      </a:r>
                    </a:p>
                  </a:txBody>
                  <a:tcPr marL="22194" marR="22194" marT="11097" marB="11097" anchor="ctr">
                    <a:lnL>
                      <a:noFill/>
                    </a:lnL>
                    <a:lnR>
                      <a:noFill/>
                    </a:lnR>
                    <a:lnT>
                      <a:noFill/>
                    </a:lnT>
                    <a:lnB>
                      <a:noFill/>
                    </a:lnB>
                    <a:noFill/>
                  </a:tcPr>
                </a:tc>
                <a:tc>
                  <a:txBody>
                    <a:bodyPr/>
                    <a:lstStyle/>
                    <a:p>
                      <a:r>
                        <a:rPr lang="en-US" sz="1100"/>
                        <a:t>Local Authority</a:t>
                      </a:r>
                    </a:p>
                  </a:txBody>
                  <a:tcPr marL="22194" marR="22194" marT="11097" marB="11097" anchor="ctr">
                    <a:lnL>
                      <a:noFill/>
                    </a:lnL>
                    <a:lnR>
                      <a:noFill/>
                    </a:lnR>
                    <a:lnT>
                      <a:noFill/>
                    </a:lnT>
                    <a:lnB>
                      <a:noFill/>
                    </a:lnB>
                    <a:noFill/>
                  </a:tcPr>
                </a:tc>
                <a:tc>
                  <a:txBody>
                    <a:bodyPr/>
                    <a:lstStyle/>
                    <a:p>
                      <a:r>
                        <a:rPr lang="en-US" sz="1100" dirty="0"/>
                        <a:t>Child Population</a:t>
                      </a:r>
                    </a:p>
                  </a:txBody>
                  <a:tcPr marL="22194" marR="22194" marT="11097" marB="11097" anchor="ctr">
                    <a:lnL>
                      <a:noFill/>
                    </a:lnL>
                    <a:lnR>
                      <a:noFill/>
                    </a:lnR>
                    <a:lnT>
                      <a:noFill/>
                    </a:lnT>
                    <a:lnB>
                      <a:noFill/>
                    </a:lnB>
                    <a:noFill/>
                  </a:tcPr>
                </a:tc>
                <a:tc>
                  <a:txBody>
                    <a:bodyPr/>
                    <a:lstStyle/>
                    <a:p>
                      <a:r>
                        <a:rPr lang="en-US" sz="1100" dirty="0"/>
                        <a:t>Fuel Bill Difference</a:t>
                      </a:r>
                    </a:p>
                  </a:txBody>
                  <a:tcPr marL="22194" marR="22194" marT="11097" marB="11097" anchor="ctr">
                    <a:lnL>
                      <a:noFill/>
                    </a:lnL>
                    <a:lnR>
                      <a:noFill/>
                    </a:lnR>
                    <a:lnT>
                      <a:noFill/>
                    </a:lnT>
                    <a:lnB>
                      <a:noFill/>
                    </a:lnB>
                    <a:noFill/>
                  </a:tcPr>
                </a:tc>
                <a:extLst>
                  <a:ext uri="{0D108BD9-81ED-4DB2-BD59-A6C34878D82A}">
                    <a16:rowId xmlns:a16="http://schemas.microsoft.com/office/drawing/2014/main" val="1434626811"/>
                  </a:ext>
                </a:extLst>
              </a:tr>
              <a:tr h="253905">
                <a:tc>
                  <a:txBody>
                    <a:bodyPr/>
                    <a:lstStyle/>
                    <a:p>
                      <a:endParaRPr lang="en-US" sz="1100"/>
                    </a:p>
                  </a:txBody>
                  <a:tcPr marL="22194" marR="22194" marT="11097" marB="11097" anchor="ctr">
                    <a:lnL>
                      <a:noFill/>
                    </a:lnL>
                    <a:lnR>
                      <a:noFill/>
                    </a:lnR>
                    <a:lnT>
                      <a:noFill/>
                    </a:lnT>
                    <a:lnB>
                      <a:noFill/>
                    </a:lnB>
                    <a:noFill/>
                  </a:tcPr>
                </a:tc>
                <a:tc>
                  <a:txBody>
                    <a:bodyPr/>
                    <a:lstStyle/>
                    <a:p>
                      <a:r>
                        <a:rPr lang="en-US" sz="1100"/>
                        <a:t>Net Income (2024)</a:t>
                      </a:r>
                    </a:p>
                  </a:txBody>
                  <a:tcPr marL="22194" marR="22194" marT="11097" marB="11097" anchor="ctr">
                    <a:lnL>
                      <a:noFill/>
                    </a:lnL>
                    <a:lnR>
                      <a:noFill/>
                    </a:lnR>
                    <a:lnT>
                      <a:noFill/>
                    </a:lnT>
                    <a:lnB>
                      <a:noFill/>
                    </a:lnB>
                    <a:noFill/>
                  </a:tcPr>
                </a:tc>
                <a:tc>
                  <a:txBody>
                    <a:bodyPr/>
                    <a:lstStyle/>
                    <a:p>
                      <a:r>
                        <a:rPr lang="en-US" sz="1100" dirty="0"/>
                        <a:t>Senior Population</a:t>
                      </a:r>
                    </a:p>
                  </a:txBody>
                  <a:tcPr marL="22194" marR="22194" marT="11097" marB="11097" anchor="ctr">
                    <a:lnL>
                      <a:noFill/>
                    </a:lnL>
                    <a:lnR>
                      <a:noFill/>
                    </a:lnR>
                    <a:lnT>
                      <a:noFill/>
                    </a:lnT>
                    <a:lnB>
                      <a:noFill/>
                    </a:lnB>
                    <a:noFill/>
                  </a:tcPr>
                </a:tc>
                <a:tc>
                  <a:txBody>
                    <a:bodyPr/>
                    <a:lstStyle/>
                    <a:p>
                      <a:r>
                        <a:rPr lang="en-US" sz="1100" dirty="0"/>
                        <a:t>Fuel Cost to Income Ratio</a:t>
                      </a:r>
                    </a:p>
                  </a:txBody>
                  <a:tcPr marL="22194" marR="22194" marT="11097" marB="11097" anchor="ctr">
                    <a:lnL>
                      <a:noFill/>
                    </a:lnL>
                    <a:lnR>
                      <a:noFill/>
                    </a:lnR>
                    <a:lnT>
                      <a:noFill/>
                    </a:lnT>
                    <a:lnB>
                      <a:noFill/>
                    </a:lnB>
                    <a:noFill/>
                  </a:tcPr>
                </a:tc>
                <a:extLst>
                  <a:ext uri="{0D108BD9-81ED-4DB2-BD59-A6C34878D82A}">
                    <a16:rowId xmlns:a16="http://schemas.microsoft.com/office/drawing/2014/main" val="313794840"/>
                  </a:ext>
                </a:extLst>
              </a:tr>
              <a:tr h="253905">
                <a:tc>
                  <a:txBody>
                    <a:bodyPr/>
                    <a:lstStyle/>
                    <a:p>
                      <a:endParaRPr lang="en-US" sz="1100"/>
                    </a:p>
                  </a:txBody>
                  <a:tcPr marL="22194" marR="22194" marT="11097" marB="11097" anchor="ctr">
                    <a:lnL>
                      <a:noFill/>
                    </a:lnL>
                    <a:lnR>
                      <a:noFill/>
                    </a:lnR>
                    <a:lnT>
                      <a:noFill/>
                    </a:lnT>
                    <a:lnB>
                      <a:noFill/>
                    </a:lnB>
                    <a:noFill/>
                  </a:tcPr>
                </a:tc>
                <a:tc>
                  <a:txBody>
                    <a:bodyPr/>
                    <a:lstStyle/>
                    <a:p>
                      <a:r>
                        <a:rPr lang="en-US" sz="1100"/>
                        <a:t>Income Before Housing Costs (2024)</a:t>
                      </a:r>
                    </a:p>
                  </a:txBody>
                  <a:tcPr marL="22194" marR="22194" marT="11097" marB="11097" anchor="ctr">
                    <a:lnL>
                      <a:noFill/>
                    </a:lnL>
                    <a:lnR>
                      <a:noFill/>
                    </a:lnR>
                    <a:lnT>
                      <a:noFill/>
                    </a:lnT>
                    <a:lnB>
                      <a:noFill/>
                    </a:lnB>
                    <a:noFill/>
                  </a:tcPr>
                </a:tc>
                <a:tc>
                  <a:txBody>
                    <a:bodyPr/>
                    <a:lstStyle/>
                    <a:p>
                      <a:r>
                        <a:rPr lang="en-US" sz="1100" dirty="0"/>
                        <a:t>Working-Age Population</a:t>
                      </a:r>
                    </a:p>
                  </a:txBody>
                  <a:tcPr marL="22194" marR="22194" marT="11097" marB="11097" anchor="ctr">
                    <a:lnL>
                      <a:noFill/>
                    </a:lnL>
                    <a:lnR>
                      <a:noFill/>
                    </a:lnR>
                    <a:lnT>
                      <a:noFill/>
                    </a:lnT>
                    <a:lnB>
                      <a:noFill/>
                    </a:lnB>
                    <a:noFill/>
                  </a:tcPr>
                </a:tc>
                <a:tc>
                  <a:txBody>
                    <a:bodyPr/>
                    <a:lstStyle/>
                    <a:p>
                      <a:r>
                        <a:rPr lang="en-US" sz="1100" dirty="0"/>
                        <a:t>Floor Area per Room</a:t>
                      </a:r>
                    </a:p>
                  </a:txBody>
                  <a:tcPr marL="22194" marR="22194" marT="11097" marB="11097" anchor="ctr">
                    <a:lnL>
                      <a:noFill/>
                    </a:lnL>
                    <a:lnR>
                      <a:noFill/>
                    </a:lnR>
                    <a:lnT>
                      <a:noFill/>
                    </a:lnT>
                    <a:lnB>
                      <a:noFill/>
                    </a:lnB>
                    <a:noFill/>
                  </a:tcPr>
                </a:tc>
                <a:extLst>
                  <a:ext uri="{0D108BD9-81ED-4DB2-BD59-A6C34878D82A}">
                    <a16:rowId xmlns:a16="http://schemas.microsoft.com/office/drawing/2014/main" val="1365082600"/>
                  </a:ext>
                </a:extLst>
              </a:tr>
              <a:tr h="253905">
                <a:tc>
                  <a:txBody>
                    <a:bodyPr/>
                    <a:lstStyle/>
                    <a:p>
                      <a:endParaRPr lang="en-US" sz="1100"/>
                    </a:p>
                  </a:txBody>
                  <a:tcPr marL="22194" marR="22194" marT="11097" marB="11097" anchor="ctr">
                    <a:lnL>
                      <a:noFill/>
                    </a:lnL>
                    <a:lnR>
                      <a:noFill/>
                    </a:lnR>
                    <a:lnT>
                      <a:noFill/>
                    </a:lnT>
                    <a:lnB>
                      <a:noFill/>
                    </a:lnB>
                    <a:noFill/>
                  </a:tcPr>
                </a:tc>
                <a:tc>
                  <a:txBody>
                    <a:bodyPr/>
                    <a:lstStyle/>
                    <a:p>
                      <a:r>
                        <a:rPr lang="en-US" sz="1100"/>
                        <a:t>Income After Housing Costs (2024)</a:t>
                      </a:r>
                    </a:p>
                  </a:txBody>
                  <a:tcPr marL="22194" marR="22194" marT="11097" marB="11097" anchor="ctr">
                    <a:lnL>
                      <a:noFill/>
                    </a:lnL>
                    <a:lnR>
                      <a:noFill/>
                    </a:lnR>
                    <a:lnT>
                      <a:noFill/>
                    </a:lnT>
                    <a:lnB>
                      <a:noFill/>
                    </a:lnB>
                    <a:noFill/>
                  </a:tcPr>
                </a:tc>
                <a:tc>
                  <a:txBody>
                    <a:bodyPr/>
                    <a:lstStyle/>
                    <a:p>
                      <a:r>
                        <a:rPr lang="en-US" sz="1100" dirty="0"/>
                        <a:t>Average Household Size (2023)</a:t>
                      </a:r>
                    </a:p>
                  </a:txBody>
                  <a:tcPr marL="22194" marR="22194" marT="11097" marB="11097" anchor="ctr">
                    <a:lnL>
                      <a:noFill/>
                    </a:lnL>
                    <a:lnR>
                      <a:noFill/>
                    </a:lnR>
                    <a:lnT>
                      <a:noFill/>
                    </a:lnT>
                    <a:lnB>
                      <a:noFill/>
                    </a:lnB>
                    <a:noFill/>
                  </a:tcPr>
                </a:tc>
                <a:tc>
                  <a:txBody>
                    <a:bodyPr/>
                    <a:lstStyle/>
                    <a:p>
                      <a:r>
                        <a:rPr lang="en-US" sz="1100" dirty="0"/>
                        <a:t>CO₂ Emissions per m²</a:t>
                      </a:r>
                    </a:p>
                  </a:txBody>
                  <a:tcPr marL="22194" marR="22194" marT="11097" marB="11097" anchor="ctr">
                    <a:lnL>
                      <a:noFill/>
                    </a:lnL>
                    <a:lnR>
                      <a:noFill/>
                    </a:lnR>
                    <a:lnT>
                      <a:noFill/>
                    </a:lnT>
                    <a:lnB>
                      <a:noFill/>
                    </a:lnB>
                    <a:noFill/>
                  </a:tcPr>
                </a:tc>
                <a:extLst>
                  <a:ext uri="{0D108BD9-81ED-4DB2-BD59-A6C34878D82A}">
                    <a16:rowId xmlns:a16="http://schemas.microsoft.com/office/drawing/2014/main" val="1330878334"/>
                  </a:ext>
                </a:extLst>
              </a:tr>
              <a:tr h="253905">
                <a:tc>
                  <a:txBody>
                    <a:bodyPr/>
                    <a:lstStyle/>
                    <a:p>
                      <a:endParaRPr lang="en-US" sz="1100"/>
                    </a:p>
                  </a:txBody>
                  <a:tcPr marL="22194" marR="22194" marT="11097" marB="11097" anchor="ctr">
                    <a:lnL>
                      <a:noFill/>
                    </a:lnL>
                    <a:lnR>
                      <a:noFill/>
                    </a:lnR>
                    <a:lnT>
                      <a:noFill/>
                    </a:lnT>
                    <a:lnB>
                      <a:noFill/>
                    </a:lnB>
                    <a:noFill/>
                  </a:tcPr>
                </a:tc>
                <a:tc>
                  <a:txBody>
                    <a:bodyPr/>
                    <a:lstStyle/>
                    <a:p>
                      <a:r>
                        <a:rPr lang="en-US" sz="1100"/>
                        <a:t>Percentage of Low-Income Households</a:t>
                      </a:r>
                    </a:p>
                  </a:txBody>
                  <a:tcPr marL="22194" marR="22194" marT="11097" marB="11097" anchor="ctr">
                    <a:lnL>
                      <a:noFill/>
                    </a:lnL>
                    <a:lnR>
                      <a:noFill/>
                    </a:lnR>
                    <a:lnT>
                      <a:noFill/>
                    </a:lnT>
                    <a:lnB>
                      <a:noFill/>
                    </a:lnB>
                    <a:noFill/>
                  </a:tcPr>
                </a:tc>
                <a:tc>
                  <a:txBody>
                    <a:bodyPr/>
                    <a:lstStyle/>
                    <a:p>
                      <a:r>
                        <a:rPr lang="en-US" sz="1100"/>
                        <a:t>Area (km²)</a:t>
                      </a:r>
                    </a:p>
                  </a:txBody>
                  <a:tcPr marL="22194" marR="22194" marT="11097" marB="11097" anchor="ctr">
                    <a:lnL>
                      <a:noFill/>
                    </a:lnL>
                    <a:lnR>
                      <a:noFill/>
                    </a:lnR>
                    <a:lnT>
                      <a:noFill/>
                    </a:lnT>
                    <a:lnB>
                      <a:noFill/>
                    </a:lnB>
                    <a:noFill/>
                  </a:tcPr>
                </a:tc>
                <a:tc>
                  <a:txBody>
                    <a:bodyPr/>
                    <a:lstStyle/>
                    <a:p>
                      <a:r>
                        <a:rPr lang="en-US" sz="1100" dirty="0"/>
                        <a:t>Energy Consumption per m²</a:t>
                      </a:r>
                    </a:p>
                  </a:txBody>
                  <a:tcPr marL="22194" marR="22194" marT="11097" marB="11097" anchor="ctr">
                    <a:lnL>
                      <a:noFill/>
                    </a:lnL>
                    <a:lnR>
                      <a:noFill/>
                    </a:lnR>
                    <a:lnT>
                      <a:noFill/>
                    </a:lnT>
                    <a:lnB>
                      <a:noFill/>
                    </a:lnB>
                    <a:noFill/>
                  </a:tcPr>
                </a:tc>
                <a:extLst>
                  <a:ext uri="{0D108BD9-81ED-4DB2-BD59-A6C34878D82A}">
                    <a16:rowId xmlns:a16="http://schemas.microsoft.com/office/drawing/2014/main" val="1020304698"/>
                  </a:ext>
                </a:extLst>
              </a:tr>
              <a:tr h="253905">
                <a:tc>
                  <a:txBody>
                    <a:bodyPr/>
                    <a:lstStyle/>
                    <a:p>
                      <a:endParaRPr lang="en-US" sz="1100"/>
                    </a:p>
                  </a:txBody>
                  <a:tcPr marL="22194" marR="22194" marT="11097" marB="11097" anchor="ctr">
                    <a:lnL>
                      <a:noFill/>
                    </a:lnL>
                    <a:lnR>
                      <a:noFill/>
                    </a:lnR>
                    <a:lnT>
                      <a:noFill/>
                    </a:lnT>
                    <a:lnB>
                      <a:noFill/>
                    </a:lnB>
                    <a:noFill/>
                  </a:tcPr>
                </a:tc>
                <a:tc>
                  <a:txBody>
                    <a:bodyPr/>
                    <a:lstStyle/>
                    <a:p>
                      <a:r>
                        <a:rPr lang="en-US" sz="1100"/>
                        <a:t>Unemployment Rate</a:t>
                      </a:r>
                    </a:p>
                  </a:txBody>
                  <a:tcPr marL="22194" marR="22194" marT="11097" marB="11097" anchor="ctr">
                    <a:lnL>
                      <a:noFill/>
                    </a:lnL>
                    <a:lnR>
                      <a:noFill/>
                    </a:lnR>
                    <a:lnT>
                      <a:noFill/>
                    </a:lnT>
                    <a:lnB>
                      <a:noFill/>
                    </a:lnB>
                    <a:noFill/>
                  </a:tcPr>
                </a:tc>
                <a:tc>
                  <a:txBody>
                    <a:bodyPr/>
                    <a:lstStyle/>
                    <a:p>
                      <a:r>
                        <a:rPr lang="en-US" sz="1100" dirty="0"/>
                        <a:t>Population Density</a:t>
                      </a:r>
                    </a:p>
                  </a:txBody>
                  <a:tcPr marL="22194" marR="22194" marT="11097" marB="11097" anchor="ctr">
                    <a:lnL>
                      <a:noFill/>
                    </a:lnL>
                    <a:lnR>
                      <a:noFill/>
                    </a:lnR>
                    <a:lnT>
                      <a:noFill/>
                    </a:lnT>
                    <a:lnB>
                      <a:noFill/>
                    </a:lnB>
                    <a:noFill/>
                  </a:tcPr>
                </a:tc>
                <a:tc>
                  <a:txBody>
                    <a:bodyPr/>
                    <a:lstStyle/>
                    <a:p>
                      <a:r>
                        <a:rPr lang="en-US" sz="1100" dirty="0"/>
                        <a:t>Energy Consumption per Room</a:t>
                      </a:r>
                    </a:p>
                  </a:txBody>
                  <a:tcPr marL="22194" marR="22194" marT="11097" marB="11097" anchor="ctr">
                    <a:lnL>
                      <a:noFill/>
                    </a:lnL>
                    <a:lnR>
                      <a:noFill/>
                    </a:lnR>
                    <a:lnT>
                      <a:noFill/>
                    </a:lnT>
                    <a:lnB>
                      <a:noFill/>
                    </a:lnB>
                    <a:noFill/>
                  </a:tcPr>
                </a:tc>
                <a:extLst>
                  <a:ext uri="{0D108BD9-81ED-4DB2-BD59-A6C34878D82A}">
                    <a16:rowId xmlns:a16="http://schemas.microsoft.com/office/drawing/2014/main" val="672958388"/>
                  </a:ext>
                </a:extLst>
              </a:tr>
              <a:tr h="253905">
                <a:tc>
                  <a:txBody>
                    <a:bodyPr/>
                    <a:lstStyle/>
                    <a:p>
                      <a:endParaRPr lang="en-US" sz="1100"/>
                    </a:p>
                  </a:txBody>
                  <a:tcPr marL="22194" marR="22194" marT="11097" marB="11097" anchor="ctr">
                    <a:lnL>
                      <a:noFill/>
                    </a:lnL>
                    <a:lnR>
                      <a:noFill/>
                    </a:lnR>
                    <a:lnT>
                      <a:noFill/>
                    </a:lnT>
                    <a:lnB>
                      <a:noFill/>
                    </a:lnB>
                    <a:noFill/>
                  </a:tcPr>
                </a:tc>
                <a:tc>
                  <a:txBody>
                    <a:bodyPr/>
                    <a:lstStyle/>
                    <a:p>
                      <a:r>
                        <a:rPr lang="en-US" sz="1100"/>
                        <a:t>Index of Multiple Deprivation (2019)</a:t>
                      </a:r>
                    </a:p>
                  </a:txBody>
                  <a:tcPr marL="22194" marR="22194" marT="11097" marB="11097" anchor="ctr">
                    <a:lnL>
                      <a:noFill/>
                    </a:lnL>
                    <a:lnR>
                      <a:noFill/>
                    </a:lnR>
                    <a:lnT>
                      <a:noFill/>
                    </a:lnT>
                    <a:lnB>
                      <a:noFill/>
                    </a:lnB>
                    <a:noFill/>
                  </a:tcPr>
                </a:tc>
                <a:tc>
                  <a:txBody>
                    <a:bodyPr/>
                    <a:lstStyle/>
                    <a:p>
                      <a:r>
                        <a:rPr lang="en-US" sz="1100"/>
                        <a:t>Age Dependency Ratio</a:t>
                      </a:r>
                    </a:p>
                  </a:txBody>
                  <a:tcPr marL="22194" marR="22194" marT="11097" marB="11097" anchor="ctr">
                    <a:lnL>
                      <a:noFill/>
                    </a:lnL>
                    <a:lnR>
                      <a:noFill/>
                    </a:lnR>
                    <a:lnT>
                      <a:noFill/>
                    </a:lnT>
                    <a:lnB>
                      <a:noFill/>
                    </a:lnB>
                    <a:noFill/>
                  </a:tcPr>
                </a:tc>
                <a:tc>
                  <a:txBody>
                    <a:bodyPr/>
                    <a:lstStyle/>
                    <a:p>
                      <a:endParaRPr lang="en-US" sz="1100"/>
                    </a:p>
                  </a:txBody>
                  <a:tcPr marL="22194" marR="22194" marT="11097" marB="11097" anchor="ctr">
                    <a:lnL>
                      <a:noFill/>
                    </a:lnL>
                    <a:lnR>
                      <a:noFill/>
                    </a:lnR>
                    <a:lnT>
                      <a:noFill/>
                    </a:lnT>
                    <a:lnB>
                      <a:noFill/>
                    </a:lnB>
                    <a:noFill/>
                  </a:tcPr>
                </a:tc>
                <a:extLst>
                  <a:ext uri="{0D108BD9-81ED-4DB2-BD59-A6C34878D82A}">
                    <a16:rowId xmlns:a16="http://schemas.microsoft.com/office/drawing/2014/main" val="36192206"/>
                  </a:ext>
                </a:extLst>
              </a:tr>
              <a:tr h="405753">
                <a:tc>
                  <a:txBody>
                    <a:bodyPr/>
                    <a:lstStyle/>
                    <a:p>
                      <a:endParaRPr lang="en-US" sz="1100"/>
                    </a:p>
                  </a:txBody>
                  <a:tcPr marL="22194" marR="22194" marT="11097" marB="11097" anchor="ctr">
                    <a:lnL>
                      <a:noFill/>
                    </a:lnL>
                    <a:lnR>
                      <a:noFill/>
                    </a:lnR>
                    <a:lnT>
                      <a:noFill/>
                    </a:lnT>
                    <a:lnB>
                      <a:noFill/>
                    </a:lnB>
                    <a:noFill/>
                  </a:tcPr>
                </a:tc>
                <a:tc>
                  <a:txBody>
                    <a:bodyPr/>
                    <a:lstStyle/>
                    <a:p>
                      <a:r>
                        <a:rPr lang="en-US" sz="1100"/>
                        <a:t>Heating Degree Days (Median, 2001–2020)</a:t>
                      </a:r>
                    </a:p>
                  </a:txBody>
                  <a:tcPr marL="22194" marR="22194" marT="11097" marB="11097" anchor="ctr">
                    <a:lnL>
                      <a:noFill/>
                    </a:lnL>
                    <a:lnR>
                      <a:noFill/>
                    </a:lnR>
                    <a:lnT>
                      <a:noFill/>
                    </a:lnT>
                    <a:lnB>
                      <a:noFill/>
                    </a:lnB>
                    <a:noFill/>
                  </a:tcPr>
                </a:tc>
                <a:tc>
                  <a:txBody>
                    <a:bodyPr/>
                    <a:lstStyle/>
                    <a:p>
                      <a:r>
                        <a:rPr lang="en-US" sz="1100" dirty="0"/>
                        <a:t>Total Floor Area</a:t>
                      </a:r>
                    </a:p>
                  </a:txBody>
                  <a:tcPr marL="22194" marR="22194" marT="11097" marB="11097" anchor="ctr">
                    <a:lnL>
                      <a:noFill/>
                    </a:lnL>
                    <a:lnR>
                      <a:noFill/>
                    </a:lnR>
                    <a:lnT>
                      <a:noFill/>
                    </a:lnT>
                    <a:lnB>
                      <a:noFill/>
                    </a:lnB>
                    <a:noFill/>
                  </a:tcPr>
                </a:tc>
                <a:tc>
                  <a:txBody>
                    <a:bodyPr/>
                    <a:lstStyle/>
                    <a:p>
                      <a:endParaRPr lang="en-US" sz="1100" dirty="0"/>
                    </a:p>
                  </a:txBody>
                  <a:tcPr marL="22194" marR="22194" marT="11097" marB="11097" anchor="ctr">
                    <a:lnL>
                      <a:noFill/>
                    </a:lnL>
                    <a:lnR>
                      <a:noFill/>
                    </a:lnR>
                    <a:lnT>
                      <a:noFill/>
                    </a:lnT>
                    <a:lnB>
                      <a:noFill/>
                    </a:lnB>
                    <a:noFill/>
                  </a:tcPr>
                </a:tc>
                <a:extLst>
                  <a:ext uri="{0D108BD9-81ED-4DB2-BD59-A6C34878D82A}">
                    <a16:rowId xmlns:a16="http://schemas.microsoft.com/office/drawing/2014/main" val="947105641"/>
                  </a:ext>
                </a:extLst>
              </a:tr>
              <a:tr h="253905">
                <a:tc>
                  <a:txBody>
                    <a:bodyPr/>
                    <a:lstStyle/>
                    <a:p>
                      <a:endParaRPr lang="en-US" sz="1100" dirty="0"/>
                    </a:p>
                  </a:txBody>
                  <a:tcPr marL="22194" marR="22194" marT="11097" marB="11097" anchor="ctr">
                    <a:lnL>
                      <a:noFill/>
                    </a:lnL>
                    <a:lnR>
                      <a:noFill/>
                    </a:lnR>
                    <a:lnT>
                      <a:noFill/>
                    </a:lnT>
                    <a:lnB>
                      <a:noFill/>
                    </a:lnB>
                    <a:noFill/>
                  </a:tcPr>
                </a:tc>
                <a:tc>
                  <a:txBody>
                    <a:bodyPr/>
                    <a:lstStyle/>
                    <a:p>
                      <a:endParaRPr lang="en-US" sz="1100" dirty="0"/>
                    </a:p>
                  </a:txBody>
                  <a:tcPr marL="22194" marR="22194" marT="11097" marB="11097" anchor="ctr">
                    <a:lnL>
                      <a:noFill/>
                    </a:lnL>
                    <a:lnR>
                      <a:noFill/>
                    </a:lnR>
                    <a:lnT>
                      <a:noFill/>
                    </a:lnT>
                    <a:lnB>
                      <a:noFill/>
                    </a:lnB>
                    <a:noFill/>
                  </a:tcPr>
                </a:tc>
                <a:tc>
                  <a:txBody>
                    <a:bodyPr/>
                    <a:lstStyle/>
                    <a:p>
                      <a:endParaRPr lang="en-US" sz="1100" dirty="0"/>
                    </a:p>
                  </a:txBody>
                  <a:tcPr marL="22194" marR="22194" marT="11097" marB="11097" anchor="ctr">
                    <a:lnL>
                      <a:noFill/>
                    </a:lnL>
                    <a:lnR>
                      <a:noFill/>
                    </a:lnR>
                    <a:lnT>
                      <a:noFill/>
                    </a:lnT>
                    <a:lnB>
                      <a:noFill/>
                    </a:lnB>
                    <a:noFill/>
                  </a:tcPr>
                </a:tc>
                <a:tc>
                  <a:txBody>
                    <a:bodyPr/>
                    <a:lstStyle/>
                    <a:p>
                      <a:endParaRPr lang="en-US" sz="1100" dirty="0"/>
                    </a:p>
                  </a:txBody>
                  <a:tcPr marL="22194" marR="22194" marT="11097" marB="11097" anchor="ctr">
                    <a:lnL>
                      <a:noFill/>
                    </a:lnL>
                    <a:lnR>
                      <a:noFill/>
                    </a:lnR>
                    <a:lnT>
                      <a:noFill/>
                    </a:lnT>
                    <a:lnB>
                      <a:noFill/>
                    </a:lnB>
                    <a:noFill/>
                  </a:tcPr>
                </a:tc>
                <a:extLst>
                  <a:ext uri="{0D108BD9-81ED-4DB2-BD59-A6C34878D82A}">
                    <a16:rowId xmlns:a16="http://schemas.microsoft.com/office/drawing/2014/main" val="475184777"/>
                  </a:ext>
                </a:extLst>
              </a:tr>
            </a:tbl>
          </a:graphicData>
        </a:graphic>
      </p:graphicFrame>
      <p:sp>
        <p:nvSpPr>
          <p:cNvPr id="5" name="TextBox 4">
            <a:extLst>
              <a:ext uri="{FF2B5EF4-FFF2-40B4-BE49-F238E27FC236}">
                <a16:creationId xmlns:a16="http://schemas.microsoft.com/office/drawing/2014/main" id="{E43A5296-B404-2AF9-C713-27DE75981AB8}"/>
              </a:ext>
            </a:extLst>
          </p:cNvPr>
          <p:cNvSpPr txBox="1"/>
          <p:nvPr/>
        </p:nvSpPr>
        <p:spPr>
          <a:xfrm>
            <a:off x="559242" y="5096787"/>
            <a:ext cx="2629232" cy="646331"/>
          </a:xfrm>
          <a:prstGeom prst="rect">
            <a:avLst/>
          </a:prstGeom>
          <a:solidFill>
            <a:schemeClr val="tx1">
              <a:lumMod val="10000"/>
              <a:lumOff val="90000"/>
            </a:schemeClr>
          </a:solidFill>
        </p:spPr>
        <p:txBody>
          <a:bodyPr wrap="square" rtlCol="0">
            <a:spAutoFit/>
          </a:bodyPr>
          <a:lstStyle/>
          <a:p>
            <a:r>
              <a:rPr lang="en-US" dirty="0">
                <a:ln w="0"/>
                <a:solidFill>
                  <a:schemeClr val="accent1"/>
                </a:solidFill>
                <a:effectLst>
                  <a:outerShdw blurRad="38100" dist="25400" dir="5400000" algn="ctr" rotWithShape="0">
                    <a:srgbClr val="6E747A">
                      <a:alpha val="43000"/>
                    </a:srgbClr>
                  </a:outerShdw>
                </a:effectLst>
              </a:rPr>
              <a:t>Carefully avoiding possible signal leak</a:t>
            </a:r>
          </a:p>
        </p:txBody>
      </p:sp>
    </p:spTree>
    <p:extLst>
      <p:ext uri="{BB962C8B-B14F-4D97-AF65-F5344CB8AC3E}">
        <p14:creationId xmlns:p14="http://schemas.microsoft.com/office/powerpoint/2010/main" val="1000183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C2BE6-60EB-E339-4D17-6AAF46710333}"/>
              </a:ext>
            </a:extLst>
          </p:cNvPr>
          <p:cNvSpPr>
            <a:spLocks noGrp="1"/>
          </p:cNvSpPr>
          <p:nvPr>
            <p:ph type="title"/>
          </p:nvPr>
        </p:nvSpPr>
        <p:spPr>
          <a:xfrm>
            <a:off x="609600" y="265824"/>
            <a:ext cx="10972800" cy="898876"/>
          </a:xfrm>
        </p:spPr>
        <p:txBody>
          <a:bodyPr/>
          <a:lstStyle/>
          <a:p>
            <a:r>
              <a:rPr lang="en-US" dirty="0"/>
              <a:t>Data Preparation – Synthetic Target</a:t>
            </a:r>
          </a:p>
        </p:txBody>
      </p:sp>
      <p:graphicFrame>
        <p:nvGraphicFramePr>
          <p:cNvPr id="4" name="Content Placeholder 3">
            <a:extLst>
              <a:ext uri="{FF2B5EF4-FFF2-40B4-BE49-F238E27FC236}">
                <a16:creationId xmlns:a16="http://schemas.microsoft.com/office/drawing/2014/main" id="{09385FF3-E37E-3F6D-FE6D-1218D083D971}"/>
              </a:ext>
            </a:extLst>
          </p:cNvPr>
          <p:cNvGraphicFramePr>
            <a:graphicFrameLocks noGrp="1"/>
          </p:cNvGraphicFramePr>
          <p:nvPr>
            <p:ph idx="1"/>
            <p:extLst>
              <p:ext uri="{D42A27DB-BD31-4B8C-83A1-F6EECF244321}">
                <p14:modId xmlns:p14="http://schemas.microsoft.com/office/powerpoint/2010/main" val="209750228"/>
              </p:ext>
            </p:extLst>
          </p:nvPr>
        </p:nvGraphicFramePr>
        <p:xfrm>
          <a:off x="0" y="1164700"/>
          <a:ext cx="6853864" cy="4035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F843D25A-838E-B71D-12F2-D8F0BA6AC47E}"/>
              </a:ext>
            </a:extLst>
          </p:cNvPr>
          <p:cNvGraphicFramePr/>
          <p:nvPr>
            <p:extLst>
              <p:ext uri="{D42A27DB-BD31-4B8C-83A1-F6EECF244321}">
                <p14:modId xmlns:p14="http://schemas.microsoft.com/office/powerpoint/2010/main" val="829233213"/>
              </p:ext>
            </p:extLst>
          </p:nvPr>
        </p:nvGraphicFramePr>
        <p:xfrm>
          <a:off x="2562447" y="4082594"/>
          <a:ext cx="3710763" cy="294552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7" name="Picture 6" descr="A screenshot of a computer program&#10;&#10;AI-generated content may be incorrect.">
            <a:extLst>
              <a:ext uri="{FF2B5EF4-FFF2-40B4-BE49-F238E27FC236}">
                <a16:creationId xmlns:a16="http://schemas.microsoft.com/office/drawing/2014/main" id="{6B9ACD34-354E-3FC8-62D8-71E577ECB841}"/>
              </a:ext>
            </a:extLst>
          </p:cNvPr>
          <p:cNvPicPr>
            <a:picLocks noChangeAspect="1"/>
          </p:cNvPicPr>
          <p:nvPr/>
        </p:nvPicPr>
        <p:blipFill>
          <a:blip r:embed="rId12"/>
          <a:stretch>
            <a:fillRect/>
          </a:stretch>
        </p:blipFill>
        <p:spPr>
          <a:xfrm>
            <a:off x="7463464" y="1164700"/>
            <a:ext cx="4682744" cy="5576332"/>
          </a:xfrm>
          <a:prstGeom prst="rect">
            <a:avLst/>
          </a:prstGeom>
        </p:spPr>
      </p:pic>
    </p:spTree>
    <p:extLst>
      <p:ext uri="{BB962C8B-B14F-4D97-AF65-F5344CB8AC3E}">
        <p14:creationId xmlns:p14="http://schemas.microsoft.com/office/powerpoint/2010/main" val="3601997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42E603F-28B7-4831-BF23-65FBAB13D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6" name="Background Fill">
            <a:extLst>
              <a:ext uri="{FF2B5EF4-FFF2-40B4-BE49-F238E27FC236}">
                <a16:creationId xmlns:a16="http://schemas.microsoft.com/office/drawing/2014/main" id="{6DA65B90-7B06-4499-91BA-CDDD36132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AA4752E-02AD-443D-A0BD-959B45C2E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227F688A-72E1-4C6E-8DA1-E5EFF5A83B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564" y="0"/>
            <a:ext cx="5778237" cy="6858000"/>
          </a:xfrm>
          <a:custGeom>
            <a:avLst/>
            <a:gdLst>
              <a:gd name="connsiteX0" fmla="*/ 962670 w 5778237"/>
              <a:gd name="connsiteY0" fmla="*/ 4174607 h 6858000"/>
              <a:gd name="connsiteX1" fmla="*/ 1474181 w 5778237"/>
              <a:gd name="connsiteY1" fmla="*/ 4686119 h 6858000"/>
              <a:gd name="connsiteX2" fmla="*/ 962670 w 5778237"/>
              <a:gd name="connsiteY2" fmla="*/ 5197630 h 6858000"/>
              <a:gd name="connsiteX3" fmla="*/ 451158 w 5778237"/>
              <a:gd name="connsiteY3" fmla="*/ 4686119 h 6858000"/>
              <a:gd name="connsiteX4" fmla="*/ 962670 w 5778237"/>
              <a:gd name="connsiteY4" fmla="*/ 4174607 h 6858000"/>
              <a:gd name="connsiteX5" fmla="*/ 737090 w 5778237"/>
              <a:gd name="connsiteY5" fmla="*/ 194466 h 6858000"/>
              <a:gd name="connsiteX6" fmla="*/ 1474181 w 5778237"/>
              <a:gd name="connsiteY6" fmla="*/ 931557 h 6858000"/>
              <a:gd name="connsiteX7" fmla="*/ 737090 w 5778237"/>
              <a:gd name="connsiteY7" fmla="*/ 1668648 h 6858000"/>
              <a:gd name="connsiteX8" fmla="*/ 0 w 5778237"/>
              <a:gd name="connsiteY8" fmla="*/ 931557 h 6858000"/>
              <a:gd name="connsiteX9" fmla="*/ 737090 w 5778237"/>
              <a:gd name="connsiteY9" fmla="*/ 194466 h 6858000"/>
              <a:gd name="connsiteX10" fmla="*/ 1374646 w 5778237"/>
              <a:gd name="connsiteY10" fmla="*/ 0 h 6858000"/>
              <a:gd name="connsiteX11" fmla="*/ 4134163 w 5778237"/>
              <a:gd name="connsiteY11" fmla="*/ 0 h 6858000"/>
              <a:gd name="connsiteX12" fmla="*/ 4165561 w 5778237"/>
              <a:gd name="connsiteY12" fmla="*/ 7287 h 6858000"/>
              <a:gd name="connsiteX13" fmla="*/ 4275624 w 5778237"/>
              <a:gd name="connsiteY13" fmla="*/ 9505 h 6858000"/>
              <a:gd name="connsiteX14" fmla="*/ 4329201 w 5778237"/>
              <a:gd name="connsiteY14" fmla="*/ 0 h 6858000"/>
              <a:gd name="connsiteX15" fmla="*/ 5778237 w 5778237"/>
              <a:gd name="connsiteY15" fmla="*/ 0 h 6858000"/>
              <a:gd name="connsiteX16" fmla="*/ 5778237 w 5778237"/>
              <a:gd name="connsiteY16" fmla="*/ 6858000 h 6858000"/>
              <a:gd name="connsiteX17" fmla="*/ 4275784 w 5778237"/>
              <a:gd name="connsiteY17" fmla="*/ 6858000 h 6858000"/>
              <a:gd name="connsiteX18" fmla="*/ 4239021 w 5778237"/>
              <a:gd name="connsiteY18" fmla="*/ 6786833 h 6858000"/>
              <a:gd name="connsiteX19" fmla="*/ 3894102 w 5778237"/>
              <a:gd name="connsiteY19" fmla="*/ 6452886 h 6858000"/>
              <a:gd name="connsiteX20" fmla="*/ 2108475 w 5778237"/>
              <a:gd name="connsiteY20" fmla="*/ 6789034 h 6858000"/>
              <a:gd name="connsiteX21" fmla="*/ 1347913 w 5778237"/>
              <a:gd name="connsiteY21" fmla="*/ 5906062 h 6858000"/>
              <a:gd name="connsiteX22" fmla="*/ 1722239 w 5778237"/>
              <a:gd name="connsiteY22" fmla="*/ 4572446 h 6858000"/>
              <a:gd name="connsiteX23" fmla="*/ 788921 w 5778237"/>
              <a:gd name="connsiteY23" fmla="*/ 3529645 h 6858000"/>
              <a:gd name="connsiteX24" fmla="*/ 858141 w 5778237"/>
              <a:gd name="connsiteY24" fmla="*/ 2401163 h 6858000"/>
              <a:gd name="connsiteX25" fmla="*/ 1610359 w 5778237"/>
              <a:gd name="connsiteY25" fmla="*/ 1532485 h 6858000"/>
              <a:gd name="connsiteX26" fmla="*/ 1374668 w 5778237"/>
              <a:gd name="connsiteY26" fmla="*/ 2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778237" h="6858000">
                <a:moveTo>
                  <a:pt x="962670" y="4174607"/>
                </a:moveTo>
                <a:cubicBezTo>
                  <a:pt x="1245170" y="4174607"/>
                  <a:pt x="1474181" y="4403618"/>
                  <a:pt x="1474181" y="4686119"/>
                </a:cubicBezTo>
                <a:cubicBezTo>
                  <a:pt x="1474181" y="4968619"/>
                  <a:pt x="1245170" y="5197630"/>
                  <a:pt x="962670" y="5197630"/>
                </a:cubicBezTo>
                <a:cubicBezTo>
                  <a:pt x="680169" y="5197630"/>
                  <a:pt x="451158" y="4968619"/>
                  <a:pt x="451158" y="4686119"/>
                </a:cubicBezTo>
                <a:cubicBezTo>
                  <a:pt x="451158" y="4403618"/>
                  <a:pt x="680169" y="4174607"/>
                  <a:pt x="962670" y="4174607"/>
                </a:cubicBezTo>
                <a:close/>
                <a:moveTo>
                  <a:pt x="737090" y="194466"/>
                </a:moveTo>
                <a:cubicBezTo>
                  <a:pt x="1144174" y="194466"/>
                  <a:pt x="1474181" y="524473"/>
                  <a:pt x="1474181" y="931557"/>
                </a:cubicBezTo>
                <a:cubicBezTo>
                  <a:pt x="1474181" y="1338641"/>
                  <a:pt x="1144174" y="1668648"/>
                  <a:pt x="737090" y="1668648"/>
                </a:cubicBezTo>
                <a:cubicBezTo>
                  <a:pt x="330006" y="1668648"/>
                  <a:pt x="0" y="1338641"/>
                  <a:pt x="0" y="931557"/>
                </a:cubicBezTo>
                <a:cubicBezTo>
                  <a:pt x="0" y="524473"/>
                  <a:pt x="330006" y="194466"/>
                  <a:pt x="737090" y="194466"/>
                </a:cubicBezTo>
                <a:close/>
                <a:moveTo>
                  <a:pt x="1374646" y="0"/>
                </a:moveTo>
                <a:lnTo>
                  <a:pt x="4134163" y="0"/>
                </a:lnTo>
                <a:lnTo>
                  <a:pt x="4165561" y="7287"/>
                </a:lnTo>
                <a:cubicBezTo>
                  <a:pt x="4200796" y="11754"/>
                  <a:pt x="4237397" y="12651"/>
                  <a:pt x="4275624" y="9505"/>
                </a:cubicBezTo>
                <a:lnTo>
                  <a:pt x="4329201" y="0"/>
                </a:lnTo>
                <a:lnTo>
                  <a:pt x="5778237" y="0"/>
                </a:lnTo>
                <a:lnTo>
                  <a:pt x="5778237" y="6858000"/>
                </a:lnTo>
                <a:lnTo>
                  <a:pt x="4275784" y="6858000"/>
                </a:lnTo>
                <a:lnTo>
                  <a:pt x="4239021" y="6786833"/>
                </a:lnTo>
                <a:cubicBezTo>
                  <a:pt x="4155316" y="6643599"/>
                  <a:pt x="4041124" y="6520016"/>
                  <a:pt x="3894102" y="6452886"/>
                </a:cubicBezTo>
                <a:cubicBezTo>
                  <a:pt x="3331357" y="6196305"/>
                  <a:pt x="2812263" y="7007790"/>
                  <a:pt x="2108475" y="6789034"/>
                </a:cubicBezTo>
                <a:cubicBezTo>
                  <a:pt x="1726546" y="6669929"/>
                  <a:pt x="1404262" y="6283964"/>
                  <a:pt x="1347913" y="5906062"/>
                </a:cubicBezTo>
                <a:cubicBezTo>
                  <a:pt x="1261896" y="5326512"/>
                  <a:pt x="1845049" y="5069735"/>
                  <a:pt x="1722239" y="4572446"/>
                </a:cubicBezTo>
                <a:cubicBezTo>
                  <a:pt x="1620329" y="4159787"/>
                  <a:pt x="1066410" y="4066000"/>
                  <a:pt x="788921" y="3529645"/>
                </a:cubicBezTo>
                <a:cubicBezTo>
                  <a:pt x="581405" y="3128696"/>
                  <a:pt x="702777" y="2783251"/>
                  <a:pt x="858141" y="2401163"/>
                </a:cubicBezTo>
                <a:cubicBezTo>
                  <a:pt x="1068288" y="1884953"/>
                  <a:pt x="1415323" y="1966409"/>
                  <a:pt x="1610359" y="1532485"/>
                </a:cubicBezTo>
                <a:cubicBezTo>
                  <a:pt x="1860601" y="975968"/>
                  <a:pt x="1455053" y="478169"/>
                  <a:pt x="1374668" y="20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E27C8E7-340C-02F4-04A2-3A020FD6811B}"/>
              </a:ext>
            </a:extLst>
          </p:cNvPr>
          <p:cNvSpPr>
            <a:spLocks noGrp="1"/>
          </p:cNvSpPr>
          <p:nvPr>
            <p:ph type="title"/>
          </p:nvPr>
        </p:nvSpPr>
        <p:spPr>
          <a:xfrm>
            <a:off x="609600" y="663960"/>
            <a:ext cx="6117203" cy="1657821"/>
          </a:xfrm>
        </p:spPr>
        <p:txBody>
          <a:bodyPr vert="horz" lIns="91440" tIns="45720" rIns="91440" bIns="45720" rtlCol="0" anchor="b">
            <a:normAutofit/>
          </a:bodyPr>
          <a:lstStyle/>
          <a:p>
            <a:r>
              <a:rPr lang="en-US" dirty="0"/>
              <a:t>ML Models - Data Preprocessing</a:t>
            </a:r>
          </a:p>
        </p:txBody>
      </p:sp>
      <p:pic>
        <p:nvPicPr>
          <p:cNvPr id="7" name="Picture 6" descr="A graph of different colored bars&#10;&#10;AI-generated content may be incorrect.">
            <a:extLst>
              <a:ext uri="{FF2B5EF4-FFF2-40B4-BE49-F238E27FC236}">
                <a16:creationId xmlns:a16="http://schemas.microsoft.com/office/drawing/2014/main" id="{F1C7D0DA-0D36-3694-0B6A-91009E85F1EA}"/>
              </a:ext>
            </a:extLst>
          </p:cNvPr>
          <p:cNvPicPr>
            <a:picLocks noChangeAspect="1"/>
          </p:cNvPicPr>
          <p:nvPr/>
        </p:nvPicPr>
        <p:blipFill>
          <a:blip r:embed="rId2"/>
          <a:stretch>
            <a:fillRect/>
          </a:stretch>
        </p:blipFill>
        <p:spPr>
          <a:xfrm>
            <a:off x="5852438" y="8942"/>
            <a:ext cx="6266888" cy="6849057"/>
          </a:xfrm>
          <a:prstGeom prst="rect">
            <a:avLst/>
          </a:prstGeom>
        </p:spPr>
      </p:pic>
      <p:sp>
        <p:nvSpPr>
          <p:cNvPr id="4" name="AutoShape 2">
            <a:extLst>
              <a:ext uri="{FF2B5EF4-FFF2-40B4-BE49-F238E27FC236}">
                <a16:creationId xmlns:a16="http://schemas.microsoft.com/office/drawing/2014/main" id="{6ADD6583-DB3D-C4B3-A17C-00E39017BEBC}"/>
              </a:ext>
            </a:extLst>
          </p:cNvPr>
          <p:cNvSpPr>
            <a:spLocks noChangeAspect="1" noChangeArrowheads="1"/>
          </p:cNvSpPr>
          <p:nvPr/>
        </p:nvSpPr>
        <p:spPr bwMode="auto">
          <a:xfrm>
            <a:off x="3172570" y="3276600"/>
            <a:ext cx="3075830" cy="307583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55232E3-9BAC-9D68-8323-ACEB9552B0FD}"/>
              </a:ext>
            </a:extLst>
          </p:cNvPr>
          <p:cNvSpPr txBox="1">
            <a:spLocks/>
          </p:cNvSpPr>
          <p:nvPr/>
        </p:nvSpPr>
        <p:spPr>
          <a:xfrm>
            <a:off x="609600" y="3168791"/>
            <a:ext cx="2928730" cy="753386"/>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en-US" sz="2800" dirty="0"/>
              <a:t>Class Imbalance</a:t>
            </a:r>
          </a:p>
        </p:txBody>
      </p:sp>
    </p:spTree>
    <p:extLst>
      <p:ext uri="{BB962C8B-B14F-4D97-AF65-F5344CB8AC3E}">
        <p14:creationId xmlns:p14="http://schemas.microsoft.com/office/powerpoint/2010/main" val="3493972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7A89BC0-CDD8-B29D-B9F7-2E6346193F58}"/>
            </a:ext>
          </a:extLst>
        </p:cNvPr>
        <p:cNvGrpSpPr/>
        <p:nvPr/>
      </p:nvGrpSpPr>
      <p:grpSpPr>
        <a:xfrm>
          <a:off x="0" y="0"/>
          <a:ext cx="0" cy="0"/>
          <a:chOff x="0" y="0"/>
          <a:chExt cx="0" cy="0"/>
        </a:xfrm>
      </p:grpSpPr>
      <p:sp useBgFill="1">
        <p:nvSpPr>
          <p:cNvPr id="17"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FF975DA-2F73-4697-B7A9-A2E834712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F5310FBF-3A13-F6CB-250D-7B6CB011D2AE}"/>
              </a:ext>
            </a:extLst>
          </p:cNvPr>
          <p:cNvSpPr>
            <a:spLocks noGrp="1"/>
          </p:cNvSpPr>
          <p:nvPr>
            <p:ph type="title"/>
          </p:nvPr>
        </p:nvSpPr>
        <p:spPr>
          <a:xfrm>
            <a:off x="609600" y="557784"/>
            <a:ext cx="10972800" cy="832867"/>
          </a:xfrm>
        </p:spPr>
        <p:txBody>
          <a:bodyPr vert="horz" lIns="91440" tIns="45720" rIns="91440" bIns="45720" rtlCol="0">
            <a:normAutofit/>
          </a:bodyPr>
          <a:lstStyle/>
          <a:p>
            <a:r>
              <a:rPr lang="en-US" dirty="0"/>
              <a:t>ML Models – </a:t>
            </a:r>
            <a:r>
              <a:rPr lang="en-US" dirty="0" err="1"/>
              <a:t>Normalisation</a:t>
            </a:r>
            <a:endParaRPr lang="en-US" dirty="0"/>
          </a:p>
        </p:txBody>
      </p:sp>
      <p:graphicFrame>
        <p:nvGraphicFramePr>
          <p:cNvPr id="13" name="Content Placeholder 2">
            <a:extLst>
              <a:ext uri="{FF2B5EF4-FFF2-40B4-BE49-F238E27FC236}">
                <a16:creationId xmlns:a16="http://schemas.microsoft.com/office/drawing/2014/main" id="{0AA4868E-9620-1E42-294B-B7E3518768A1}"/>
              </a:ext>
            </a:extLst>
          </p:cNvPr>
          <p:cNvGraphicFramePr>
            <a:graphicFrameLocks noGrp="1"/>
          </p:cNvGraphicFramePr>
          <p:nvPr>
            <p:ph idx="1"/>
            <p:extLst>
              <p:ext uri="{D42A27DB-BD31-4B8C-83A1-F6EECF244321}">
                <p14:modId xmlns:p14="http://schemas.microsoft.com/office/powerpoint/2010/main" val="1203082994"/>
              </p:ext>
            </p:extLst>
          </p:nvPr>
        </p:nvGraphicFramePr>
        <p:xfrm>
          <a:off x="609600" y="2106613"/>
          <a:ext cx="10972800" cy="4035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5711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different numbers and a number of graphs&#10;&#10;AI-generated content may be incorrect.">
            <a:extLst>
              <a:ext uri="{FF2B5EF4-FFF2-40B4-BE49-F238E27FC236}">
                <a16:creationId xmlns:a16="http://schemas.microsoft.com/office/drawing/2014/main" id="{A8DD2435-6E5F-5576-D39E-AA16F2B7CF43}"/>
              </a:ext>
            </a:extLst>
          </p:cNvPr>
          <p:cNvPicPr>
            <a:picLocks noGrp="1" noChangeAspect="1"/>
          </p:cNvPicPr>
          <p:nvPr>
            <p:ph idx="1"/>
          </p:nvPr>
        </p:nvPicPr>
        <p:blipFill>
          <a:blip r:embed="rId2"/>
          <a:stretch>
            <a:fillRect/>
          </a:stretch>
        </p:blipFill>
        <p:spPr>
          <a:xfrm>
            <a:off x="1" y="762001"/>
            <a:ext cx="6095999" cy="6095999"/>
          </a:xfrm>
        </p:spPr>
      </p:pic>
      <p:pic>
        <p:nvPicPr>
          <p:cNvPr id="7" name="Picture 6" descr="A group of blue lines&#10;&#10;AI-generated content may be incorrect.">
            <a:extLst>
              <a:ext uri="{FF2B5EF4-FFF2-40B4-BE49-F238E27FC236}">
                <a16:creationId xmlns:a16="http://schemas.microsoft.com/office/drawing/2014/main" id="{874C3B09-C24B-2198-E0D5-928DF3B48966}"/>
              </a:ext>
            </a:extLst>
          </p:cNvPr>
          <p:cNvPicPr>
            <a:picLocks noChangeAspect="1"/>
          </p:cNvPicPr>
          <p:nvPr/>
        </p:nvPicPr>
        <p:blipFill>
          <a:blip r:embed="rId3"/>
          <a:stretch>
            <a:fillRect/>
          </a:stretch>
        </p:blipFill>
        <p:spPr>
          <a:xfrm>
            <a:off x="6096001" y="762001"/>
            <a:ext cx="6095999" cy="6095999"/>
          </a:xfrm>
          <a:prstGeom prst="rect">
            <a:avLst/>
          </a:prstGeom>
        </p:spPr>
      </p:pic>
      <p:sp>
        <p:nvSpPr>
          <p:cNvPr id="11" name="Title 1">
            <a:extLst>
              <a:ext uri="{FF2B5EF4-FFF2-40B4-BE49-F238E27FC236}">
                <a16:creationId xmlns:a16="http://schemas.microsoft.com/office/drawing/2014/main" id="{213142B4-B9BB-021F-3333-20412025096E}"/>
              </a:ext>
            </a:extLst>
          </p:cNvPr>
          <p:cNvSpPr>
            <a:spLocks noGrp="1"/>
          </p:cNvSpPr>
          <p:nvPr>
            <p:ph type="title"/>
          </p:nvPr>
        </p:nvSpPr>
        <p:spPr>
          <a:xfrm>
            <a:off x="140473" y="67612"/>
            <a:ext cx="9250017" cy="694389"/>
          </a:xfrm>
        </p:spPr>
        <p:txBody>
          <a:bodyPr vert="horz" lIns="91440" tIns="45720" rIns="91440" bIns="45720" rtlCol="0" anchor="b">
            <a:normAutofit fontScale="90000"/>
          </a:bodyPr>
          <a:lstStyle/>
          <a:p>
            <a:r>
              <a:rPr lang="en-US" dirty="0"/>
              <a:t>ML Models – Distribution of Features</a:t>
            </a:r>
          </a:p>
        </p:txBody>
      </p:sp>
    </p:spTree>
    <p:extLst>
      <p:ext uri="{BB962C8B-B14F-4D97-AF65-F5344CB8AC3E}">
        <p14:creationId xmlns:p14="http://schemas.microsoft.com/office/powerpoint/2010/main" val="700136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B0A94-979E-7D35-DB9E-3A56548C2EAF}"/>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F404D98-8F5A-B47C-F150-4FD549FC77FD}"/>
              </a:ext>
            </a:extLst>
          </p:cNvPr>
          <p:cNvPicPr>
            <a:picLocks noGrp="1" noChangeAspect="1"/>
          </p:cNvPicPr>
          <p:nvPr>
            <p:ph idx="1"/>
          </p:nvPr>
        </p:nvPicPr>
        <p:blipFill>
          <a:blip r:embed="rId2"/>
          <a:srcRect/>
          <a:stretch/>
        </p:blipFill>
        <p:spPr>
          <a:xfrm>
            <a:off x="1" y="762001"/>
            <a:ext cx="6095999" cy="6095999"/>
          </a:xfrm>
        </p:spPr>
      </p:pic>
      <p:pic>
        <p:nvPicPr>
          <p:cNvPr id="7" name="Picture 6">
            <a:extLst>
              <a:ext uri="{FF2B5EF4-FFF2-40B4-BE49-F238E27FC236}">
                <a16:creationId xmlns:a16="http://schemas.microsoft.com/office/drawing/2014/main" id="{CF3F37E6-562B-C765-2D63-0FE81B654261}"/>
              </a:ext>
            </a:extLst>
          </p:cNvPr>
          <p:cNvPicPr>
            <a:picLocks noChangeAspect="1"/>
          </p:cNvPicPr>
          <p:nvPr/>
        </p:nvPicPr>
        <p:blipFill>
          <a:blip r:embed="rId3"/>
          <a:srcRect/>
          <a:stretch/>
        </p:blipFill>
        <p:spPr>
          <a:xfrm>
            <a:off x="6096001" y="762001"/>
            <a:ext cx="6095999" cy="6095999"/>
          </a:xfrm>
          <a:prstGeom prst="rect">
            <a:avLst/>
          </a:prstGeom>
        </p:spPr>
      </p:pic>
      <p:sp>
        <p:nvSpPr>
          <p:cNvPr id="11" name="Title 1">
            <a:extLst>
              <a:ext uri="{FF2B5EF4-FFF2-40B4-BE49-F238E27FC236}">
                <a16:creationId xmlns:a16="http://schemas.microsoft.com/office/drawing/2014/main" id="{D547DA18-F777-144F-C19A-3A7407E05858}"/>
              </a:ext>
            </a:extLst>
          </p:cNvPr>
          <p:cNvSpPr>
            <a:spLocks noGrp="1"/>
          </p:cNvSpPr>
          <p:nvPr>
            <p:ph type="title"/>
          </p:nvPr>
        </p:nvSpPr>
        <p:spPr>
          <a:xfrm>
            <a:off x="140473" y="67612"/>
            <a:ext cx="9250017" cy="694389"/>
          </a:xfrm>
        </p:spPr>
        <p:txBody>
          <a:bodyPr vert="horz" lIns="91440" tIns="45720" rIns="91440" bIns="45720" rtlCol="0" anchor="b">
            <a:normAutofit fontScale="90000"/>
          </a:bodyPr>
          <a:lstStyle/>
          <a:p>
            <a:r>
              <a:rPr lang="en-US" dirty="0"/>
              <a:t>ML Models – Distribution of Features</a:t>
            </a:r>
          </a:p>
        </p:txBody>
      </p:sp>
    </p:spTree>
    <p:extLst>
      <p:ext uri="{BB962C8B-B14F-4D97-AF65-F5344CB8AC3E}">
        <p14:creationId xmlns:p14="http://schemas.microsoft.com/office/powerpoint/2010/main" val="631391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5792F-B174-112D-9EAF-A24E577D921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735588A-E914-0829-573C-1A47DCF55B6B}"/>
              </a:ext>
            </a:extLst>
          </p:cNvPr>
          <p:cNvPicPr>
            <a:picLocks noChangeAspect="1"/>
          </p:cNvPicPr>
          <p:nvPr/>
        </p:nvPicPr>
        <p:blipFill>
          <a:blip r:embed="rId2"/>
          <a:srcRect/>
          <a:stretch/>
        </p:blipFill>
        <p:spPr>
          <a:xfrm>
            <a:off x="6353352" y="762001"/>
            <a:ext cx="5581297" cy="6095999"/>
          </a:xfrm>
          <a:prstGeom prst="rect">
            <a:avLst/>
          </a:prstGeom>
        </p:spPr>
      </p:pic>
      <p:sp>
        <p:nvSpPr>
          <p:cNvPr id="11" name="Title 1">
            <a:extLst>
              <a:ext uri="{FF2B5EF4-FFF2-40B4-BE49-F238E27FC236}">
                <a16:creationId xmlns:a16="http://schemas.microsoft.com/office/drawing/2014/main" id="{378B9B9F-3A4E-A2DA-B993-57900821D91A}"/>
              </a:ext>
            </a:extLst>
          </p:cNvPr>
          <p:cNvSpPr>
            <a:spLocks noGrp="1"/>
          </p:cNvSpPr>
          <p:nvPr>
            <p:ph type="title"/>
          </p:nvPr>
        </p:nvSpPr>
        <p:spPr>
          <a:xfrm>
            <a:off x="140473" y="67612"/>
            <a:ext cx="9250017" cy="694389"/>
          </a:xfrm>
        </p:spPr>
        <p:txBody>
          <a:bodyPr vert="horz" lIns="91440" tIns="45720" rIns="91440" bIns="45720" rtlCol="0" anchor="b">
            <a:normAutofit fontScale="90000"/>
          </a:bodyPr>
          <a:lstStyle/>
          <a:p>
            <a:r>
              <a:rPr lang="en-US" dirty="0"/>
              <a:t>ML Models – Association of Features</a:t>
            </a:r>
          </a:p>
        </p:txBody>
      </p:sp>
      <p:sp>
        <p:nvSpPr>
          <p:cNvPr id="3" name="Content Placeholder 2">
            <a:extLst>
              <a:ext uri="{FF2B5EF4-FFF2-40B4-BE49-F238E27FC236}">
                <a16:creationId xmlns:a16="http://schemas.microsoft.com/office/drawing/2014/main" id="{BA8169BB-BB96-6C84-6EC2-E007F0191EFC}"/>
              </a:ext>
            </a:extLst>
          </p:cNvPr>
          <p:cNvSpPr>
            <a:spLocks noGrp="1"/>
          </p:cNvSpPr>
          <p:nvPr>
            <p:ph idx="1"/>
          </p:nvPr>
        </p:nvSpPr>
        <p:spPr>
          <a:xfrm>
            <a:off x="609600" y="1428585"/>
            <a:ext cx="5486400" cy="4285753"/>
          </a:xfrm>
        </p:spPr>
        <p:txBody>
          <a:bodyPr/>
          <a:lstStyle/>
          <a:p>
            <a:pPr marL="342900" indent="-342900">
              <a:buFont typeface="Arial" panose="020B0604020202020204" pitchFamily="34" charset="0"/>
              <a:buChar char="•"/>
            </a:pPr>
            <a:r>
              <a:rPr lang="en-US" dirty="0"/>
              <a:t>Low-income households have negative association with average income, which is expected</a:t>
            </a:r>
          </a:p>
          <a:p>
            <a:pPr marL="342900" indent="-342900">
              <a:buFont typeface="Arial" panose="020B0604020202020204" pitchFamily="34" charset="0"/>
              <a:buChar char="•"/>
            </a:pPr>
            <a:r>
              <a:rPr lang="en-US" dirty="0"/>
              <a:t>Gas and Electricity prices have positive association with weather data, which is also realistic.</a:t>
            </a:r>
          </a:p>
          <a:p>
            <a:pPr marL="342900" indent="-342900">
              <a:buFont typeface="Arial" panose="020B0604020202020204" pitchFamily="34" charset="0"/>
              <a:buChar char="•"/>
            </a:pPr>
            <a:r>
              <a:rPr lang="en-US" dirty="0"/>
              <a:t>Fuel costs are negatively correlated with energy efficiency, which is very realistic.</a:t>
            </a:r>
          </a:p>
          <a:p>
            <a:pPr marL="342900" indent="-342900">
              <a:buFont typeface="Arial" panose="020B0604020202020204" pitchFamily="34" charset="0"/>
              <a:buChar char="•"/>
            </a:pPr>
            <a:r>
              <a:rPr lang="en-US" dirty="0"/>
              <a:t>No abnormal correlations found</a:t>
            </a:r>
          </a:p>
          <a:p>
            <a:pPr marL="342900" indent="-342900">
              <a:buFont typeface="Arial" panose="020B0604020202020204" pitchFamily="34" charset="0"/>
              <a:buChar char="•"/>
            </a:pPr>
            <a:r>
              <a:rPr lang="en-US" dirty="0"/>
              <a:t>Derivative values have somewhat association with the used variables.</a:t>
            </a:r>
          </a:p>
        </p:txBody>
      </p:sp>
    </p:spTree>
    <p:extLst>
      <p:ext uri="{BB962C8B-B14F-4D97-AF65-F5344CB8AC3E}">
        <p14:creationId xmlns:p14="http://schemas.microsoft.com/office/powerpoint/2010/main" val="2112476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AB2F4E3-EA3F-B52A-0C92-A21F5A6317DA}"/>
            </a:ext>
          </a:extLst>
        </p:cNvPr>
        <p:cNvGrpSpPr/>
        <p:nvPr/>
      </p:nvGrpSpPr>
      <p:grpSpPr>
        <a:xfrm>
          <a:off x="0" y="0"/>
          <a:ext cx="0" cy="0"/>
          <a:chOff x="0" y="0"/>
          <a:chExt cx="0" cy="0"/>
        </a:xfrm>
      </p:grpSpPr>
      <p:sp useBgFill="1">
        <p:nvSpPr>
          <p:cNvPr id="18"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D9E6557-0E93-4B4F-8AD1-1A7E3870CD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06B84358-2894-45F1-8753-B1EC1E593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8517" y="-2"/>
            <a:ext cx="7742945" cy="6858001"/>
          </a:xfrm>
          <a:custGeom>
            <a:avLst/>
            <a:gdLst>
              <a:gd name="connsiteX0" fmla="*/ 615190 w 7742945"/>
              <a:gd name="connsiteY0" fmla="*/ 3536636 h 6858001"/>
              <a:gd name="connsiteX1" fmla="*/ 1124778 w 7742945"/>
              <a:gd name="connsiteY1" fmla="*/ 4046224 h 6858001"/>
              <a:gd name="connsiteX2" fmla="*/ 615190 w 7742945"/>
              <a:gd name="connsiteY2" fmla="*/ 4555812 h 6858001"/>
              <a:gd name="connsiteX3" fmla="*/ 105602 w 7742945"/>
              <a:gd name="connsiteY3" fmla="*/ 4046224 h 6858001"/>
              <a:gd name="connsiteX4" fmla="*/ 615190 w 7742945"/>
              <a:gd name="connsiteY4" fmla="*/ 3536636 h 6858001"/>
              <a:gd name="connsiteX5" fmla="*/ 14543 w 7742945"/>
              <a:gd name="connsiteY5" fmla="*/ 1 h 6858001"/>
              <a:gd name="connsiteX6" fmla="*/ 879351 w 7742945"/>
              <a:gd name="connsiteY6" fmla="*/ 1 h 6858001"/>
              <a:gd name="connsiteX7" fmla="*/ 892053 w 7742945"/>
              <a:gd name="connsiteY7" fmla="*/ 78053 h 6858001"/>
              <a:gd name="connsiteX8" fmla="*/ 561940 w 7742945"/>
              <a:gd name="connsiteY8" fmla="*/ 535444 h 6858001"/>
              <a:gd name="connsiteX9" fmla="*/ 15319 w 7742945"/>
              <a:gd name="connsiteY9" fmla="*/ 219853 h 6858001"/>
              <a:gd name="connsiteX10" fmla="*/ 4234 w 7742945"/>
              <a:gd name="connsiteY10" fmla="*/ 42970 h 6858001"/>
              <a:gd name="connsiteX11" fmla="*/ 2617781 w 7742945"/>
              <a:gd name="connsiteY11" fmla="*/ 0 h 6858001"/>
              <a:gd name="connsiteX12" fmla="*/ 7742945 w 7742945"/>
              <a:gd name="connsiteY12" fmla="*/ 0 h 6858001"/>
              <a:gd name="connsiteX13" fmla="*/ 7742945 w 7742945"/>
              <a:gd name="connsiteY13" fmla="*/ 6858000 h 6858001"/>
              <a:gd name="connsiteX14" fmla="*/ 5726653 w 7742945"/>
              <a:gd name="connsiteY14" fmla="*/ 6858000 h 6858001"/>
              <a:gd name="connsiteX15" fmla="*/ 5726653 w 7742945"/>
              <a:gd name="connsiteY15" fmla="*/ 6858001 h 6858001"/>
              <a:gd name="connsiteX16" fmla="*/ 311757 w 7742945"/>
              <a:gd name="connsiteY16" fmla="*/ 6858001 h 6858001"/>
              <a:gd name="connsiteX17" fmla="*/ 314130 w 7742945"/>
              <a:gd name="connsiteY17" fmla="*/ 6707671 h 6858001"/>
              <a:gd name="connsiteX18" fmla="*/ 599702 w 7742945"/>
              <a:gd name="connsiteY18" fmla="*/ 5670859 h 6858001"/>
              <a:gd name="connsiteX19" fmla="*/ 1211433 w 7742945"/>
              <a:gd name="connsiteY19" fmla="*/ 4641256 h 6858001"/>
              <a:gd name="connsiteX20" fmla="*/ 1053041 w 7742945"/>
              <a:gd name="connsiteY20" fmla="*/ 3164270 h 6858001"/>
              <a:gd name="connsiteX21" fmla="*/ 607048 w 7742945"/>
              <a:gd name="connsiteY21" fmla="*/ 2589406 h 6858001"/>
              <a:gd name="connsiteX22" fmla="*/ 1054915 w 7742945"/>
              <a:gd name="connsiteY22" fmla="*/ 1068100 h 6858001"/>
              <a:gd name="connsiteX23" fmla="*/ 1502877 w 7742945"/>
              <a:gd name="connsiteY23" fmla="*/ 419996 h 6858001"/>
              <a:gd name="connsiteX24" fmla="*/ 1505904 w 7742945"/>
              <a:gd name="connsiteY24" fmla="*/ 184997 h 6858001"/>
              <a:gd name="connsiteX25" fmla="*/ 1497780 w 7742945"/>
              <a:gd name="connsiteY25" fmla="*/ 1 h 6858001"/>
              <a:gd name="connsiteX26" fmla="*/ 2617781 w 7742945"/>
              <a:gd name="connsiteY26"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742945" h="6858001">
                <a:moveTo>
                  <a:pt x="615190" y="3536636"/>
                </a:moveTo>
                <a:cubicBezTo>
                  <a:pt x="896628" y="3536636"/>
                  <a:pt x="1124778" y="3764786"/>
                  <a:pt x="1124778" y="4046224"/>
                </a:cubicBezTo>
                <a:cubicBezTo>
                  <a:pt x="1124778" y="4327662"/>
                  <a:pt x="896628" y="4555812"/>
                  <a:pt x="615190" y="4555812"/>
                </a:cubicBezTo>
                <a:cubicBezTo>
                  <a:pt x="333752" y="4555812"/>
                  <a:pt x="105602" y="4327662"/>
                  <a:pt x="105602" y="4046224"/>
                </a:cubicBezTo>
                <a:cubicBezTo>
                  <a:pt x="105602" y="3764786"/>
                  <a:pt x="333752" y="3536636"/>
                  <a:pt x="615190" y="3536636"/>
                </a:cubicBezTo>
                <a:close/>
                <a:moveTo>
                  <a:pt x="14543" y="1"/>
                </a:moveTo>
                <a:lnTo>
                  <a:pt x="879351" y="1"/>
                </a:lnTo>
                <a:lnTo>
                  <a:pt x="892053" y="78053"/>
                </a:lnTo>
                <a:cubicBezTo>
                  <a:pt x="904492" y="285272"/>
                  <a:pt x="770271" y="479622"/>
                  <a:pt x="561940" y="535444"/>
                </a:cubicBezTo>
                <a:cubicBezTo>
                  <a:pt x="323846" y="599241"/>
                  <a:pt x="79116" y="457946"/>
                  <a:pt x="15319" y="219853"/>
                </a:cubicBezTo>
                <a:cubicBezTo>
                  <a:pt x="-631" y="160330"/>
                  <a:pt x="-3762" y="100392"/>
                  <a:pt x="4234" y="42970"/>
                </a:cubicBezTo>
                <a:close/>
                <a:moveTo>
                  <a:pt x="2617781" y="0"/>
                </a:moveTo>
                <a:lnTo>
                  <a:pt x="7742945" y="0"/>
                </a:lnTo>
                <a:lnTo>
                  <a:pt x="7742945" y="6858000"/>
                </a:lnTo>
                <a:lnTo>
                  <a:pt x="5726653" y="6858000"/>
                </a:lnTo>
                <a:lnTo>
                  <a:pt x="5726653" y="6858001"/>
                </a:lnTo>
                <a:lnTo>
                  <a:pt x="311757" y="6858001"/>
                </a:lnTo>
                <a:lnTo>
                  <a:pt x="314130" y="6707671"/>
                </a:lnTo>
                <a:cubicBezTo>
                  <a:pt x="335132" y="6366410"/>
                  <a:pt x="433651" y="6019043"/>
                  <a:pt x="599702" y="5670859"/>
                </a:cubicBezTo>
                <a:cubicBezTo>
                  <a:pt x="770257" y="5311557"/>
                  <a:pt x="1010813" y="4986833"/>
                  <a:pt x="1211433" y="4641256"/>
                </a:cubicBezTo>
                <a:cubicBezTo>
                  <a:pt x="1493036" y="4154457"/>
                  <a:pt x="1511835" y="3622745"/>
                  <a:pt x="1053041" y="3164270"/>
                </a:cubicBezTo>
                <a:cubicBezTo>
                  <a:pt x="881977" y="2993265"/>
                  <a:pt x="700422" y="2805524"/>
                  <a:pt x="607048" y="2589406"/>
                </a:cubicBezTo>
                <a:cubicBezTo>
                  <a:pt x="366279" y="2032159"/>
                  <a:pt x="541125" y="1508062"/>
                  <a:pt x="1054915" y="1068100"/>
                </a:cubicBezTo>
                <a:cubicBezTo>
                  <a:pt x="1261027" y="891536"/>
                  <a:pt x="1489688" y="709489"/>
                  <a:pt x="1502877" y="419996"/>
                </a:cubicBezTo>
                <a:cubicBezTo>
                  <a:pt x="1506389" y="341911"/>
                  <a:pt x="1507262" y="263521"/>
                  <a:pt x="1505904" y="184997"/>
                </a:cubicBezTo>
                <a:lnTo>
                  <a:pt x="1497780" y="1"/>
                </a:lnTo>
                <a:lnTo>
                  <a:pt x="2617781"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itle 1">
            <a:extLst>
              <a:ext uri="{FF2B5EF4-FFF2-40B4-BE49-F238E27FC236}">
                <a16:creationId xmlns:a16="http://schemas.microsoft.com/office/drawing/2014/main" id="{918009B6-A42D-EC89-F7CE-45AF3C9E40E4}"/>
              </a:ext>
            </a:extLst>
          </p:cNvPr>
          <p:cNvSpPr>
            <a:spLocks noGrp="1"/>
          </p:cNvSpPr>
          <p:nvPr>
            <p:ph type="title"/>
          </p:nvPr>
        </p:nvSpPr>
        <p:spPr>
          <a:xfrm>
            <a:off x="575518" y="275547"/>
            <a:ext cx="3705572" cy="1447607"/>
          </a:xfrm>
        </p:spPr>
        <p:txBody>
          <a:bodyPr vert="horz" lIns="91440" tIns="45720" rIns="91440" bIns="45720" rtlCol="0" anchor="t">
            <a:normAutofit/>
          </a:bodyPr>
          <a:lstStyle/>
          <a:p>
            <a:r>
              <a:rPr lang="en-US" dirty="0"/>
              <a:t>ML Models – Balancing</a:t>
            </a:r>
          </a:p>
        </p:txBody>
      </p:sp>
      <p:pic>
        <p:nvPicPr>
          <p:cNvPr id="5" name="Content Placeholder 4" descr="A screenshot of a computer program&#10;&#10;AI-generated content may be incorrect.">
            <a:extLst>
              <a:ext uri="{FF2B5EF4-FFF2-40B4-BE49-F238E27FC236}">
                <a16:creationId xmlns:a16="http://schemas.microsoft.com/office/drawing/2014/main" id="{2A470858-FD23-B4DA-0BB9-62383B6C0A79}"/>
              </a:ext>
            </a:extLst>
          </p:cNvPr>
          <p:cNvPicPr>
            <a:picLocks noGrp="1" noChangeAspect="1"/>
          </p:cNvPicPr>
          <p:nvPr>
            <p:ph idx="1"/>
          </p:nvPr>
        </p:nvPicPr>
        <p:blipFill>
          <a:blip r:embed="rId2"/>
          <a:stretch>
            <a:fillRect/>
          </a:stretch>
        </p:blipFill>
        <p:spPr>
          <a:xfrm>
            <a:off x="6154310" y="0"/>
            <a:ext cx="6117152" cy="6860808"/>
          </a:xfrm>
        </p:spPr>
      </p:pic>
      <p:graphicFrame>
        <p:nvGraphicFramePr>
          <p:cNvPr id="6" name="Chart 5">
            <a:extLst>
              <a:ext uri="{FF2B5EF4-FFF2-40B4-BE49-F238E27FC236}">
                <a16:creationId xmlns:a16="http://schemas.microsoft.com/office/drawing/2014/main" id="{AFC37DFE-EE9A-888C-3FA7-0C850BB33536}"/>
              </a:ext>
            </a:extLst>
          </p:cNvPr>
          <p:cNvGraphicFramePr/>
          <p:nvPr>
            <p:extLst>
              <p:ext uri="{D42A27DB-BD31-4B8C-83A1-F6EECF244321}">
                <p14:modId xmlns:p14="http://schemas.microsoft.com/office/powerpoint/2010/main" val="2351099330"/>
              </p:ext>
            </p:extLst>
          </p:nvPr>
        </p:nvGraphicFramePr>
        <p:xfrm>
          <a:off x="219253" y="2091193"/>
          <a:ext cx="4309264" cy="332964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43169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10C71D9-95BD-968D-C5DA-985AF2607569}"/>
            </a:ext>
          </a:extLst>
        </p:cNvPr>
        <p:cNvGrpSpPr/>
        <p:nvPr/>
      </p:nvGrpSpPr>
      <p:grpSpPr>
        <a:xfrm>
          <a:off x="0" y="0"/>
          <a:ext cx="0" cy="0"/>
          <a:chOff x="0" y="0"/>
          <a:chExt cx="0" cy="0"/>
        </a:xfrm>
      </p:grpSpPr>
      <p:sp useBgFill="1">
        <p:nvSpPr>
          <p:cNvPr id="18" name="Background Fill">
            <a:extLst>
              <a:ext uri="{FF2B5EF4-FFF2-40B4-BE49-F238E27FC236}">
                <a16:creationId xmlns:a16="http://schemas.microsoft.com/office/drawing/2014/main" id="{DF3A5E6F-AA8A-781E-7BC4-62072FC02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8078386-C512-8E04-12B5-DF0FF09CE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BA04389E-503D-ED05-F103-8349B289E3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8517" y="-2"/>
            <a:ext cx="7742945" cy="6858001"/>
          </a:xfrm>
          <a:custGeom>
            <a:avLst/>
            <a:gdLst>
              <a:gd name="connsiteX0" fmla="*/ 615190 w 7742945"/>
              <a:gd name="connsiteY0" fmla="*/ 3536636 h 6858001"/>
              <a:gd name="connsiteX1" fmla="*/ 1124778 w 7742945"/>
              <a:gd name="connsiteY1" fmla="*/ 4046224 h 6858001"/>
              <a:gd name="connsiteX2" fmla="*/ 615190 w 7742945"/>
              <a:gd name="connsiteY2" fmla="*/ 4555812 h 6858001"/>
              <a:gd name="connsiteX3" fmla="*/ 105602 w 7742945"/>
              <a:gd name="connsiteY3" fmla="*/ 4046224 h 6858001"/>
              <a:gd name="connsiteX4" fmla="*/ 615190 w 7742945"/>
              <a:gd name="connsiteY4" fmla="*/ 3536636 h 6858001"/>
              <a:gd name="connsiteX5" fmla="*/ 14543 w 7742945"/>
              <a:gd name="connsiteY5" fmla="*/ 1 h 6858001"/>
              <a:gd name="connsiteX6" fmla="*/ 879351 w 7742945"/>
              <a:gd name="connsiteY6" fmla="*/ 1 h 6858001"/>
              <a:gd name="connsiteX7" fmla="*/ 892053 w 7742945"/>
              <a:gd name="connsiteY7" fmla="*/ 78053 h 6858001"/>
              <a:gd name="connsiteX8" fmla="*/ 561940 w 7742945"/>
              <a:gd name="connsiteY8" fmla="*/ 535444 h 6858001"/>
              <a:gd name="connsiteX9" fmla="*/ 15319 w 7742945"/>
              <a:gd name="connsiteY9" fmla="*/ 219853 h 6858001"/>
              <a:gd name="connsiteX10" fmla="*/ 4234 w 7742945"/>
              <a:gd name="connsiteY10" fmla="*/ 42970 h 6858001"/>
              <a:gd name="connsiteX11" fmla="*/ 2617781 w 7742945"/>
              <a:gd name="connsiteY11" fmla="*/ 0 h 6858001"/>
              <a:gd name="connsiteX12" fmla="*/ 7742945 w 7742945"/>
              <a:gd name="connsiteY12" fmla="*/ 0 h 6858001"/>
              <a:gd name="connsiteX13" fmla="*/ 7742945 w 7742945"/>
              <a:gd name="connsiteY13" fmla="*/ 6858000 h 6858001"/>
              <a:gd name="connsiteX14" fmla="*/ 5726653 w 7742945"/>
              <a:gd name="connsiteY14" fmla="*/ 6858000 h 6858001"/>
              <a:gd name="connsiteX15" fmla="*/ 5726653 w 7742945"/>
              <a:gd name="connsiteY15" fmla="*/ 6858001 h 6858001"/>
              <a:gd name="connsiteX16" fmla="*/ 311757 w 7742945"/>
              <a:gd name="connsiteY16" fmla="*/ 6858001 h 6858001"/>
              <a:gd name="connsiteX17" fmla="*/ 314130 w 7742945"/>
              <a:gd name="connsiteY17" fmla="*/ 6707671 h 6858001"/>
              <a:gd name="connsiteX18" fmla="*/ 599702 w 7742945"/>
              <a:gd name="connsiteY18" fmla="*/ 5670859 h 6858001"/>
              <a:gd name="connsiteX19" fmla="*/ 1211433 w 7742945"/>
              <a:gd name="connsiteY19" fmla="*/ 4641256 h 6858001"/>
              <a:gd name="connsiteX20" fmla="*/ 1053041 w 7742945"/>
              <a:gd name="connsiteY20" fmla="*/ 3164270 h 6858001"/>
              <a:gd name="connsiteX21" fmla="*/ 607048 w 7742945"/>
              <a:gd name="connsiteY21" fmla="*/ 2589406 h 6858001"/>
              <a:gd name="connsiteX22" fmla="*/ 1054915 w 7742945"/>
              <a:gd name="connsiteY22" fmla="*/ 1068100 h 6858001"/>
              <a:gd name="connsiteX23" fmla="*/ 1502877 w 7742945"/>
              <a:gd name="connsiteY23" fmla="*/ 419996 h 6858001"/>
              <a:gd name="connsiteX24" fmla="*/ 1505904 w 7742945"/>
              <a:gd name="connsiteY24" fmla="*/ 184997 h 6858001"/>
              <a:gd name="connsiteX25" fmla="*/ 1497780 w 7742945"/>
              <a:gd name="connsiteY25" fmla="*/ 1 h 6858001"/>
              <a:gd name="connsiteX26" fmla="*/ 2617781 w 7742945"/>
              <a:gd name="connsiteY26"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742945" h="6858001">
                <a:moveTo>
                  <a:pt x="615190" y="3536636"/>
                </a:moveTo>
                <a:cubicBezTo>
                  <a:pt x="896628" y="3536636"/>
                  <a:pt x="1124778" y="3764786"/>
                  <a:pt x="1124778" y="4046224"/>
                </a:cubicBezTo>
                <a:cubicBezTo>
                  <a:pt x="1124778" y="4327662"/>
                  <a:pt x="896628" y="4555812"/>
                  <a:pt x="615190" y="4555812"/>
                </a:cubicBezTo>
                <a:cubicBezTo>
                  <a:pt x="333752" y="4555812"/>
                  <a:pt x="105602" y="4327662"/>
                  <a:pt x="105602" y="4046224"/>
                </a:cubicBezTo>
                <a:cubicBezTo>
                  <a:pt x="105602" y="3764786"/>
                  <a:pt x="333752" y="3536636"/>
                  <a:pt x="615190" y="3536636"/>
                </a:cubicBezTo>
                <a:close/>
                <a:moveTo>
                  <a:pt x="14543" y="1"/>
                </a:moveTo>
                <a:lnTo>
                  <a:pt x="879351" y="1"/>
                </a:lnTo>
                <a:lnTo>
                  <a:pt x="892053" y="78053"/>
                </a:lnTo>
                <a:cubicBezTo>
                  <a:pt x="904492" y="285272"/>
                  <a:pt x="770271" y="479622"/>
                  <a:pt x="561940" y="535444"/>
                </a:cubicBezTo>
                <a:cubicBezTo>
                  <a:pt x="323846" y="599241"/>
                  <a:pt x="79116" y="457946"/>
                  <a:pt x="15319" y="219853"/>
                </a:cubicBezTo>
                <a:cubicBezTo>
                  <a:pt x="-631" y="160330"/>
                  <a:pt x="-3762" y="100392"/>
                  <a:pt x="4234" y="42970"/>
                </a:cubicBezTo>
                <a:close/>
                <a:moveTo>
                  <a:pt x="2617781" y="0"/>
                </a:moveTo>
                <a:lnTo>
                  <a:pt x="7742945" y="0"/>
                </a:lnTo>
                <a:lnTo>
                  <a:pt x="7742945" y="6858000"/>
                </a:lnTo>
                <a:lnTo>
                  <a:pt x="5726653" y="6858000"/>
                </a:lnTo>
                <a:lnTo>
                  <a:pt x="5726653" y="6858001"/>
                </a:lnTo>
                <a:lnTo>
                  <a:pt x="311757" y="6858001"/>
                </a:lnTo>
                <a:lnTo>
                  <a:pt x="314130" y="6707671"/>
                </a:lnTo>
                <a:cubicBezTo>
                  <a:pt x="335132" y="6366410"/>
                  <a:pt x="433651" y="6019043"/>
                  <a:pt x="599702" y="5670859"/>
                </a:cubicBezTo>
                <a:cubicBezTo>
                  <a:pt x="770257" y="5311557"/>
                  <a:pt x="1010813" y="4986833"/>
                  <a:pt x="1211433" y="4641256"/>
                </a:cubicBezTo>
                <a:cubicBezTo>
                  <a:pt x="1493036" y="4154457"/>
                  <a:pt x="1511835" y="3622745"/>
                  <a:pt x="1053041" y="3164270"/>
                </a:cubicBezTo>
                <a:cubicBezTo>
                  <a:pt x="881977" y="2993265"/>
                  <a:pt x="700422" y="2805524"/>
                  <a:pt x="607048" y="2589406"/>
                </a:cubicBezTo>
                <a:cubicBezTo>
                  <a:pt x="366279" y="2032159"/>
                  <a:pt x="541125" y="1508062"/>
                  <a:pt x="1054915" y="1068100"/>
                </a:cubicBezTo>
                <a:cubicBezTo>
                  <a:pt x="1261027" y="891536"/>
                  <a:pt x="1489688" y="709489"/>
                  <a:pt x="1502877" y="419996"/>
                </a:cubicBezTo>
                <a:cubicBezTo>
                  <a:pt x="1506389" y="341911"/>
                  <a:pt x="1507262" y="263521"/>
                  <a:pt x="1505904" y="184997"/>
                </a:cubicBezTo>
                <a:lnTo>
                  <a:pt x="1497780" y="1"/>
                </a:lnTo>
                <a:lnTo>
                  <a:pt x="2617781"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itle 1">
            <a:extLst>
              <a:ext uri="{FF2B5EF4-FFF2-40B4-BE49-F238E27FC236}">
                <a16:creationId xmlns:a16="http://schemas.microsoft.com/office/drawing/2014/main" id="{04949A6E-2CEC-01FC-1332-289D239F7104}"/>
              </a:ext>
            </a:extLst>
          </p:cNvPr>
          <p:cNvSpPr>
            <a:spLocks noGrp="1"/>
          </p:cNvSpPr>
          <p:nvPr>
            <p:ph type="title"/>
          </p:nvPr>
        </p:nvSpPr>
        <p:spPr>
          <a:xfrm>
            <a:off x="429370" y="275547"/>
            <a:ext cx="4309264" cy="1447607"/>
          </a:xfrm>
        </p:spPr>
        <p:txBody>
          <a:bodyPr vert="horz" lIns="91440" tIns="45720" rIns="91440" bIns="45720" rtlCol="0" anchor="t">
            <a:normAutofit/>
          </a:bodyPr>
          <a:lstStyle/>
          <a:p>
            <a:r>
              <a:rPr lang="en-US" dirty="0"/>
              <a:t>Feature</a:t>
            </a:r>
            <a:br>
              <a:rPr lang="en-US" dirty="0"/>
            </a:br>
            <a:r>
              <a:rPr lang="en-US" dirty="0"/>
              <a:t>Importance</a:t>
            </a:r>
          </a:p>
        </p:txBody>
      </p:sp>
      <p:pic>
        <p:nvPicPr>
          <p:cNvPr id="7" name="Content Placeholder 6" descr="A graph with green bars&#10;&#10;AI-generated content may be incorrect.">
            <a:extLst>
              <a:ext uri="{FF2B5EF4-FFF2-40B4-BE49-F238E27FC236}">
                <a16:creationId xmlns:a16="http://schemas.microsoft.com/office/drawing/2014/main" id="{99F56AB7-DC83-CB0D-51F7-735F7623884F}"/>
              </a:ext>
            </a:extLst>
          </p:cNvPr>
          <p:cNvPicPr>
            <a:picLocks noGrp="1" noChangeAspect="1"/>
          </p:cNvPicPr>
          <p:nvPr>
            <p:ph idx="1"/>
          </p:nvPr>
        </p:nvPicPr>
        <p:blipFill>
          <a:blip r:embed="rId2"/>
          <a:stretch>
            <a:fillRect/>
          </a:stretch>
        </p:blipFill>
        <p:spPr>
          <a:xfrm>
            <a:off x="6096000" y="81431"/>
            <a:ext cx="6175462" cy="6744957"/>
          </a:xfrm>
        </p:spPr>
      </p:pic>
      <p:sp>
        <p:nvSpPr>
          <p:cNvPr id="8" name="Content Placeholder 2">
            <a:extLst>
              <a:ext uri="{FF2B5EF4-FFF2-40B4-BE49-F238E27FC236}">
                <a16:creationId xmlns:a16="http://schemas.microsoft.com/office/drawing/2014/main" id="{EFF1EF50-7FFA-3E7D-3F27-1542274B9CBD}"/>
              </a:ext>
            </a:extLst>
          </p:cNvPr>
          <p:cNvSpPr txBox="1">
            <a:spLocks/>
          </p:cNvSpPr>
          <p:nvPr/>
        </p:nvSpPr>
        <p:spPr>
          <a:xfrm>
            <a:off x="429370" y="1889761"/>
            <a:ext cx="4309264" cy="4285753"/>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Most relevant feature might introduce signal leakage from synthetic data generation model.</a:t>
            </a:r>
          </a:p>
          <a:p>
            <a:pPr marL="342900" indent="-342900">
              <a:buFont typeface="Arial" panose="020B0604020202020204" pitchFamily="34" charset="0"/>
              <a:buChar char="•"/>
            </a:pPr>
            <a:r>
              <a:rPr lang="en-US" dirty="0"/>
              <a:t>Creating two different pipelines of models, one with </a:t>
            </a:r>
            <a:r>
              <a:rPr lang="en-US" dirty="0" err="1"/>
              <a:t>current_energy_efficiency</a:t>
            </a:r>
            <a:r>
              <a:rPr lang="en-US" dirty="0"/>
              <a:t>, another without. For all the models. Namely, Pipeline A and Pipeline B.</a:t>
            </a:r>
          </a:p>
        </p:txBody>
      </p:sp>
    </p:spTree>
    <p:extLst>
      <p:ext uri="{BB962C8B-B14F-4D97-AF65-F5344CB8AC3E}">
        <p14:creationId xmlns:p14="http://schemas.microsoft.com/office/powerpoint/2010/main" val="3512768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438C-7242-3F01-8663-FE8253D347FE}"/>
              </a:ext>
            </a:extLst>
          </p:cNvPr>
          <p:cNvSpPr>
            <a:spLocks noGrp="1"/>
          </p:cNvSpPr>
          <p:nvPr>
            <p:ph type="title"/>
          </p:nvPr>
        </p:nvSpPr>
        <p:spPr>
          <a:xfrm>
            <a:off x="84814" y="152918"/>
            <a:ext cx="10972800" cy="873451"/>
          </a:xfrm>
        </p:spPr>
        <p:txBody>
          <a:bodyPr/>
          <a:lstStyle/>
          <a:p>
            <a:r>
              <a:rPr lang="en-US" dirty="0"/>
              <a:t>Modelling – XGBOOST</a:t>
            </a:r>
          </a:p>
        </p:txBody>
      </p:sp>
      <p:pic>
        <p:nvPicPr>
          <p:cNvPr id="5" name="Content Placeholder 4" descr="A screenshot of a computer program&#10;&#10;AI-generated content may be incorrect.">
            <a:extLst>
              <a:ext uri="{FF2B5EF4-FFF2-40B4-BE49-F238E27FC236}">
                <a16:creationId xmlns:a16="http://schemas.microsoft.com/office/drawing/2014/main" id="{664536A8-7B41-26A3-276B-605D81AFBB5B}"/>
              </a:ext>
            </a:extLst>
          </p:cNvPr>
          <p:cNvPicPr>
            <a:picLocks noGrp="1" noChangeAspect="1"/>
          </p:cNvPicPr>
          <p:nvPr>
            <p:ph idx="1"/>
          </p:nvPr>
        </p:nvPicPr>
        <p:blipFill>
          <a:blip r:embed="rId2"/>
          <a:stretch>
            <a:fillRect/>
          </a:stretch>
        </p:blipFill>
        <p:spPr>
          <a:xfrm>
            <a:off x="7577593" y="0"/>
            <a:ext cx="4614407" cy="6856925"/>
          </a:xfrm>
        </p:spPr>
      </p:pic>
      <p:pic>
        <p:nvPicPr>
          <p:cNvPr id="8" name="Picture 7" descr="A screenshot of a computer screen&#10;&#10;AI-generated content may be incorrect.">
            <a:extLst>
              <a:ext uri="{FF2B5EF4-FFF2-40B4-BE49-F238E27FC236}">
                <a16:creationId xmlns:a16="http://schemas.microsoft.com/office/drawing/2014/main" id="{AC234490-9F8B-2885-1BFF-3779BCAA9F33}"/>
              </a:ext>
            </a:extLst>
          </p:cNvPr>
          <p:cNvPicPr>
            <a:picLocks noChangeAspect="1"/>
          </p:cNvPicPr>
          <p:nvPr/>
        </p:nvPicPr>
        <p:blipFill>
          <a:blip r:embed="rId3"/>
          <a:stretch>
            <a:fillRect/>
          </a:stretch>
        </p:blipFill>
        <p:spPr>
          <a:xfrm>
            <a:off x="1" y="1225696"/>
            <a:ext cx="3951798" cy="2791582"/>
          </a:xfrm>
          <a:prstGeom prst="rect">
            <a:avLst/>
          </a:prstGeom>
        </p:spPr>
      </p:pic>
      <p:pic>
        <p:nvPicPr>
          <p:cNvPr id="10" name="Picture 9" descr="A screenshot of a computer screen&#10;&#10;AI-generated content may be incorrect.">
            <a:extLst>
              <a:ext uri="{FF2B5EF4-FFF2-40B4-BE49-F238E27FC236}">
                <a16:creationId xmlns:a16="http://schemas.microsoft.com/office/drawing/2014/main" id="{D7A9C43B-9F37-8948-A5D9-9EB9D5F01FE1}"/>
              </a:ext>
            </a:extLst>
          </p:cNvPr>
          <p:cNvPicPr>
            <a:picLocks noChangeAspect="1"/>
          </p:cNvPicPr>
          <p:nvPr/>
        </p:nvPicPr>
        <p:blipFill>
          <a:blip r:embed="rId4"/>
          <a:stretch>
            <a:fillRect/>
          </a:stretch>
        </p:blipFill>
        <p:spPr>
          <a:xfrm>
            <a:off x="0" y="4065343"/>
            <a:ext cx="3967610" cy="2791582"/>
          </a:xfrm>
          <a:prstGeom prst="rect">
            <a:avLst/>
          </a:prstGeom>
        </p:spPr>
      </p:pic>
      <p:graphicFrame>
        <p:nvGraphicFramePr>
          <p:cNvPr id="11" name="Diagram 10">
            <a:extLst>
              <a:ext uri="{FF2B5EF4-FFF2-40B4-BE49-F238E27FC236}">
                <a16:creationId xmlns:a16="http://schemas.microsoft.com/office/drawing/2014/main" id="{1B8BFD79-335C-4FE1-2618-680170961EE6}"/>
              </a:ext>
            </a:extLst>
          </p:cNvPr>
          <p:cNvGraphicFramePr/>
          <p:nvPr>
            <p:extLst>
              <p:ext uri="{D42A27DB-BD31-4B8C-83A1-F6EECF244321}">
                <p14:modId xmlns:p14="http://schemas.microsoft.com/office/powerpoint/2010/main" val="196164723"/>
              </p:ext>
            </p:extLst>
          </p:nvPr>
        </p:nvGraphicFramePr>
        <p:xfrm>
          <a:off x="4190245" y="2359049"/>
          <a:ext cx="3180523" cy="31883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2" name="Title 1">
            <a:extLst>
              <a:ext uri="{FF2B5EF4-FFF2-40B4-BE49-F238E27FC236}">
                <a16:creationId xmlns:a16="http://schemas.microsoft.com/office/drawing/2014/main" id="{2CE07175-66ED-D4D6-5C89-4F48D853EDA2}"/>
              </a:ext>
            </a:extLst>
          </p:cNvPr>
          <p:cNvSpPr txBox="1">
            <a:spLocks/>
          </p:cNvSpPr>
          <p:nvPr/>
        </p:nvSpPr>
        <p:spPr>
          <a:xfrm>
            <a:off x="4100223" y="1853847"/>
            <a:ext cx="662608" cy="873451"/>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en-US" dirty="0"/>
              <a:t>A</a:t>
            </a:r>
          </a:p>
        </p:txBody>
      </p:sp>
      <p:sp>
        <p:nvSpPr>
          <p:cNvPr id="13" name="Title 1">
            <a:extLst>
              <a:ext uri="{FF2B5EF4-FFF2-40B4-BE49-F238E27FC236}">
                <a16:creationId xmlns:a16="http://schemas.microsoft.com/office/drawing/2014/main" id="{A75F4619-3775-AB35-25A3-A8CE351AFBE7}"/>
              </a:ext>
            </a:extLst>
          </p:cNvPr>
          <p:cNvSpPr txBox="1">
            <a:spLocks/>
          </p:cNvSpPr>
          <p:nvPr/>
        </p:nvSpPr>
        <p:spPr>
          <a:xfrm>
            <a:off x="4153232" y="5024408"/>
            <a:ext cx="662608" cy="873451"/>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en-US" dirty="0"/>
              <a:t>B</a:t>
            </a:r>
          </a:p>
        </p:txBody>
      </p:sp>
    </p:spTree>
    <p:extLst>
      <p:ext uri="{BB962C8B-B14F-4D97-AF65-F5344CB8AC3E}">
        <p14:creationId xmlns:p14="http://schemas.microsoft.com/office/powerpoint/2010/main" val="1637062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BF810-95BD-88B9-6A69-717AD2079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4432C-5A9D-292A-D7D2-3BDDB24C0D4F}"/>
              </a:ext>
            </a:extLst>
          </p:cNvPr>
          <p:cNvSpPr>
            <a:spLocks noGrp="1"/>
          </p:cNvSpPr>
          <p:nvPr>
            <p:ph type="title"/>
          </p:nvPr>
        </p:nvSpPr>
        <p:spPr>
          <a:xfrm>
            <a:off x="148424" y="64187"/>
            <a:ext cx="10972800" cy="873451"/>
          </a:xfrm>
        </p:spPr>
        <p:txBody>
          <a:bodyPr/>
          <a:lstStyle/>
          <a:p>
            <a:r>
              <a:rPr lang="en-US" dirty="0"/>
              <a:t>Modelling – RF</a:t>
            </a:r>
          </a:p>
        </p:txBody>
      </p:sp>
      <p:graphicFrame>
        <p:nvGraphicFramePr>
          <p:cNvPr id="11" name="Diagram 10">
            <a:extLst>
              <a:ext uri="{FF2B5EF4-FFF2-40B4-BE49-F238E27FC236}">
                <a16:creationId xmlns:a16="http://schemas.microsoft.com/office/drawing/2014/main" id="{FC67414D-2475-40E5-6C88-9C482A899953}"/>
              </a:ext>
            </a:extLst>
          </p:cNvPr>
          <p:cNvGraphicFramePr/>
          <p:nvPr/>
        </p:nvGraphicFramePr>
        <p:xfrm>
          <a:off x="4190245" y="2359049"/>
          <a:ext cx="3180523" cy="3188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itle 1">
            <a:extLst>
              <a:ext uri="{FF2B5EF4-FFF2-40B4-BE49-F238E27FC236}">
                <a16:creationId xmlns:a16="http://schemas.microsoft.com/office/drawing/2014/main" id="{431D38FB-7559-A6B4-1A8C-A8F7CD543C73}"/>
              </a:ext>
            </a:extLst>
          </p:cNvPr>
          <p:cNvSpPr txBox="1">
            <a:spLocks/>
          </p:cNvSpPr>
          <p:nvPr/>
        </p:nvSpPr>
        <p:spPr>
          <a:xfrm>
            <a:off x="3580646" y="1833592"/>
            <a:ext cx="662608" cy="873451"/>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en-US" dirty="0"/>
              <a:t>A</a:t>
            </a:r>
          </a:p>
        </p:txBody>
      </p:sp>
      <p:sp>
        <p:nvSpPr>
          <p:cNvPr id="13" name="Title 1">
            <a:extLst>
              <a:ext uri="{FF2B5EF4-FFF2-40B4-BE49-F238E27FC236}">
                <a16:creationId xmlns:a16="http://schemas.microsoft.com/office/drawing/2014/main" id="{30160DD9-2310-6C42-4745-15BFEEC544C2}"/>
              </a:ext>
            </a:extLst>
          </p:cNvPr>
          <p:cNvSpPr txBox="1">
            <a:spLocks/>
          </p:cNvSpPr>
          <p:nvPr/>
        </p:nvSpPr>
        <p:spPr>
          <a:xfrm>
            <a:off x="3652300" y="5024408"/>
            <a:ext cx="662608" cy="873451"/>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en-US" dirty="0"/>
              <a:t>B</a:t>
            </a:r>
          </a:p>
        </p:txBody>
      </p:sp>
      <p:pic>
        <p:nvPicPr>
          <p:cNvPr id="4" name="Picture 3" descr="A screenshot of a computer program&#10;&#10;AI-generated content may be incorrect.">
            <a:extLst>
              <a:ext uri="{FF2B5EF4-FFF2-40B4-BE49-F238E27FC236}">
                <a16:creationId xmlns:a16="http://schemas.microsoft.com/office/drawing/2014/main" id="{46E5D0B4-CF56-C913-7D12-A66D9FEEE03D}"/>
              </a:ext>
            </a:extLst>
          </p:cNvPr>
          <p:cNvPicPr>
            <a:picLocks noChangeAspect="1"/>
          </p:cNvPicPr>
          <p:nvPr/>
        </p:nvPicPr>
        <p:blipFill>
          <a:blip r:embed="rId7"/>
          <a:stretch>
            <a:fillRect/>
          </a:stretch>
        </p:blipFill>
        <p:spPr>
          <a:xfrm>
            <a:off x="7658381" y="1522875"/>
            <a:ext cx="4533619" cy="4374984"/>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8A45EBD1-5972-4D7A-7D54-E9D4E8031096}"/>
              </a:ext>
            </a:extLst>
          </p:cNvPr>
          <p:cNvPicPr>
            <a:picLocks noChangeAspect="1"/>
          </p:cNvPicPr>
          <p:nvPr/>
        </p:nvPicPr>
        <p:blipFill>
          <a:blip r:embed="rId8"/>
          <a:stretch>
            <a:fillRect/>
          </a:stretch>
        </p:blipFill>
        <p:spPr>
          <a:xfrm>
            <a:off x="0" y="880898"/>
            <a:ext cx="3442915" cy="2956302"/>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B8711FE0-BBDB-EDFC-F6F3-7FF06781A155}"/>
              </a:ext>
            </a:extLst>
          </p:cNvPr>
          <p:cNvPicPr>
            <a:picLocks noChangeAspect="1"/>
          </p:cNvPicPr>
          <p:nvPr/>
        </p:nvPicPr>
        <p:blipFill>
          <a:blip r:embed="rId9"/>
          <a:stretch>
            <a:fillRect/>
          </a:stretch>
        </p:blipFill>
        <p:spPr>
          <a:xfrm>
            <a:off x="-5377" y="3953527"/>
            <a:ext cx="3442915" cy="2904474"/>
          </a:xfrm>
          <a:prstGeom prst="rect">
            <a:avLst/>
          </a:prstGeom>
        </p:spPr>
      </p:pic>
    </p:spTree>
    <p:extLst>
      <p:ext uri="{BB962C8B-B14F-4D97-AF65-F5344CB8AC3E}">
        <p14:creationId xmlns:p14="http://schemas.microsoft.com/office/powerpoint/2010/main" val="1220822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525A2-5630-07A5-D1DA-A657BACC4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9D423-CB5B-6878-09D2-40F950F21091}"/>
              </a:ext>
            </a:extLst>
          </p:cNvPr>
          <p:cNvSpPr>
            <a:spLocks noGrp="1"/>
          </p:cNvSpPr>
          <p:nvPr>
            <p:ph type="title"/>
          </p:nvPr>
        </p:nvSpPr>
        <p:spPr>
          <a:xfrm>
            <a:off x="148424" y="64187"/>
            <a:ext cx="10972800" cy="873451"/>
          </a:xfrm>
        </p:spPr>
        <p:txBody>
          <a:bodyPr/>
          <a:lstStyle/>
          <a:p>
            <a:r>
              <a:rPr lang="en-US" dirty="0"/>
              <a:t>Modelling – DNN</a:t>
            </a:r>
          </a:p>
        </p:txBody>
      </p:sp>
      <p:graphicFrame>
        <p:nvGraphicFramePr>
          <p:cNvPr id="11" name="Diagram 10">
            <a:extLst>
              <a:ext uri="{FF2B5EF4-FFF2-40B4-BE49-F238E27FC236}">
                <a16:creationId xmlns:a16="http://schemas.microsoft.com/office/drawing/2014/main" id="{0C4C347A-8C83-9B7E-0D20-9BEB94A25786}"/>
              </a:ext>
            </a:extLst>
          </p:cNvPr>
          <p:cNvGraphicFramePr/>
          <p:nvPr>
            <p:extLst>
              <p:ext uri="{D42A27DB-BD31-4B8C-83A1-F6EECF244321}">
                <p14:modId xmlns:p14="http://schemas.microsoft.com/office/powerpoint/2010/main" val="2057128734"/>
              </p:ext>
            </p:extLst>
          </p:nvPr>
        </p:nvGraphicFramePr>
        <p:xfrm>
          <a:off x="4396383" y="395077"/>
          <a:ext cx="3180523" cy="3188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itle 1">
            <a:extLst>
              <a:ext uri="{FF2B5EF4-FFF2-40B4-BE49-F238E27FC236}">
                <a16:creationId xmlns:a16="http://schemas.microsoft.com/office/drawing/2014/main" id="{01BEE5F8-9F20-5848-4431-76B3F29B677B}"/>
              </a:ext>
            </a:extLst>
          </p:cNvPr>
          <p:cNvSpPr txBox="1">
            <a:spLocks/>
          </p:cNvSpPr>
          <p:nvPr/>
        </p:nvSpPr>
        <p:spPr>
          <a:xfrm>
            <a:off x="5057030" y="86326"/>
            <a:ext cx="662608" cy="873451"/>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en-US" dirty="0"/>
              <a:t>A</a:t>
            </a:r>
          </a:p>
        </p:txBody>
      </p:sp>
      <p:pic>
        <p:nvPicPr>
          <p:cNvPr id="4" name="Picture 3">
            <a:extLst>
              <a:ext uri="{FF2B5EF4-FFF2-40B4-BE49-F238E27FC236}">
                <a16:creationId xmlns:a16="http://schemas.microsoft.com/office/drawing/2014/main" id="{309A3C06-694C-BA15-23EC-096798CBB46A}"/>
              </a:ext>
            </a:extLst>
          </p:cNvPr>
          <p:cNvPicPr>
            <a:picLocks noChangeAspect="1"/>
          </p:cNvPicPr>
          <p:nvPr/>
        </p:nvPicPr>
        <p:blipFill>
          <a:blip r:embed="rId7"/>
          <a:srcRect/>
          <a:stretch/>
        </p:blipFill>
        <p:spPr>
          <a:xfrm>
            <a:off x="7658381" y="1855367"/>
            <a:ext cx="4533619" cy="3709999"/>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8560DAE0-8EE9-C64B-4F84-4AD244A301CE}"/>
              </a:ext>
            </a:extLst>
          </p:cNvPr>
          <p:cNvPicPr>
            <a:picLocks noChangeAspect="1"/>
          </p:cNvPicPr>
          <p:nvPr/>
        </p:nvPicPr>
        <p:blipFill>
          <a:blip r:embed="rId8"/>
          <a:stretch>
            <a:fillRect/>
          </a:stretch>
        </p:blipFill>
        <p:spPr>
          <a:xfrm>
            <a:off x="362547" y="1396775"/>
            <a:ext cx="3746314" cy="4064449"/>
          </a:xfrm>
          <a:prstGeom prst="rect">
            <a:avLst/>
          </a:prstGeom>
        </p:spPr>
      </p:pic>
      <p:sp>
        <p:nvSpPr>
          <p:cNvPr id="7" name="TextBox 6">
            <a:extLst>
              <a:ext uri="{FF2B5EF4-FFF2-40B4-BE49-F238E27FC236}">
                <a16:creationId xmlns:a16="http://schemas.microsoft.com/office/drawing/2014/main" id="{80D8A8D9-3F33-8135-DE57-B39C1BC10367}"/>
              </a:ext>
            </a:extLst>
          </p:cNvPr>
          <p:cNvSpPr txBox="1"/>
          <p:nvPr/>
        </p:nvSpPr>
        <p:spPr>
          <a:xfrm>
            <a:off x="4396383" y="2894275"/>
            <a:ext cx="2974476" cy="3016210"/>
          </a:xfrm>
          <a:prstGeom prst="rect">
            <a:avLst/>
          </a:prstGeom>
          <a:noFill/>
        </p:spPr>
        <p:txBody>
          <a:bodyPr wrap="square" rtlCol="0">
            <a:spAutoFit/>
          </a:bodyPr>
          <a:lstStyle/>
          <a:p>
            <a:r>
              <a:rPr lang="en-US" sz="1000" b="1" dirty="0"/>
              <a:t>Features Selected:</a:t>
            </a:r>
          </a:p>
          <a:p>
            <a:r>
              <a:rPr lang="en-US" sz="1000" dirty="0"/>
              <a:t>Current Energy Efficiency</a:t>
            </a:r>
          </a:p>
          <a:p>
            <a:r>
              <a:rPr lang="en-US" sz="1000" dirty="0"/>
              <a:t>Insulation Score</a:t>
            </a:r>
          </a:p>
          <a:p>
            <a:r>
              <a:rPr lang="en-US" sz="1000" dirty="0"/>
              <a:t>CO₂ Emissions (Current)</a:t>
            </a:r>
          </a:p>
          <a:p>
            <a:r>
              <a:rPr lang="en-US" sz="1000" dirty="0"/>
              <a:t>Fuel Bill (Individual Estimate)</a:t>
            </a:r>
          </a:p>
          <a:p>
            <a:r>
              <a:rPr lang="en-US" sz="1000" dirty="0"/>
              <a:t>Fuel Cost to Income Ratio</a:t>
            </a:r>
          </a:p>
          <a:p>
            <a:r>
              <a:rPr lang="en-US" sz="1000" dirty="0"/>
              <a:t>Fuel Bill (Local Average Estimate)</a:t>
            </a:r>
          </a:p>
          <a:p>
            <a:r>
              <a:rPr lang="en-US" sz="1000" dirty="0"/>
              <a:t>Electricity Price per kWh</a:t>
            </a:r>
          </a:p>
          <a:p>
            <a:r>
              <a:rPr lang="en-US" sz="1000" dirty="0"/>
              <a:t>Gas – Average Annual Fixed Cost</a:t>
            </a:r>
          </a:p>
          <a:p>
            <a:r>
              <a:rPr lang="en-US" sz="1000" dirty="0"/>
              <a:t>Energy Consumption per Room</a:t>
            </a:r>
          </a:p>
          <a:p>
            <a:r>
              <a:rPr lang="en-US" sz="1000" dirty="0"/>
              <a:t>Electricity – Average Annual Fixed Cost</a:t>
            </a:r>
          </a:p>
          <a:p>
            <a:r>
              <a:rPr lang="en-US" sz="1000" dirty="0"/>
              <a:t>Log of Energy Consumption per Room</a:t>
            </a:r>
          </a:p>
          <a:p>
            <a:r>
              <a:rPr lang="en-US" sz="1000" dirty="0"/>
              <a:t>Income Before Housing Costs (2024)</a:t>
            </a:r>
          </a:p>
          <a:p>
            <a:r>
              <a:rPr lang="en-US" sz="1000" dirty="0"/>
              <a:t>Area (km²)</a:t>
            </a:r>
          </a:p>
          <a:p>
            <a:r>
              <a:rPr lang="en-US" sz="1000" dirty="0"/>
              <a:t>Energy Consumption per m²</a:t>
            </a:r>
          </a:p>
          <a:p>
            <a:r>
              <a:rPr lang="en-US" sz="1000" dirty="0"/>
              <a:t>Population Density</a:t>
            </a:r>
          </a:p>
          <a:p>
            <a:r>
              <a:rPr lang="en-US" sz="1000" dirty="0"/>
              <a:t>Senior Population</a:t>
            </a:r>
          </a:p>
          <a:p>
            <a:r>
              <a:rPr lang="en-US" sz="1000" dirty="0"/>
              <a:t>Built Form: Mid-Terrace</a:t>
            </a:r>
          </a:p>
          <a:p>
            <a:r>
              <a:rPr lang="en-US" sz="1000" dirty="0"/>
              <a:t>Built Form: Semi-Detached</a:t>
            </a:r>
          </a:p>
        </p:txBody>
      </p:sp>
      <p:sp>
        <p:nvSpPr>
          <p:cNvPr id="8" name="TextBox 7">
            <a:extLst>
              <a:ext uri="{FF2B5EF4-FFF2-40B4-BE49-F238E27FC236}">
                <a16:creationId xmlns:a16="http://schemas.microsoft.com/office/drawing/2014/main" id="{F7F8F193-F2F3-6F6D-8C0E-1B8C196D6F85}"/>
              </a:ext>
            </a:extLst>
          </p:cNvPr>
          <p:cNvSpPr txBox="1"/>
          <p:nvPr/>
        </p:nvSpPr>
        <p:spPr>
          <a:xfrm>
            <a:off x="362547" y="5565366"/>
            <a:ext cx="2974476" cy="246221"/>
          </a:xfrm>
          <a:prstGeom prst="rect">
            <a:avLst/>
          </a:prstGeom>
          <a:noFill/>
        </p:spPr>
        <p:txBody>
          <a:bodyPr wrap="square" rtlCol="0">
            <a:spAutoFit/>
          </a:bodyPr>
          <a:lstStyle/>
          <a:p>
            <a:r>
              <a:rPr lang="en-US" sz="1000" b="1" dirty="0"/>
              <a:t>Accuracy : 58.89%</a:t>
            </a:r>
            <a:endParaRPr lang="en-US" sz="1000" dirty="0"/>
          </a:p>
        </p:txBody>
      </p:sp>
    </p:spTree>
    <p:extLst>
      <p:ext uri="{BB962C8B-B14F-4D97-AF65-F5344CB8AC3E}">
        <p14:creationId xmlns:p14="http://schemas.microsoft.com/office/powerpoint/2010/main" val="2000970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24E1B-DC0F-1CA9-975F-C377D30BB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A3E4A-B425-7C61-76D0-115846B9EA9A}"/>
              </a:ext>
            </a:extLst>
          </p:cNvPr>
          <p:cNvSpPr>
            <a:spLocks noGrp="1"/>
          </p:cNvSpPr>
          <p:nvPr>
            <p:ph type="title"/>
          </p:nvPr>
        </p:nvSpPr>
        <p:spPr>
          <a:xfrm>
            <a:off x="148424" y="64187"/>
            <a:ext cx="10972800" cy="873451"/>
          </a:xfrm>
        </p:spPr>
        <p:txBody>
          <a:bodyPr/>
          <a:lstStyle/>
          <a:p>
            <a:r>
              <a:rPr lang="en-US" dirty="0"/>
              <a:t>Modelling – DNN</a:t>
            </a:r>
          </a:p>
        </p:txBody>
      </p:sp>
      <p:graphicFrame>
        <p:nvGraphicFramePr>
          <p:cNvPr id="11" name="Diagram 10">
            <a:extLst>
              <a:ext uri="{FF2B5EF4-FFF2-40B4-BE49-F238E27FC236}">
                <a16:creationId xmlns:a16="http://schemas.microsoft.com/office/drawing/2014/main" id="{FBA2299B-CC4E-A1CD-DC2F-7469F7943C1F}"/>
              </a:ext>
            </a:extLst>
          </p:cNvPr>
          <p:cNvGraphicFramePr/>
          <p:nvPr/>
        </p:nvGraphicFramePr>
        <p:xfrm>
          <a:off x="4396383" y="395077"/>
          <a:ext cx="3180523" cy="3188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itle 1">
            <a:extLst>
              <a:ext uri="{FF2B5EF4-FFF2-40B4-BE49-F238E27FC236}">
                <a16:creationId xmlns:a16="http://schemas.microsoft.com/office/drawing/2014/main" id="{2FCE37E7-19A6-D89F-64CA-9703EEEA708B}"/>
              </a:ext>
            </a:extLst>
          </p:cNvPr>
          <p:cNvSpPr txBox="1">
            <a:spLocks/>
          </p:cNvSpPr>
          <p:nvPr/>
        </p:nvSpPr>
        <p:spPr>
          <a:xfrm>
            <a:off x="5057030" y="86326"/>
            <a:ext cx="662608" cy="873451"/>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en-US" dirty="0"/>
              <a:t>B</a:t>
            </a:r>
          </a:p>
        </p:txBody>
      </p:sp>
      <p:pic>
        <p:nvPicPr>
          <p:cNvPr id="4" name="Picture 3">
            <a:extLst>
              <a:ext uri="{FF2B5EF4-FFF2-40B4-BE49-F238E27FC236}">
                <a16:creationId xmlns:a16="http://schemas.microsoft.com/office/drawing/2014/main" id="{8F5AF227-64ED-DE1D-B45A-2958BFF01DD7}"/>
              </a:ext>
            </a:extLst>
          </p:cNvPr>
          <p:cNvPicPr>
            <a:picLocks noChangeAspect="1"/>
          </p:cNvPicPr>
          <p:nvPr/>
        </p:nvPicPr>
        <p:blipFill>
          <a:blip r:embed="rId7"/>
          <a:srcRect/>
          <a:stretch/>
        </p:blipFill>
        <p:spPr>
          <a:xfrm>
            <a:off x="7658381" y="1855367"/>
            <a:ext cx="4533619" cy="3709999"/>
          </a:xfrm>
          <a:prstGeom prst="rect">
            <a:avLst/>
          </a:prstGeom>
        </p:spPr>
      </p:pic>
      <p:pic>
        <p:nvPicPr>
          <p:cNvPr id="6" name="Picture 5">
            <a:extLst>
              <a:ext uri="{FF2B5EF4-FFF2-40B4-BE49-F238E27FC236}">
                <a16:creationId xmlns:a16="http://schemas.microsoft.com/office/drawing/2014/main" id="{6E20D24D-D609-FCE8-526E-8205CACB0E5A}"/>
              </a:ext>
            </a:extLst>
          </p:cNvPr>
          <p:cNvPicPr>
            <a:picLocks noChangeAspect="1"/>
          </p:cNvPicPr>
          <p:nvPr/>
        </p:nvPicPr>
        <p:blipFill>
          <a:blip r:embed="rId8"/>
          <a:srcRect/>
          <a:stretch/>
        </p:blipFill>
        <p:spPr>
          <a:xfrm>
            <a:off x="380313" y="1396775"/>
            <a:ext cx="3710782" cy="4064449"/>
          </a:xfrm>
          <a:prstGeom prst="rect">
            <a:avLst/>
          </a:prstGeom>
        </p:spPr>
      </p:pic>
      <p:sp>
        <p:nvSpPr>
          <p:cNvPr id="7" name="TextBox 6">
            <a:extLst>
              <a:ext uri="{FF2B5EF4-FFF2-40B4-BE49-F238E27FC236}">
                <a16:creationId xmlns:a16="http://schemas.microsoft.com/office/drawing/2014/main" id="{736BE349-7D4D-08E6-0B04-BE3684F63F96}"/>
              </a:ext>
            </a:extLst>
          </p:cNvPr>
          <p:cNvSpPr txBox="1"/>
          <p:nvPr/>
        </p:nvSpPr>
        <p:spPr>
          <a:xfrm>
            <a:off x="4396383" y="2894275"/>
            <a:ext cx="2974476" cy="3170099"/>
          </a:xfrm>
          <a:prstGeom prst="rect">
            <a:avLst/>
          </a:prstGeom>
          <a:noFill/>
        </p:spPr>
        <p:txBody>
          <a:bodyPr wrap="square" rtlCol="0">
            <a:spAutoFit/>
          </a:bodyPr>
          <a:lstStyle/>
          <a:p>
            <a:r>
              <a:rPr lang="en-US" sz="1000" b="1" dirty="0"/>
              <a:t>Features Selected</a:t>
            </a:r>
          </a:p>
          <a:p>
            <a:endParaRPr lang="en-US" sz="1000" dirty="0"/>
          </a:p>
          <a:p>
            <a:r>
              <a:rPr lang="en-US" sz="1000" dirty="0"/>
              <a:t>Energy Consumption (Current)</a:t>
            </a:r>
          </a:p>
          <a:p>
            <a:r>
              <a:rPr lang="en-US" sz="1000" dirty="0"/>
              <a:t>CO₂ Emissions per m²</a:t>
            </a:r>
          </a:p>
          <a:p>
            <a:r>
              <a:rPr lang="en-US" sz="1000" dirty="0"/>
              <a:t>Energy Consumption per m²</a:t>
            </a:r>
          </a:p>
          <a:p>
            <a:r>
              <a:rPr lang="en-US" sz="1000" dirty="0"/>
              <a:t>Insulation Score</a:t>
            </a:r>
          </a:p>
          <a:p>
            <a:r>
              <a:rPr lang="en-US" sz="1000" dirty="0"/>
              <a:t>Fuel Bill (Individual Estimate)</a:t>
            </a:r>
          </a:p>
          <a:p>
            <a:r>
              <a:rPr lang="en-US" sz="1000" dirty="0"/>
              <a:t>Fuel Cost to Income Ratio</a:t>
            </a:r>
          </a:p>
          <a:p>
            <a:r>
              <a:rPr lang="en-US" sz="1000" dirty="0"/>
              <a:t>Fuel Bill (Local Average Estimate)</a:t>
            </a:r>
          </a:p>
          <a:p>
            <a:r>
              <a:rPr lang="en-US" sz="1000" dirty="0"/>
              <a:t>Electricity Price per kWh</a:t>
            </a:r>
          </a:p>
          <a:p>
            <a:r>
              <a:rPr lang="en-US" sz="1000" dirty="0"/>
              <a:t>Gas – Average Annual Fixed Cost</a:t>
            </a:r>
          </a:p>
          <a:p>
            <a:r>
              <a:rPr lang="en-US" sz="1000" dirty="0"/>
              <a:t>Energy Consumption per Room</a:t>
            </a:r>
          </a:p>
          <a:p>
            <a:r>
              <a:rPr lang="en-US" sz="1000" dirty="0"/>
              <a:t>Electricity – Average Annual Fixed Cost</a:t>
            </a:r>
          </a:p>
          <a:p>
            <a:r>
              <a:rPr lang="en-US" sz="1000" dirty="0"/>
              <a:t>Log of Energy Consumption per Room</a:t>
            </a:r>
          </a:p>
          <a:p>
            <a:r>
              <a:rPr lang="en-US" sz="1000" dirty="0"/>
              <a:t>Income Before Housing Costs (2024)</a:t>
            </a:r>
          </a:p>
          <a:p>
            <a:r>
              <a:rPr lang="en-US" sz="1000" dirty="0"/>
              <a:t>Area (km²)</a:t>
            </a:r>
          </a:p>
          <a:p>
            <a:r>
              <a:rPr lang="en-US" sz="1000" dirty="0"/>
              <a:t>Population Density</a:t>
            </a:r>
          </a:p>
          <a:p>
            <a:r>
              <a:rPr lang="en-US" sz="1000" dirty="0"/>
              <a:t>Senior Population</a:t>
            </a:r>
          </a:p>
          <a:p>
            <a:r>
              <a:rPr lang="en-US" sz="1000" dirty="0"/>
              <a:t>Built Form: Mid-Terrace</a:t>
            </a:r>
          </a:p>
          <a:p>
            <a:r>
              <a:rPr lang="en-US" sz="1000" dirty="0"/>
              <a:t>Built Form: Semi-Detached</a:t>
            </a:r>
          </a:p>
        </p:txBody>
      </p:sp>
      <p:sp>
        <p:nvSpPr>
          <p:cNvPr id="8" name="TextBox 7">
            <a:extLst>
              <a:ext uri="{FF2B5EF4-FFF2-40B4-BE49-F238E27FC236}">
                <a16:creationId xmlns:a16="http://schemas.microsoft.com/office/drawing/2014/main" id="{1AD7160D-F326-6558-ED01-EF0D1093C753}"/>
              </a:ext>
            </a:extLst>
          </p:cNvPr>
          <p:cNvSpPr txBox="1"/>
          <p:nvPr/>
        </p:nvSpPr>
        <p:spPr>
          <a:xfrm>
            <a:off x="362547" y="5565366"/>
            <a:ext cx="2974476" cy="246221"/>
          </a:xfrm>
          <a:prstGeom prst="rect">
            <a:avLst/>
          </a:prstGeom>
          <a:noFill/>
        </p:spPr>
        <p:txBody>
          <a:bodyPr wrap="square" rtlCol="0">
            <a:spAutoFit/>
          </a:bodyPr>
          <a:lstStyle/>
          <a:p>
            <a:r>
              <a:rPr lang="en-US" sz="1000" b="1" dirty="0"/>
              <a:t>Accuracy : 55.26%</a:t>
            </a:r>
            <a:endParaRPr lang="en-US" sz="1000" dirty="0"/>
          </a:p>
        </p:txBody>
      </p:sp>
    </p:spTree>
    <p:extLst>
      <p:ext uri="{BB962C8B-B14F-4D97-AF65-F5344CB8AC3E}">
        <p14:creationId xmlns:p14="http://schemas.microsoft.com/office/powerpoint/2010/main" val="715881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9A547-4B03-DFB0-686B-FBD922806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1A4F6-CFDD-386C-E2E7-9EB613693526}"/>
              </a:ext>
            </a:extLst>
          </p:cNvPr>
          <p:cNvSpPr>
            <a:spLocks noGrp="1"/>
          </p:cNvSpPr>
          <p:nvPr>
            <p:ph type="title"/>
          </p:nvPr>
        </p:nvSpPr>
        <p:spPr>
          <a:xfrm>
            <a:off x="148424" y="64187"/>
            <a:ext cx="11834192" cy="873451"/>
          </a:xfrm>
        </p:spPr>
        <p:txBody>
          <a:bodyPr/>
          <a:lstStyle/>
          <a:p>
            <a:r>
              <a:rPr lang="en-US" dirty="0"/>
              <a:t>Modelling – Multinomial Logistic Regression</a:t>
            </a:r>
          </a:p>
        </p:txBody>
      </p:sp>
      <p:sp>
        <p:nvSpPr>
          <p:cNvPr id="8" name="TextBox 7">
            <a:extLst>
              <a:ext uri="{FF2B5EF4-FFF2-40B4-BE49-F238E27FC236}">
                <a16:creationId xmlns:a16="http://schemas.microsoft.com/office/drawing/2014/main" id="{C1D9662F-6742-79DE-5364-33119CB2483A}"/>
              </a:ext>
            </a:extLst>
          </p:cNvPr>
          <p:cNvSpPr txBox="1"/>
          <p:nvPr/>
        </p:nvSpPr>
        <p:spPr>
          <a:xfrm>
            <a:off x="791917" y="1933473"/>
            <a:ext cx="3700570" cy="830997"/>
          </a:xfrm>
          <a:prstGeom prst="rect">
            <a:avLst/>
          </a:prstGeom>
          <a:noFill/>
        </p:spPr>
        <p:txBody>
          <a:bodyPr wrap="square" rtlCol="0">
            <a:spAutoFit/>
          </a:bodyPr>
          <a:lstStyle/>
          <a:p>
            <a:r>
              <a:rPr lang="en-US" sz="2400" b="1" dirty="0"/>
              <a:t>Pipeline A Accuracy : 53.33%</a:t>
            </a:r>
            <a:endParaRPr lang="en-US" sz="2400" dirty="0"/>
          </a:p>
        </p:txBody>
      </p:sp>
      <p:pic>
        <p:nvPicPr>
          <p:cNvPr id="5" name="Picture 4" descr="A computer screen shot of a program code&#10;&#10;AI-generated content may be incorrect.">
            <a:extLst>
              <a:ext uri="{FF2B5EF4-FFF2-40B4-BE49-F238E27FC236}">
                <a16:creationId xmlns:a16="http://schemas.microsoft.com/office/drawing/2014/main" id="{C82298CF-A8C1-BBCD-6195-EE208E54128E}"/>
              </a:ext>
            </a:extLst>
          </p:cNvPr>
          <p:cNvPicPr>
            <a:picLocks noChangeAspect="1"/>
          </p:cNvPicPr>
          <p:nvPr/>
        </p:nvPicPr>
        <p:blipFill>
          <a:blip r:embed="rId2"/>
          <a:stretch>
            <a:fillRect/>
          </a:stretch>
        </p:blipFill>
        <p:spPr>
          <a:xfrm>
            <a:off x="5625495" y="937638"/>
            <a:ext cx="6509766" cy="5856175"/>
          </a:xfrm>
          <a:prstGeom prst="rect">
            <a:avLst/>
          </a:prstGeom>
        </p:spPr>
      </p:pic>
      <p:sp>
        <p:nvSpPr>
          <p:cNvPr id="9" name="TextBox 8">
            <a:extLst>
              <a:ext uri="{FF2B5EF4-FFF2-40B4-BE49-F238E27FC236}">
                <a16:creationId xmlns:a16="http://schemas.microsoft.com/office/drawing/2014/main" id="{9E0FB228-C890-3A70-3EC0-B930EC192BCE}"/>
              </a:ext>
            </a:extLst>
          </p:cNvPr>
          <p:cNvSpPr txBox="1"/>
          <p:nvPr/>
        </p:nvSpPr>
        <p:spPr>
          <a:xfrm>
            <a:off x="791917" y="3760306"/>
            <a:ext cx="3700570" cy="830997"/>
          </a:xfrm>
          <a:prstGeom prst="rect">
            <a:avLst/>
          </a:prstGeom>
          <a:noFill/>
        </p:spPr>
        <p:txBody>
          <a:bodyPr wrap="square" rtlCol="0">
            <a:spAutoFit/>
          </a:bodyPr>
          <a:lstStyle/>
          <a:p>
            <a:r>
              <a:rPr lang="en-US" sz="2400" b="1" dirty="0"/>
              <a:t>Pipeline B Accuracy : 52.09%</a:t>
            </a:r>
            <a:endParaRPr lang="en-US" sz="2400" dirty="0"/>
          </a:p>
        </p:txBody>
      </p:sp>
    </p:spTree>
    <p:extLst>
      <p:ext uri="{BB962C8B-B14F-4D97-AF65-F5344CB8AC3E}">
        <p14:creationId xmlns:p14="http://schemas.microsoft.com/office/powerpoint/2010/main" val="913316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2788-6D62-FCA6-EB5E-8E4D57522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D1634-9341-C868-61E9-6660200041FD}"/>
              </a:ext>
            </a:extLst>
          </p:cNvPr>
          <p:cNvSpPr>
            <a:spLocks noGrp="1"/>
          </p:cNvSpPr>
          <p:nvPr>
            <p:ph type="title"/>
          </p:nvPr>
        </p:nvSpPr>
        <p:spPr>
          <a:xfrm>
            <a:off x="609600" y="239732"/>
            <a:ext cx="10972800" cy="666717"/>
          </a:xfrm>
        </p:spPr>
        <p:txBody>
          <a:bodyPr>
            <a:normAutofit fontScale="90000"/>
          </a:bodyPr>
          <a:lstStyle/>
          <a:p>
            <a:r>
              <a:rPr lang="en-US" dirty="0"/>
              <a:t>Pipeline A Model Comparison</a:t>
            </a:r>
          </a:p>
        </p:txBody>
      </p:sp>
      <p:graphicFrame>
        <p:nvGraphicFramePr>
          <p:cNvPr id="7" name="Chart 6">
            <a:extLst>
              <a:ext uri="{FF2B5EF4-FFF2-40B4-BE49-F238E27FC236}">
                <a16:creationId xmlns:a16="http://schemas.microsoft.com/office/drawing/2014/main" id="{BF64BA39-FF5F-E555-7785-3A4C9E24711E}"/>
              </a:ext>
            </a:extLst>
          </p:cNvPr>
          <p:cNvGraphicFramePr/>
          <p:nvPr>
            <p:extLst>
              <p:ext uri="{D42A27DB-BD31-4B8C-83A1-F6EECF244321}">
                <p14:modId xmlns:p14="http://schemas.microsoft.com/office/powerpoint/2010/main" val="1556961758"/>
              </p:ext>
            </p:extLst>
          </p:nvPr>
        </p:nvGraphicFramePr>
        <p:xfrm>
          <a:off x="1833218" y="1120088"/>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55315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C361E-D4E1-4658-3740-2B7F15AA1B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56F58-5E68-8E29-904C-7DB9E2B11783}"/>
              </a:ext>
            </a:extLst>
          </p:cNvPr>
          <p:cNvSpPr>
            <a:spLocks noGrp="1"/>
          </p:cNvSpPr>
          <p:nvPr>
            <p:ph type="title"/>
          </p:nvPr>
        </p:nvSpPr>
        <p:spPr>
          <a:xfrm>
            <a:off x="609600" y="239732"/>
            <a:ext cx="10972800" cy="666717"/>
          </a:xfrm>
        </p:spPr>
        <p:txBody>
          <a:bodyPr>
            <a:normAutofit fontScale="90000"/>
          </a:bodyPr>
          <a:lstStyle/>
          <a:p>
            <a:r>
              <a:rPr lang="en-US" dirty="0"/>
              <a:t>Pipeline B Model Comparison</a:t>
            </a:r>
          </a:p>
        </p:txBody>
      </p:sp>
      <p:graphicFrame>
        <p:nvGraphicFramePr>
          <p:cNvPr id="3" name="Chart 2">
            <a:extLst>
              <a:ext uri="{FF2B5EF4-FFF2-40B4-BE49-F238E27FC236}">
                <a16:creationId xmlns:a16="http://schemas.microsoft.com/office/drawing/2014/main" id="{95722BAB-751C-0297-1260-59D66ECAB987}"/>
              </a:ext>
            </a:extLst>
          </p:cNvPr>
          <p:cNvGraphicFramePr/>
          <p:nvPr>
            <p:extLst>
              <p:ext uri="{D42A27DB-BD31-4B8C-83A1-F6EECF244321}">
                <p14:modId xmlns:p14="http://schemas.microsoft.com/office/powerpoint/2010/main" val="1686771728"/>
              </p:ext>
            </p:extLst>
          </p:nvPr>
        </p:nvGraphicFramePr>
        <p:xfrm>
          <a:off x="2032000" y="1199601"/>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94611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37ED3-83E7-FDAD-4C48-51FD1A98ED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B819E0-D2E8-7ECA-82E5-82E3E818E641}"/>
              </a:ext>
            </a:extLst>
          </p:cNvPr>
          <p:cNvSpPr>
            <a:spLocks noGrp="1"/>
          </p:cNvSpPr>
          <p:nvPr>
            <p:ph type="title"/>
          </p:nvPr>
        </p:nvSpPr>
        <p:spPr>
          <a:xfrm>
            <a:off x="609600" y="239732"/>
            <a:ext cx="10972800" cy="666717"/>
          </a:xfrm>
        </p:spPr>
        <p:txBody>
          <a:bodyPr>
            <a:normAutofit fontScale="90000"/>
          </a:bodyPr>
          <a:lstStyle/>
          <a:p>
            <a:r>
              <a:rPr lang="en-US" dirty="0"/>
              <a:t>Way Forward</a:t>
            </a:r>
          </a:p>
        </p:txBody>
      </p:sp>
      <p:sp>
        <p:nvSpPr>
          <p:cNvPr id="4" name="Content Placeholder 2">
            <a:extLst>
              <a:ext uri="{FF2B5EF4-FFF2-40B4-BE49-F238E27FC236}">
                <a16:creationId xmlns:a16="http://schemas.microsoft.com/office/drawing/2014/main" id="{4A2652B9-6B68-8112-9C41-F366E8AD0390}"/>
              </a:ext>
            </a:extLst>
          </p:cNvPr>
          <p:cNvSpPr txBox="1">
            <a:spLocks/>
          </p:cNvSpPr>
          <p:nvPr/>
        </p:nvSpPr>
        <p:spPr>
          <a:xfrm>
            <a:off x="946204" y="1286123"/>
            <a:ext cx="10026595" cy="2142877"/>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Computational Power</a:t>
            </a:r>
          </a:p>
          <a:p>
            <a:pPr marL="571500" lvl="1" indent="-342900">
              <a:buFont typeface="Arial" panose="020B0604020202020204" pitchFamily="34" charset="0"/>
              <a:buChar char="•"/>
            </a:pPr>
            <a:r>
              <a:rPr lang="en-US" dirty="0"/>
              <a:t>We could only model it for 10000 data out of a total 2.6 million rows we collected, due to lack of computational power</a:t>
            </a:r>
          </a:p>
          <a:p>
            <a:pPr marL="571500" lvl="1" indent="-342900">
              <a:buFont typeface="Arial" panose="020B0604020202020204" pitchFamily="34" charset="0"/>
              <a:buChar char="•"/>
            </a:pPr>
            <a:r>
              <a:rPr lang="en-US" dirty="0"/>
              <a:t>LILEE indicator supplementary tables provide more detailed data, percentage of fuel poverty based on 23 different categorical segregations, many of which we could not include due to lack of computational power </a:t>
            </a:r>
          </a:p>
        </p:txBody>
      </p:sp>
      <p:sp>
        <p:nvSpPr>
          <p:cNvPr id="5" name="Content Placeholder 2">
            <a:extLst>
              <a:ext uri="{FF2B5EF4-FFF2-40B4-BE49-F238E27FC236}">
                <a16:creationId xmlns:a16="http://schemas.microsoft.com/office/drawing/2014/main" id="{D2711FA1-E69B-35D3-B816-3D58774B3906}"/>
              </a:ext>
            </a:extLst>
          </p:cNvPr>
          <p:cNvSpPr txBox="1">
            <a:spLocks/>
          </p:cNvSpPr>
          <p:nvPr/>
        </p:nvSpPr>
        <p:spPr>
          <a:xfrm>
            <a:off x="946204" y="3664888"/>
            <a:ext cx="10026595" cy="2142877"/>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Academic Studies</a:t>
            </a:r>
          </a:p>
          <a:p>
            <a:pPr marL="571500" lvl="1" indent="-342900">
              <a:buFont typeface="Arial" panose="020B0604020202020204" pitchFamily="34" charset="0"/>
              <a:buChar char="•"/>
            </a:pPr>
            <a:r>
              <a:rPr lang="en-US" dirty="0"/>
              <a:t>Previous academic studies on this prediction only predicted until local authority level probability of fuel poverty, we are suggesting a new Markov Chain Monte Carlo (MCMC) based Bayesian Inference model to predict this, which using a totally different set of features can be predicted by ML models. </a:t>
            </a:r>
          </a:p>
        </p:txBody>
      </p:sp>
    </p:spTree>
    <p:extLst>
      <p:ext uri="{BB962C8B-B14F-4D97-AF65-F5344CB8AC3E}">
        <p14:creationId xmlns:p14="http://schemas.microsoft.com/office/powerpoint/2010/main" val="4088772460"/>
      </p:ext>
    </p:extLst>
  </p:cSld>
  <p:clrMapOvr>
    <a:masterClrMapping/>
  </p:clrMapOvr>
</p:sld>
</file>

<file path=ppt/theme/theme1.xml><?xml version="1.0" encoding="utf-8"?>
<a:theme xmlns:a="http://schemas.openxmlformats.org/drawingml/2006/main" name="SplashVTI">
  <a:themeElements>
    <a:clrScheme name="Custom 11">
      <a:dk1>
        <a:srgbClr val="262626"/>
      </a:dk1>
      <a:lt1>
        <a:sysClr val="window" lastClr="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2229</TotalTime>
  <Words>1272</Words>
  <Application>Microsoft Macintosh PowerPoint</Application>
  <PresentationFormat>Widescreen</PresentationFormat>
  <Paragraphs>231</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Avenir Next LT Pro</vt:lpstr>
      <vt:lpstr>Posterama</vt:lpstr>
      <vt:lpstr>SplashVTI</vt:lpstr>
      <vt:lpstr>Predicting Household Fuel Poverty from Aggregate Statistics Using Machine Learning Approaches</vt:lpstr>
      <vt:lpstr>Business Understanding</vt:lpstr>
      <vt:lpstr>Data Understanding</vt:lpstr>
      <vt:lpstr>Data Preparation</vt:lpstr>
      <vt:lpstr>Feature Split for Synthetic Target Generation</vt:lpstr>
      <vt:lpstr>Data Preparation – Synthetic Target</vt:lpstr>
      <vt:lpstr>ML Models - Data Preprocessing</vt:lpstr>
      <vt:lpstr>ML Models – Normalisation</vt:lpstr>
      <vt:lpstr>ML Models – Distribution of Features</vt:lpstr>
      <vt:lpstr>ML Models – Distribution of Features</vt:lpstr>
      <vt:lpstr>ML Models – Association of Features</vt:lpstr>
      <vt:lpstr>ML Models – Balancing</vt:lpstr>
      <vt:lpstr>Feature Importance</vt:lpstr>
      <vt:lpstr>Modelling – XGBOOST</vt:lpstr>
      <vt:lpstr>Modelling – RF</vt:lpstr>
      <vt:lpstr>Modelling – DNN</vt:lpstr>
      <vt:lpstr>Modelling – DNN</vt:lpstr>
      <vt:lpstr>Modelling – Multinomial Logistic Regression</vt:lpstr>
      <vt:lpstr>Pipeline A Model Comparison</vt:lpstr>
      <vt:lpstr>Pipeline B Model Comparison</vt:lpstr>
      <vt:lpstr>Way Forward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Hayder, K M Najib (PG/T - Surrey Business Schl)</dc:creator>
  <cp:lastModifiedBy>Hayder, Najib (PG/T - Surrey Business Schl)</cp:lastModifiedBy>
  <cp:revision>6</cp:revision>
  <dcterms:created xsi:type="dcterms:W3CDTF">2025-08-04T11:08:35Z</dcterms:created>
  <dcterms:modified xsi:type="dcterms:W3CDTF">2026-07-06T10:03:59Z</dcterms:modified>
</cp:coreProperties>
</file>